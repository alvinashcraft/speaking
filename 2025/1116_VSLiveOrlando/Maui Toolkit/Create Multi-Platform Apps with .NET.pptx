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7"/>
  </p:notesMasterIdLst>
  <p:handoutMasterIdLst>
    <p:handoutMasterId r:id="rId38"/>
  </p:handoutMasterIdLst>
  <p:sldIdLst>
    <p:sldId id="258" r:id="rId3"/>
    <p:sldId id="260" r:id="rId4"/>
    <p:sldId id="259" r:id="rId5"/>
    <p:sldId id="262" r:id="rId6"/>
    <p:sldId id="263" r:id="rId7"/>
    <p:sldId id="264" r:id="rId8"/>
    <p:sldId id="265" r:id="rId9"/>
    <p:sldId id="266" r:id="rId10"/>
    <p:sldId id="268"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8" r:id="rId31"/>
    <p:sldId id="287" r:id="rId32"/>
    <p:sldId id="289" r:id="rId33"/>
    <p:sldId id="290" r:id="rId34"/>
    <p:sldId id="291" r:id="rId35"/>
    <p:sldId id="261" r:id="rId36"/>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1pPr>
    <a:lvl2pPr marL="4572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2pPr>
    <a:lvl3pPr marL="9144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3pPr>
    <a:lvl4pPr marL="13716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4pPr>
    <a:lvl5pPr marL="18288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5pPr>
    <a:lvl6pPr marL="22860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6pPr>
    <a:lvl7pPr marL="27432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7pPr>
    <a:lvl8pPr marL="32004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8pPr>
    <a:lvl9pPr marL="36576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B26"/>
    <a:srgbClr val="0073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82527" autoAdjust="0"/>
  </p:normalViewPr>
  <p:slideViewPr>
    <p:cSldViewPr>
      <p:cViewPr varScale="1">
        <p:scale>
          <a:sx n="99" d="100"/>
          <a:sy n="99" d="100"/>
        </p:scale>
        <p:origin x="876" y="28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72" d="100"/>
          <a:sy n="72" d="100"/>
        </p:scale>
        <p:origin x="2155"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57800" cy="457200"/>
          </a:xfrm>
          <a:prstGeom prst="rect">
            <a:avLst/>
          </a:prstGeom>
        </p:spPr>
        <p:txBody>
          <a:bodyPr vert="horz" lIns="91440" tIns="45720" rIns="91440" bIns="45720" rtlCol="0"/>
          <a:lstStyle>
            <a:lvl1pPr algn="l" fontAlgn="auto">
              <a:spcBef>
                <a:spcPts val="0"/>
              </a:spcBef>
              <a:spcAft>
                <a:spcPts val="0"/>
              </a:spcAft>
              <a:defRPr sz="1300" b="1" dirty="0" smtClean="0">
                <a:latin typeface="Arial" pitchFamily="34" charset="0"/>
                <a:ea typeface="+mn-ea"/>
                <a:cs typeface="Arial" pitchFamily="34" charset="0"/>
              </a:defRPr>
            </a:lvl1pPr>
          </a:lstStyle>
          <a:p>
            <a:pPr>
              <a:defRPr/>
            </a:pPr>
            <a:r>
              <a:rPr lang="en-US" dirty="0"/>
              <a:t>Live! 360 Orlando 2025</a:t>
            </a:r>
          </a:p>
        </p:txBody>
      </p:sp>
      <p:sp>
        <p:nvSpPr>
          <p:cNvPr id="4" name="Footer Placeholder 3"/>
          <p:cNvSpPr>
            <a:spLocks noGrp="1"/>
          </p:cNvSpPr>
          <p:nvPr>
            <p:ph type="ftr" sz="quarter" idx="2"/>
          </p:nvPr>
        </p:nvSpPr>
        <p:spPr>
          <a:xfrm>
            <a:off x="0" y="8685213"/>
            <a:ext cx="55626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Tree>
    <p:extLst>
      <p:ext uri="{BB962C8B-B14F-4D97-AF65-F5344CB8AC3E}">
        <p14:creationId xmlns:p14="http://schemas.microsoft.com/office/powerpoint/2010/main" val="3738948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74D1145D-0C6A-427A-BFFB-BA49C7DEF5D3}" type="datetimeFigureOut">
              <a:rPr lang="en-US"/>
              <a:pPr>
                <a:defRPr/>
              </a:pPr>
              <a:t>11/15/2025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E5AA1C-3A4A-4E86-88DD-FDD0A0056FE6}" type="slidenum">
              <a:rPr lang="en-US"/>
              <a:pPr>
                <a:defRPr/>
              </a:pPr>
              <a:t>‹#›</a:t>
            </a:fld>
            <a:endParaRPr lang="en-US"/>
          </a:p>
        </p:txBody>
      </p:sp>
    </p:spTree>
    <p:extLst>
      <p:ext uri="{BB962C8B-B14F-4D97-AF65-F5344CB8AC3E}">
        <p14:creationId xmlns:p14="http://schemas.microsoft.com/office/powerpoint/2010/main" val="383142828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ＭＳ Ｐゴシック" pitchFamily="-72" charset="-128"/>
        <a:cs typeface="ＭＳ Ｐゴシック" pitchFamily="-72" charset="-128"/>
      </a:defRPr>
    </a:lvl1pPr>
    <a:lvl2pPr marL="457200" algn="l" rtl="0" fontAlgn="base">
      <a:spcBef>
        <a:spcPct val="30000"/>
      </a:spcBef>
      <a:spcAft>
        <a:spcPct val="0"/>
      </a:spcAft>
      <a:defRPr sz="1200" kern="1200">
        <a:solidFill>
          <a:schemeClr val="tx1"/>
        </a:solidFill>
        <a:latin typeface="+mn-lt"/>
        <a:ea typeface="ＭＳ Ｐゴシック" pitchFamily="-72" charset="-128"/>
        <a:cs typeface="+mn-cs"/>
      </a:defRPr>
    </a:lvl2pPr>
    <a:lvl3pPr marL="914400" algn="l" rtl="0" fontAlgn="base">
      <a:spcBef>
        <a:spcPct val="30000"/>
      </a:spcBef>
      <a:spcAft>
        <a:spcPct val="0"/>
      </a:spcAft>
      <a:defRPr sz="1200" kern="1200">
        <a:solidFill>
          <a:schemeClr val="tx1"/>
        </a:solidFill>
        <a:latin typeface="+mn-lt"/>
        <a:ea typeface="ＭＳ Ｐゴシック" pitchFamily="-72" charset="-128"/>
        <a:cs typeface="+mn-cs"/>
      </a:defRPr>
    </a:lvl3pPr>
    <a:lvl4pPr marL="1371600" algn="l" rtl="0" fontAlgn="base">
      <a:spcBef>
        <a:spcPct val="30000"/>
      </a:spcBef>
      <a:spcAft>
        <a:spcPct val="0"/>
      </a:spcAft>
      <a:defRPr sz="1200" kern="1200">
        <a:solidFill>
          <a:schemeClr val="tx1"/>
        </a:solidFill>
        <a:latin typeface="+mn-lt"/>
        <a:ea typeface="ＭＳ Ｐゴシック" pitchFamily="-72" charset="-128"/>
        <a:cs typeface="+mn-cs"/>
      </a:defRPr>
    </a:lvl4pPr>
    <a:lvl5pPr marL="1828800" algn="l" rtl="0" fontAlgn="base">
      <a:spcBef>
        <a:spcPct val="30000"/>
      </a:spcBef>
      <a:spcAft>
        <a:spcPct val="0"/>
      </a:spcAft>
      <a:defRPr sz="1200" kern="1200">
        <a:solidFill>
          <a:schemeClr val="tx1"/>
        </a:solidFill>
        <a:latin typeface="+mn-lt"/>
        <a:ea typeface="ＭＳ Ｐゴシック" pitchFamily="-7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Welcome, folks! I hope you’re having a great week at Live! 360 and </a:t>
            </a:r>
            <a:r>
              <a:rPr lang="en-US" dirty="0" err="1"/>
              <a:t>VSLive</a:t>
            </a:r>
            <a:r>
              <a:rPr lang="en-US" dirty="0"/>
              <a:t>! In this session, we’ll be looking at .NET MAUI and the Community Toolkits.</a:t>
            </a:r>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6988B0C-D0FA-4593-BF38-A7BA3E9A5D69}" type="slidenum">
              <a:rPr lang="en-US">
                <a:ea typeface="ＭＳ Ｐゴシック" pitchFamily="-72" charset="-128"/>
                <a:cs typeface="ＭＳ Ｐゴシック" pitchFamily="-72" charset="-128"/>
              </a:rPr>
              <a:pPr fontAlgn="base">
                <a:spcBef>
                  <a:spcPct val="0"/>
                </a:spcBef>
                <a:spcAft>
                  <a:spcPct val="0"/>
                </a:spcAft>
              </a:pPr>
              <a:t>1</a:t>
            </a:fld>
            <a:endParaRPr lang="en-US">
              <a:ea typeface="ＭＳ Ｐゴシック" pitchFamily="-72" charset="-128"/>
              <a:cs typeface="ＭＳ Ｐゴシック" pitchFamily="-7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forget to complete your session survey. We love to read your feedback. It helps to shape future events, and it helps me improve my sessions.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a:t>
            </a:fld>
            <a:endParaRPr lang="en-US"/>
          </a:p>
        </p:txBody>
      </p:sp>
    </p:spTree>
    <p:extLst>
      <p:ext uri="{BB962C8B-B14F-4D97-AF65-F5344CB8AC3E}">
        <p14:creationId xmlns:p14="http://schemas.microsoft.com/office/powerpoint/2010/main" val="1495906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We will cover an introduction to .NET MAUI, development tools, rapid app building techniques, enhancing apps with the MAUI Community Toolkit, architectural patterns like MVVM, styling options, platform-specific features, and conclude with a Q&amp;A session.</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3</a:t>
            </a:fld>
            <a:endParaRPr lang="en-US"/>
          </a:p>
        </p:txBody>
      </p:sp>
    </p:spTree>
    <p:extLst>
      <p:ext uri="{BB962C8B-B14F-4D97-AF65-F5344CB8AC3E}">
        <p14:creationId xmlns:p14="http://schemas.microsoft.com/office/powerpoint/2010/main" val="3557484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and I’m co-authoring a new book on Model Context Protocol for .NET developers.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two years ago as a content developer. I write documentation, training modules, and code samples on Microsoft Learn. I work on the Windows developer docs team, helping to maintain the docs for client apps and APIs. I have another talk I give about my work as a content developer and how anyone can contribute to content on Learn through GitHub issues and PRs.</a:t>
            </a:r>
          </a:p>
          <a:p>
            <a:endParaRPr lang="en-US" dirty="0"/>
          </a:p>
          <a:p>
            <a:r>
              <a:rPr lang="en-US" dirty="0"/>
              <a:t>Finally, I’m one of the founding organizers of the TechBash developer conference. We’ve been running the event in the Poconos since 2016, and we just announce we’re coming back for another year next October.</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4</a:t>
            </a:fld>
            <a:endParaRPr lang="en-US"/>
          </a:p>
        </p:txBody>
      </p:sp>
    </p:spTree>
    <p:extLst>
      <p:ext uri="{BB962C8B-B14F-4D97-AF65-F5344CB8AC3E}">
        <p14:creationId xmlns:p14="http://schemas.microsoft.com/office/powerpoint/2010/main" val="393824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This section introduces .NET MAUI, the platforms it supports, and why using a single codebase simplifies development for iOS, Android, macOS, and Windows.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5</a:t>
            </a:fld>
            <a:endParaRPr lang="en-US"/>
          </a:p>
        </p:txBody>
      </p:sp>
    </p:spTree>
    <p:extLst>
      <p:ext uri="{BB962C8B-B14F-4D97-AF65-F5344CB8AC3E}">
        <p14:creationId xmlns:p14="http://schemas.microsoft.com/office/powerpoint/2010/main" val="1563809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.NET MAUI stands for Multi-platform App UI, enabling developers to build apps across major desktop and mobile platforms with one framework and codebase.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6</a:t>
            </a:fld>
            <a:endParaRPr lang="en-US"/>
          </a:p>
        </p:txBody>
      </p:sp>
    </p:spTree>
    <p:extLst>
      <p:ext uri="{BB962C8B-B14F-4D97-AF65-F5344CB8AC3E}">
        <p14:creationId xmlns:p14="http://schemas.microsoft.com/office/powerpoint/2010/main" val="1844951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A unified codebase reduces maintenance effort, speeds up development, and allows code reuse, making it easier to deliver consistent experiences across devices.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7</a:t>
            </a:fld>
            <a:endParaRPr lang="en-US"/>
          </a:p>
        </p:txBody>
      </p:sp>
    </p:spTree>
    <p:extLst>
      <p:ext uri="{BB962C8B-B14F-4D97-AF65-F5344CB8AC3E}">
        <p14:creationId xmlns:p14="http://schemas.microsoft.com/office/powerpoint/2010/main" val="2870781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.NET MAUI improves upon </a:t>
            </a:r>
            <a:r>
              <a:rPr lang="en-US" dirty="0" err="1"/>
              <a:t>Xamarin.Forms</a:t>
            </a:r>
            <a:r>
              <a:rPr lang="en-US" dirty="0"/>
              <a:t> with better architecture, enhanced performance, and streamlined project structure, offering a </a:t>
            </a:r>
            <a:r>
              <a:rPr lang="en-US"/>
              <a:t>simplified and </a:t>
            </a:r>
            <a:r>
              <a:rPr lang="en-US" dirty="0"/>
              <a:t>modern development experience.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8</a:t>
            </a:fld>
            <a:endParaRPr lang="en-US"/>
          </a:p>
        </p:txBody>
      </p:sp>
    </p:spTree>
    <p:extLst>
      <p:ext uri="{BB962C8B-B14F-4D97-AF65-F5344CB8AC3E}">
        <p14:creationId xmlns:p14="http://schemas.microsoft.com/office/powerpoint/2010/main" val="3794117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Next we’ll discuss the IDEs and tools available on Windows and macOS to build, debug, and deploy .NET MAUI applications.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9</a:t>
            </a:fld>
            <a:endParaRPr lang="en-US"/>
          </a:p>
        </p:txBody>
      </p:sp>
    </p:spTree>
    <p:extLst>
      <p:ext uri="{BB962C8B-B14F-4D97-AF65-F5344CB8AC3E}">
        <p14:creationId xmlns:p14="http://schemas.microsoft.com/office/powerpoint/2010/main" val="1009787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Studio on Windows and macOS are primary IDEs, complemented by VS Code and command-line tools that support .NET MAUI development workflows. JetBrains Rider is also available on both platforms for folks who either have a subscription or use it through the </a:t>
            </a:r>
            <a:r>
              <a:rPr lang="en-US"/>
              <a:t>community license.</a:t>
            </a:r>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10</a:t>
            </a:fld>
            <a:endParaRPr lang="en-US"/>
          </a:p>
        </p:txBody>
      </p:sp>
    </p:spTree>
    <p:extLst>
      <p:ext uri="{BB962C8B-B14F-4D97-AF65-F5344CB8AC3E}">
        <p14:creationId xmlns:p14="http://schemas.microsoft.com/office/powerpoint/2010/main" val="3368702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how to leverage debugging tools, simulators, and emulators to test applications on different platforms directly from your development environment.</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11</a:t>
            </a:fld>
            <a:endParaRPr lang="en-US"/>
          </a:p>
        </p:txBody>
      </p:sp>
    </p:spTree>
    <p:extLst>
      <p:ext uri="{BB962C8B-B14F-4D97-AF65-F5344CB8AC3E}">
        <p14:creationId xmlns:p14="http://schemas.microsoft.com/office/powerpoint/2010/main" val="1395849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Utilize features like hot reload, templates, and extensions to speed up development and maintain high code quality across platforms.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12</a:t>
            </a:fld>
            <a:endParaRPr lang="en-US"/>
          </a:p>
        </p:txBody>
      </p:sp>
    </p:spTree>
    <p:extLst>
      <p:ext uri="{BB962C8B-B14F-4D97-AF65-F5344CB8AC3E}">
        <p14:creationId xmlns:p14="http://schemas.microsoft.com/office/powerpoint/2010/main" val="1141200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Explore the powerful controls, extensions, and behaviors provided by the Community Toolkit to accelerate development and enhance app capabilities.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15</a:t>
            </a:fld>
            <a:endParaRPr lang="en-US"/>
          </a:p>
        </p:txBody>
      </p:sp>
    </p:spTree>
    <p:extLst>
      <p:ext uri="{BB962C8B-B14F-4D97-AF65-F5344CB8AC3E}">
        <p14:creationId xmlns:p14="http://schemas.microsoft.com/office/powerpoint/2010/main" val="3005332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a:pPr>
                <a:defRPr/>
              </a:pPr>
              <a:t>11/15/2025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a:pPr>
                <a:defRPr/>
              </a:pPr>
              <a:t>11/15/2025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a:pPr>
                <a:defRPr/>
              </a:pPr>
              <a:t>11/15/2025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a:pPr>
                <a:defRPr/>
              </a:pPr>
              <a:t>11/15/2025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smtClean="0"/>
              <a:pPr>
                <a:defRPr/>
              </a:pPr>
              <a:t>11/15/2025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smtClean="0"/>
              <a:pPr>
                <a:defRPr/>
              </a:pPr>
              <a:t>11/15/2025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smtClean="0"/>
              <a:pPr>
                <a:defRPr/>
              </a:pPr>
              <a:t>11/15/2025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smtClean="0"/>
              <a:pPr>
                <a:defRPr/>
              </a:pPr>
              <a:t>11/15/2025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a:pPr>
                <a:defRPr/>
              </a:pPr>
              <a:t>11/15/2025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fontAlgn="base">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fontAlgn="base">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fontAlgn="base">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fontAlgn="base">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fontAlgn="base">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fontAlgn="base">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smtClean="0"/>
              <a:pPr>
                <a:defRPr/>
              </a:pPr>
              <a:t>11/15/2025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rtl="0" eaLnBrk="1" fontAlgn="base" hangingPunct="1">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eaLnBrk="1" fontAlgn="base" hangingPunct="1">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eaLnBrk="1" fontAlgn="base" hangingPunct="1">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eaLnBrk="1" fontAlgn="base" hangingPunct="1">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eaLnBrk="1" fontAlgn="base" hangingPunct="1">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eaLnBrk="1" fontAlgn="base" hangingPunct="1">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hyperlink" Target="https://learn.microsoft.com/dotnet/communitytoolkit/maui/" TargetMode="External"/><Relationship Id="rId7" Type="http://schemas.openxmlformats.org/officeDocument/2006/relationships/hyperlink" Target="https://github.com/dotnet/maui-samples" TargetMode="External"/><Relationship Id="rId2" Type="http://schemas.openxmlformats.org/officeDocument/2006/relationships/hyperlink" Target="https://learn.microsoft.com/dotnet/maui/" TargetMode="External"/><Relationship Id="rId1" Type="http://schemas.openxmlformats.org/officeDocument/2006/relationships/slideLayout" Target="../slideLayouts/slideLayout13.xml"/><Relationship Id="rId6" Type="http://schemas.openxmlformats.org/officeDocument/2006/relationships/hyperlink" Target="https://www.youtube.com/watch?v=SeRGpBR3-3M&amp;list=PLdo4fOcmZ0oX-sL7AFmygVw2A37Hbp8ZS" TargetMode="External"/><Relationship Id="rId5" Type="http://schemas.openxmlformats.org/officeDocument/2006/relationships/hyperlink" Target="https://learn.microsoft.com/training/paths/build-apps-with-dotnet-maui/" TargetMode="External"/><Relationship Id="rId4" Type="http://schemas.openxmlformats.org/officeDocument/2006/relationships/hyperlink" Target="https://learn.microsoft.com/dotnet/maui/get-started/first-app"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mailto:alashcraft@gmail.com" TargetMode="Externa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259632" y="1144203"/>
            <a:ext cx="7416825" cy="1028700"/>
          </a:xfrm>
          <a:prstGeom prst="rect">
            <a:avLst/>
          </a:prstGeom>
          <a:noFill/>
          <a:ln>
            <a:noFill/>
          </a:ln>
          <a:effectLst/>
        </p:spPr>
        <p:txBody>
          <a:bodyPr lIns="90379" tIns="44448" rIns="90379" bIns="44448" anchor="b">
            <a:prstTxWarp prst="textNoShape">
              <a:avLst/>
            </a:prstTxWarp>
          </a:bodyPr>
          <a:lstStyle/>
          <a:p>
            <a:pPr algn="r" defTabSz="896938" eaLnBrk="0" hangingPunct="0"/>
            <a:r>
              <a:rPr lang="en-US" sz="3200" b="1" dirty="0">
                <a:solidFill>
                  <a:schemeClr val="bg1"/>
                </a:solidFill>
                <a:latin typeface="Arial Bold" pitchFamily="-72" charset="0"/>
              </a:rPr>
              <a:t>Create Multi-Platform Apps with .NET MAUI &amp; the MAUI Community Toolkit</a:t>
            </a:r>
          </a:p>
        </p:txBody>
      </p:sp>
      <p:sp>
        <p:nvSpPr>
          <p:cNvPr id="6" name="Rectangle 5"/>
          <p:cNvSpPr>
            <a:spLocks noChangeArrowheads="1"/>
          </p:cNvSpPr>
          <p:nvPr/>
        </p:nvSpPr>
        <p:spPr bwMode="auto">
          <a:xfrm>
            <a:off x="4661897" y="2355726"/>
            <a:ext cx="3987800" cy="1002506"/>
          </a:xfrm>
          <a:prstGeom prst="rect">
            <a:avLst/>
          </a:prstGeom>
          <a:noFill/>
          <a:ln>
            <a:noFill/>
          </a:ln>
          <a:effectLst/>
        </p:spPr>
        <p:txBody>
          <a:bodyPr lIns="85923" tIns="42962" rIns="85923" bIns="42962">
            <a:prstTxWarp prst="textNoShape">
              <a:avLst/>
            </a:prstTxWarp>
          </a:bodyPr>
          <a:lstStyle/>
          <a:p>
            <a:pPr algn="r"/>
            <a:r>
              <a:rPr lang="en-US" sz="2800" b="1" dirty="0">
                <a:solidFill>
                  <a:srgbClr val="FFC000"/>
                </a:solidFill>
              </a:rPr>
              <a:t>Alvin Ashcraft</a:t>
            </a:r>
          </a:p>
          <a:p>
            <a:pPr algn="r"/>
            <a:r>
              <a:rPr lang="en-US" sz="2400" b="1" dirty="0">
                <a:solidFill>
                  <a:srgbClr val="FFC000"/>
                </a:solidFill>
              </a:rPr>
              <a:t>Sr. Content Developer, </a:t>
            </a:r>
          </a:p>
          <a:p>
            <a:pPr algn="r"/>
            <a:r>
              <a:rPr lang="en-US" sz="2400" b="1" dirty="0">
                <a:solidFill>
                  <a:srgbClr val="FFC000"/>
                </a:solidFill>
              </a:rPr>
              <a:t>Microsoft</a:t>
            </a:r>
          </a:p>
          <a:p>
            <a:endParaRPr lang="en-US" b="1" dirty="0">
              <a:solidFill>
                <a:srgbClr val="C00000"/>
              </a:solidFill>
            </a:endParaRPr>
          </a:p>
          <a:p>
            <a:endParaRPr lang="en-US" sz="1400" dirty="0">
              <a:solidFill>
                <a:srgbClr val="C00000"/>
              </a:solidFill>
              <a:latin typeface="Times New Roman" pitchFamily="-72" charset="0"/>
            </a:endParaRPr>
          </a:p>
        </p:txBody>
      </p:sp>
      <p:sp>
        <p:nvSpPr>
          <p:cNvPr id="15364" name="Text Box 7"/>
          <p:cNvSpPr txBox="1">
            <a:spLocks noChangeArrowheads="1"/>
          </p:cNvSpPr>
          <p:nvPr/>
        </p:nvSpPr>
        <p:spPr bwMode="auto">
          <a:xfrm>
            <a:off x="6304960" y="3723878"/>
            <a:ext cx="2344737" cy="646331"/>
          </a:xfrm>
          <a:prstGeom prst="rect">
            <a:avLst/>
          </a:prstGeom>
          <a:noFill/>
          <a:ln w="9525">
            <a:noFill/>
            <a:miter lim="800000"/>
            <a:headEnd/>
            <a:tailEnd/>
          </a:ln>
        </p:spPr>
        <p:txBody>
          <a:bodyPr>
            <a:prstTxWarp prst="textNoShape">
              <a:avLst/>
            </a:prstTxWarp>
            <a:spAutoFit/>
          </a:bodyPr>
          <a:lstStyle/>
          <a:p>
            <a:pPr algn="r"/>
            <a:r>
              <a:rPr lang="en-US" sz="2000" dirty="0">
                <a:solidFill>
                  <a:srgbClr val="FFC000"/>
                </a:solidFill>
                <a:ea typeface="Arial" pitchFamily="-72" charset="0"/>
                <a:cs typeface="Arial" pitchFamily="-72" charset="0"/>
              </a:rPr>
              <a:t>Level: Intermediate</a:t>
            </a:r>
          </a:p>
          <a:p>
            <a:pPr algn="r"/>
            <a:endParaRPr lang="en-US" sz="1600" b="1" dirty="0">
              <a:ea typeface="Arial" pitchFamily="-72" charset="0"/>
              <a:cs typeface="Arial" pitchFamily="-72"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1590"/>
            <a:ext cx="8229600" cy="3394472"/>
          </a:xfrm>
        </p:spPr>
        <p:txBody>
          <a:bodyPr>
            <a:normAutofit fontScale="92500" lnSpcReduction="10000"/>
          </a:bodyPr>
          <a:lstStyle/>
          <a:p>
            <a:r>
              <a:rPr lang="en-US" sz="2800" dirty="0"/>
              <a:t>Your feedback is very important to us</a:t>
            </a:r>
          </a:p>
          <a:p>
            <a:r>
              <a:rPr lang="en-US" sz="2800" dirty="0"/>
              <a:t>Please take a moment to complete the session survey found in the mobile app</a:t>
            </a:r>
          </a:p>
          <a:p>
            <a:r>
              <a:rPr lang="en-US" sz="2800" dirty="0"/>
              <a:t>Use the QR code or search for “Converge360 Events” in your app store</a:t>
            </a:r>
          </a:p>
          <a:p>
            <a:r>
              <a:rPr lang="en-US" sz="2800" dirty="0"/>
              <a:t>Find this session on the Agenda tab</a:t>
            </a:r>
          </a:p>
          <a:p>
            <a:r>
              <a:rPr lang="en-US" sz="2800" dirty="0"/>
              <a:t>Click “Session Evaluation”</a:t>
            </a:r>
          </a:p>
          <a:p>
            <a:r>
              <a:rPr lang="en-US" sz="2800" dirty="0"/>
              <a:t>Thank you! </a:t>
            </a:r>
          </a:p>
          <a:p>
            <a:endParaRPr lang="en-US" sz="3000" dirty="0"/>
          </a:p>
        </p:txBody>
      </p:sp>
      <p:sp>
        <p:nvSpPr>
          <p:cNvPr id="4" name="Title 1"/>
          <p:cNvSpPr>
            <a:spLocks noGrp="1"/>
          </p:cNvSpPr>
          <p:nvPr>
            <p:ph type="title"/>
          </p:nvPr>
        </p:nvSpPr>
        <p:spPr/>
        <p:txBody>
          <a:bodyPr/>
          <a:lstStyle/>
          <a:p>
            <a:r>
              <a:rPr lang="en-US" b="1" dirty="0"/>
              <a:t>Session Survey</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6804985" y="2852732"/>
            <a:ext cx="1427276" cy="1428750"/>
          </a:xfrm>
          <a:prstGeom prst="rect">
            <a:avLst/>
          </a:prstGeom>
        </p:spPr>
      </p:pic>
    </p:spTree>
    <p:extLst>
      <p:ext uri="{BB962C8B-B14F-4D97-AF65-F5344CB8AC3E}">
        <p14:creationId xmlns:p14="http://schemas.microsoft.com/office/powerpoint/2010/main" val="1727960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solidFill>
                  <a:schemeClr val="tx1"/>
                </a:solidFill>
              </a:rPr>
              <a:t>Agenda</a:t>
            </a:r>
          </a:p>
        </p:txBody>
      </p:sp>
      <p:sp>
        <p:nvSpPr>
          <p:cNvPr id="3" name="Content Placeholder 2"/>
          <p:cNvSpPr>
            <a:spLocks noGrp="1"/>
          </p:cNvSpPr>
          <p:nvPr>
            <p:ph idx="1"/>
          </p:nvPr>
        </p:nvSpPr>
        <p:spPr>
          <a:xfrm>
            <a:off x="457200" y="1131590"/>
            <a:ext cx="8229600" cy="3394472"/>
          </a:xfrm>
        </p:spPr>
        <p:txBody>
          <a:bodyPr>
            <a:normAutofit fontScale="70000" lnSpcReduction="20000"/>
          </a:bodyPr>
          <a:lstStyle/>
          <a:p>
            <a:pPr>
              <a:lnSpc>
                <a:spcPct val="100000"/>
              </a:lnSpc>
            </a:pPr>
            <a:r>
              <a:rPr lang="en-US" dirty="0"/>
              <a:t>About Me</a:t>
            </a:r>
          </a:p>
          <a:p>
            <a:pPr>
              <a:lnSpc>
                <a:spcPct val="100000"/>
              </a:lnSpc>
            </a:pPr>
            <a:r>
              <a:rPr lang="en-US" dirty="0"/>
              <a:t>Introduction to .NET MAUI and Cross-Platform Apps</a:t>
            </a:r>
          </a:p>
          <a:p>
            <a:pPr>
              <a:lnSpc>
                <a:spcPct val="100000"/>
              </a:lnSpc>
            </a:pPr>
            <a:r>
              <a:rPr lang="en-US" dirty="0"/>
              <a:t>Develop on Windows and macOS</a:t>
            </a:r>
          </a:p>
          <a:p>
            <a:pPr>
              <a:lnSpc>
                <a:spcPct val="100000"/>
              </a:lnSpc>
            </a:pPr>
            <a:r>
              <a:rPr lang="en-US" dirty="0"/>
              <a:t>Rapid App Building with XAML, C# &amp; Visual Studio</a:t>
            </a:r>
          </a:p>
          <a:p>
            <a:pPr>
              <a:lnSpc>
                <a:spcPct val="100000"/>
              </a:lnSpc>
            </a:pPr>
            <a:r>
              <a:rPr lang="en-US" dirty="0"/>
              <a:t>Enhance Apps with the .NET MAUI Community Toolkit</a:t>
            </a:r>
          </a:p>
          <a:p>
            <a:pPr>
              <a:lnSpc>
                <a:spcPct val="100000"/>
              </a:lnSpc>
            </a:pPr>
            <a:r>
              <a:rPr lang="en-US" dirty="0"/>
              <a:t>Simplify Your MVVM Architecture with the MVVM Toolkit</a:t>
            </a:r>
          </a:p>
          <a:p>
            <a:pPr>
              <a:lnSpc>
                <a:spcPct val="100000"/>
              </a:lnSpc>
            </a:pPr>
            <a:r>
              <a:rPr lang="en-US" dirty="0"/>
              <a:t>Build Apps with C# Markup in VS Code: No XAML Required</a:t>
            </a:r>
          </a:p>
          <a:p>
            <a:pPr>
              <a:lnSpc>
                <a:spcPct val="100000"/>
              </a:lnSpc>
            </a:pPr>
            <a:r>
              <a:rPr lang="en-US" dirty="0"/>
              <a:t>Style Apps with CSS</a:t>
            </a:r>
          </a:p>
          <a:p>
            <a:pPr>
              <a:lnSpc>
                <a:spcPct val="100000"/>
              </a:lnSpc>
            </a:pPr>
            <a:r>
              <a:rPr lang="en-US" dirty="0"/>
              <a:t>Access Platform-Specific Features</a:t>
            </a:r>
          </a:p>
          <a:p>
            <a:pPr>
              <a:lnSpc>
                <a:spcPct val="100000"/>
              </a:lnSpc>
            </a:pPr>
            <a:r>
              <a:rPr lang="en-US" dirty="0"/>
              <a:t>Q&amp;A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E94B-E27E-50F8-12A8-F260EF3CFE2B}"/>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AB5F3CE1-4D26-D8A6-B21A-DBE9272C19E2}"/>
              </a:ext>
            </a:extLst>
          </p:cNvPr>
          <p:cNvSpPr>
            <a:spLocks noGrp="1"/>
          </p:cNvSpPr>
          <p:nvPr>
            <p:ph idx="1"/>
          </p:nvPr>
        </p:nvSpPr>
        <p:spPr/>
        <p:txBody>
          <a:bodyPr/>
          <a:lstStyle/>
          <a:p>
            <a:r>
              <a:rPr lang="en-US" sz="2000" dirty="0"/>
              <a:t>Software industry for nearly 30 years</a:t>
            </a:r>
          </a:p>
          <a:p>
            <a:pPr lvl="1"/>
            <a:r>
              <a:rPr lang="en-US" sz="1800" dirty="0"/>
              <a:t>Started programming in 1995 (VB 3 &amp; Microsoft Access)</a:t>
            </a:r>
          </a:p>
          <a:p>
            <a:pPr lvl="1"/>
            <a:r>
              <a:rPr lang="en-US" sz="1800" dirty="0"/>
              <a:t>Content developer at Microsoft since 2022</a:t>
            </a:r>
          </a:p>
          <a:p>
            <a:r>
              <a:rPr lang="en-US" sz="2000" dirty="0"/>
              <a:t>Morning Dew link blog</a:t>
            </a:r>
          </a:p>
          <a:p>
            <a:pPr lvl="1"/>
            <a:r>
              <a:rPr lang="en-US" sz="1800" dirty="0"/>
              <a:t>Daily links for .NET developers since 2007</a:t>
            </a:r>
          </a:p>
          <a:p>
            <a:r>
              <a:rPr lang="en-US" sz="2000" dirty="0"/>
              <a:t>Three books for </a:t>
            </a:r>
            <a:r>
              <a:rPr lang="en-US" sz="2000" dirty="0" err="1"/>
              <a:t>Packt</a:t>
            </a:r>
            <a:r>
              <a:rPr lang="en-US" sz="2000" dirty="0"/>
              <a:t> Publishing</a:t>
            </a:r>
          </a:p>
          <a:p>
            <a:pPr lvl="1"/>
            <a:r>
              <a:rPr lang="en-US" sz="1800" dirty="0"/>
              <a:t>Learn WinUI 3 (two editions)</a:t>
            </a:r>
          </a:p>
          <a:p>
            <a:pPr lvl="1"/>
            <a:r>
              <a:rPr lang="en-US" sz="1800" dirty="0"/>
              <a:t>Parallel Programming and Concurrency with C# and .NET</a:t>
            </a:r>
          </a:p>
          <a:p>
            <a:r>
              <a:rPr lang="en-US" sz="2000" dirty="0"/>
              <a:t>TechBash Dev Conference organizer since 2016</a:t>
            </a:r>
          </a:p>
          <a:p>
            <a:pPr lvl="1"/>
            <a:r>
              <a:rPr lang="en-US" sz="1600" dirty="0"/>
              <a:t>TechBash 2026: Oct 13-16 @ Kalahari Resort Poconos</a:t>
            </a:r>
          </a:p>
        </p:txBody>
      </p:sp>
    </p:spTree>
    <p:extLst>
      <p:ext uri="{BB962C8B-B14F-4D97-AF65-F5344CB8AC3E}">
        <p14:creationId xmlns:p14="http://schemas.microsoft.com/office/powerpoint/2010/main" val="128417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01EA-3561-27B6-2CBD-950859F0411D}"/>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A6370F1A-274C-5388-1A52-ED54F74B63DD}"/>
              </a:ext>
            </a:extLst>
          </p:cNvPr>
          <p:cNvSpPr>
            <a:spLocks noGrp="1"/>
          </p:cNvSpPr>
          <p:nvPr>
            <p:ph type="body" idx="1"/>
          </p:nvPr>
        </p:nvSpPr>
        <p:spPr/>
        <p:txBody>
          <a:bodyPr/>
          <a:lstStyle/>
          <a:p>
            <a:r>
              <a:rPr lang="en-US" dirty="0"/>
              <a:t>Get to Know .NET MAUI and Cross-Platform App Development</a:t>
            </a:r>
          </a:p>
        </p:txBody>
      </p:sp>
    </p:spTree>
    <p:extLst>
      <p:ext uri="{BB962C8B-B14F-4D97-AF65-F5344CB8AC3E}">
        <p14:creationId xmlns:p14="http://schemas.microsoft.com/office/powerpoint/2010/main" val="4236718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4A96-A4CA-C42A-60A4-420CFC5B0CC2}"/>
              </a:ext>
            </a:extLst>
          </p:cNvPr>
          <p:cNvSpPr>
            <a:spLocks noGrp="1"/>
          </p:cNvSpPr>
          <p:nvPr>
            <p:ph type="title"/>
          </p:nvPr>
        </p:nvSpPr>
        <p:spPr/>
        <p:txBody>
          <a:bodyPr/>
          <a:lstStyle/>
          <a:p>
            <a:r>
              <a:rPr lang="en-US" sz="2800" dirty="0"/>
              <a:t>Overview of .NET MAUI &amp; Supported Platforms</a:t>
            </a:r>
          </a:p>
        </p:txBody>
      </p:sp>
      <p:sp>
        <p:nvSpPr>
          <p:cNvPr id="3" name="Content Placeholder 2">
            <a:extLst>
              <a:ext uri="{FF2B5EF4-FFF2-40B4-BE49-F238E27FC236}">
                <a16:creationId xmlns:a16="http://schemas.microsoft.com/office/drawing/2014/main" id="{59972F13-CFAD-21F1-4B9A-7395A19E6257}"/>
              </a:ext>
            </a:extLst>
          </p:cNvPr>
          <p:cNvSpPr>
            <a:spLocks noGrp="1"/>
          </p:cNvSpPr>
          <p:nvPr>
            <p:ph idx="1"/>
          </p:nvPr>
        </p:nvSpPr>
        <p:spPr/>
        <p:txBody>
          <a:bodyPr/>
          <a:lstStyle/>
          <a:p>
            <a:r>
              <a:rPr lang="en-US" sz="2800" dirty="0"/>
              <a:t>Multi-platform Framework</a:t>
            </a:r>
          </a:p>
          <a:p>
            <a:pPr lvl="1"/>
            <a:r>
              <a:rPr lang="en-US" sz="2400" dirty="0"/>
              <a:t>.NET MAUI allows building apps for multiple platforms using a single shared codebase.</a:t>
            </a:r>
          </a:p>
          <a:p>
            <a:r>
              <a:rPr lang="en-US" sz="2800" dirty="0"/>
              <a:t>Supported Platforms</a:t>
            </a:r>
          </a:p>
          <a:p>
            <a:pPr lvl="1"/>
            <a:r>
              <a:rPr lang="en-US" sz="2400" dirty="0"/>
              <a:t>.NET MAUI supports Windows &amp; macOS on the desktop and the iOS &amp; Android mobile operating systems enabling cross-device compatibility for most app users today.</a:t>
            </a:r>
          </a:p>
        </p:txBody>
      </p:sp>
    </p:spTree>
    <p:extLst>
      <p:ext uri="{BB962C8B-B14F-4D97-AF65-F5344CB8AC3E}">
        <p14:creationId xmlns:p14="http://schemas.microsoft.com/office/powerpoint/2010/main" val="2243524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0C74-C355-4889-7015-203806F62957}"/>
              </a:ext>
            </a:extLst>
          </p:cNvPr>
          <p:cNvSpPr>
            <a:spLocks noGrp="1"/>
          </p:cNvSpPr>
          <p:nvPr>
            <p:ph type="title"/>
          </p:nvPr>
        </p:nvSpPr>
        <p:spPr/>
        <p:txBody>
          <a:bodyPr/>
          <a:lstStyle/>
          <a:p>
            <a:r>
              <a:rPr lang="en-US" dirty="0"/>
              <a:t>Benefits of a Single Codebase</a:t>
            </a:r>
          </a:p>
        </p:txBody>
      </p:sp>
      <p:sp>
        <p:nvSpPr>
          <p:cNvPr id="3" name="Content Placeholder 2">
            <a:extLst>
              <a:ext uri="{FF2B5EF4-FFF2-40B4-BE49-F238E27FC236}">
                <a16:creationId xmlns:a16="http://schemas.microsoft.com/office/drawing/2014/main" id="{403288D1-08B3-5DBC-7ED1-49DC1B4D1AA2}"/>
              </a:ext>
            </a:extLst>
          </p:cNvPr>
          <p:cNvSpPr>
            <a:spLocks noGrp="1"/>
          </p:cNvSpPr>
          <p:nvPr>
            <p:ph idx="1"/>
          </p:nvPr>
        </p:nvSpPr>
        <p:spPr/>
        <p:txBody>
          <a:bodyPr/>
          <a:lstStyle/>
          <a:p>
            <a:r>
              <a:rPr lang="en-US" sz="2400" dirty="0"/>
              <a:t>Reduced maintenance</a:t>
            </a:r>
          </a:p>
          <a:p>
            <a:pPr lvl="1"/>
            <a:r>
              <a:rPr lang="en-US" sz="2000" dirty="0"/>
              <a:t>A single codebase simplifies updates and bug fixes, lowering the time and resources needed for maintenance.</a:t>
            </a:r>
          </a:p>
          <a:p>
            <a:r>
              <a:rPr lang="en-US" sz="2400" dirty="0"/>
              <a:t>Faster development</a:t>
            </a:r>
          </a:p>
          <a:p>
            <a:pPr lvl="1"/>
            <a:r>
              <a:rPr lang="en-US" sz="2000" dirty="0"/>
              <a:t>Developers can build and deploy features faster by writing code once for all platforms.</a:t>
            </a:r>
          </a:p>
          <a:p>
            <a:r>
              <a:rPr lang="en-US" sz="2400" dirty="0"/>
              <a:t>Consistent user experience</a:t>
            </a:r>
          </a:p>
          <a:p>
            <a:pPr lvl="1"/>
            <a:r>
              <a:rPr lang="en-US" sz="2000" dirty="0"/>
              <a:t>Using a unified codebase ensures users enjoy the same experience across devices and operating systems while still providing native performance and look &amp; feel.</a:t>
            </a:r>
          </a:p>
        </p:txBody>
      </p:sp>
    </p:spTree>
    <p:extLst>
      <p:ext uri="{BB962C8B-B14F-4D97-AF65-F5344CB8AC3E}">
        <p14:creationId xmlns:p14="http://schemas.microsoft.com/office/powerpoint/2010/main" val="1439571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12E3-5908-2CC5-206B-70EC658F17DF}"/>
              </a:ext>
            </a:extLst>
          </p:cNvPr>
          <p:cNvSpPr>
            <a:spLocks noGrp="1"/>
          </p:cNvSpPr>
          <p:nvPr>
            <p:ph type="title"/>
          </p:nvPr>
        </p:nvSpPr>
        <p:spPr/>
        <p:txBody>
          <a:bodyPr/>
          <a:lstStyle/>
          <a:p>
            <a:r>
              <a:rPr lang="en-US" sz="3600" dirty="0"/>
              <a:t>MAUI vs Other X-Plat Frameworks</a:t>
            </a:r>
          </a:p>
        </p:txBody>
      </p:sp>
      <p:sp>
        <p:nvSpPr>
          <p:cNvPr id="3" name="Content Placeholder 2">
            <a:extLst>
              <a:ext uri="{FF2B5EF4-FFF2-40B4-BE49-F238E27FC236}">
                <a16:creationId xmlns:a16="http://schemas.microsoft.com/office/drawing/2014/main" id="{4F81ADA1-905D-ADDF-8630-2D86D3E9B9A9}"/>
              </a:ext>
            </a:extLst>
          </p:cNvPr>
          <p:cNvSpPr>
            <a:spLocks noGrp="1"/>
          </p:cNvSpPr>
          <p:nvPr>
            <p:ph idx="1"/>
          </p:nvPr>
        </p:nvSpPr>
        <p:spPr/>
        <p:txBody>
          <a:bodyPr/>
          <a:lstStyle/>
          <a:p>
            <a:r>
              <a:rPr lang="en-US" sz="2000" dirty="0"/>
              <a:t>Language</a:t>
            </a:r>
          </a:p>
          <a:p>
            <a:pPr lvl="1"/>
            <a:r>
              <a:rPr lang="en-US" sz="1800" dirty="0"/>
              <a:t>Ideal choice for .NET developers. Frameworks like Flutter and React Native require other technical expertise.</a:t>
            </a:r>
          </a:p>
          <a:p>
            <a:r>
              <a:rPr lang="en-US" sz="2000" dirty="0"/>
              <a:t>Enhanced Performance</a:t>
            </a:r>
          </a:p>
          <a:p>
            <a:pPr lvl="1"/>
            <a:r>
              <a:rPr lang="en-US" sz="1800" dirty="0"/>
              <a:t>Enables faster and more efficient app execution compared to PWAs or React Native.</a:t>
            </a:r>
          </a:p>
          <a:p>
            <a:r>
              <a:rPr lang="en-US" sz="2000" dirty="0"/>
              <a:t>Community and Ecosystem</a:t>
            </a:r>
          </a:p>
          <a:p>
            <a:pPr lvl="1"/>
            <a:r>
              <a:rPr lang="en-US" sz="1800" dirty="0"/>
              <a:t>Puts Microsoft in your corner. 3</a:t>
            </a:r>
            <a:r>
              <a:rPr lang="en-US" sz="1800" baseline="30000" dirty="0"/>
              <a:t>rd </a:t>
            </a:r>
            <a:r>
              <a:rPr lang="en-US" sz="1800" dirty="0"/>
              <a:t>party libraries &amp; controls are available but not required for building rich, performant apps. The .NET MAUI Community Toolkit and .NET Community Toolkit offer additional libraries supported by the open-source community.</a:t>
            </a:r>
          </a:p>
        </p:txBody>
      </p:sp>
    </p:spTree>
    <p:extLst>
      <p:ext uri="{BB962C8B-B14F-4D97-AF65-F5344CB8AC3E}">
        <p14:creationId xmlns:p14="http://schemas.microsoft.com/office/powerpoint/2010/main" val="70986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70CA3-FDDF-CB80-A422-71059631DC30}"/>
              </a:ext>
            </a:extLst>
          </p:cNvPr>
          <p:cNvSpPr>
            <a:spLocks noGrp="1"/>
          </p:cNvSpPr>
          <p:nvPr>
            <p:ph type="title"/>
          </p:nvPr>
        </p:nvSpPr>
        <p:spPr/>
        <p:txBody>
          <a:bodyPr/>
          <a:lstStyle/>
          <a:p>
            <a:r>
              <a:rPr lang="en-US" dirty="0"/>
              <a:t>Development Tools</a:t>
            </a:r>
          </a:p>
        </p:txBody>
      </p:sp>
      <p:sp>
        <p:nvSpPr>
          <p:cNvPr id="3" name="Text Placeholder 2">
            <a:extLst>
              <a:ext uri="{FF2B5EF4-FFF2-40B4-BE49-F238E27FC236}">
                <a16:creationId xmlns:a16="http://schemas.microsoft.com/office/drawing/2014/main" id="{29573168-39D4-0729-8527-651B7AD7954B}"/>
              </a:ext>
            </a:extLst>
          </p:cNvPr>
          <p:cNvSpPr>
            <a:spLocks noGrp="1"/>
          </p:cNvSpPr>
          <p:nvPr>
            <p:ph type="body" idx="1"/>
          </p:nvPr>
        </p:nvSpPr>
        <p:spPr/>
        <p:txBody>
          <a:bodyPr/>
          <a:lstStyle/>
          <a:p>
            <a:r>
              <a:rPr lang="en-US" dirty="0"/>
              <a:t>Build MAUI Apps on Windows or macOS</a:t>
            </a:r>
          </a:p>
        </p:txBody>
      </p:sp>
    </p:spTree>
    <p:extLst>
      <p:ext uri="{BB962C8B-B14F-4D97-AF65-F5344CB8AC3E}">
        <p14:creationId xmlns:p14="http://schemas.microsoft.com/office/powerpoint/2010/main" val="72287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F1C6-CB85-EB72-B47B-22375C148508}"/>
              </a:ext>
            </a:extLst>
          </p:cNvPr>
          <p:cNvSpPr>
            <a:spLocks noGrp="1"/>
          </p:cNvSpPr>
          <p:nvPr>
            <p:ph type="title"/>
          </p:nvPr>
        </p:nvSpPr>
        <p:spPr/>
        <p:txBody>
          <a:bodyPr/>
          <a:lstStyle/>
          <a:p>
            <a:r>
              <a:rPr lang="en-US" dirty="0"/>
              <a:t>IDEs and Tools</a:t>
            </a:r>
          </a:p>
        </p:txBody>
      </p:sp>
      <p:sp>
        <p:nvSpPr>
          <p:cNvPr id="3" name="Content Placeholder 2">
            <a:extLst>
              <a:ext uri="{FF2B5EF4-FFF2-40B4-BE49-F238E27FC236}">
                <a16:creationId xmlns:a16="http://schemas.microsoft.com/office/drawing/2014/main" id="{8EF9A8A5-339C-88E3-14B4-C5DD93D630BB}"/>
              </a:ext>
            </a:extLst>
          </p:cNvPr>
          <p:cNvSpPr>
            <a:spLocks noGrp="1"/>
          </p:cNvSpPr>
          <p:nvPr>
            <p:ph idx="1"/>
          </p:nvPr>
        </p:nvSpPr>
        <p:spPr/>
        <p:txBody>
          <a:bodyPr/>
          <a:lstStyle/>
          <a:p>
            <a:r>
              <a:rPr lang="en-US" sz="2000" dirty="0"/>
              <a:t>Primary IDEs</a:t>
            </a:r>
          </a:p>
          <a:p>
            <a:pPr lvl="1"/>
            <a:r>
              <a:rPr lang="en-US" sz="1800" dirty="0"/>
              <a:t>Visual Studio on Windows and VS Code on Windows and macOS serve as the main development environments for .NET MAUI development.</a:t>
            </a:r>
          </a:p>
          <a:p>
            <a:r>
              <a:rPr lang="en-US" sz="2000" dirty="0"/>
              <a:t>Supporting Tools</a:t>
            </a:r>
          </a:p>
          <a:p>
            <a:pPr lvl="1"/>
            <a:r>
              <a:rPr lang="en-US" sz="1800" dirty="0"/>
              <a:t>VS Code, GitHub Copilot, and CLI tools complement the primary IDEs by supporting flexible and lightweight development workflows. .NET MAUI Community Toolkit offers open-source controls and helpers for your apps.</a:t>
            </a:r>
          </a:p>
          <a:p>
            <a:r>
              <a:rPr lang="en-US" sz="2000" dirty="0"/>
              <a:t>Additional Options</a:t>
            </a:r>
          </a:p>
          <a:p>
            <a:pPr lvl="1"/>
            <a:r>
              <a:rPr lang="en-US" sz="1800" dirty="0"/>
              <a:t>JetBrains Rider supports .NET MAUI development on Windows and macOS.</a:t>
            </a:r>
          </a:p>
        </p:txBody>
      </p:sp>
    </p:spTree>
    <p:extLst>
      <p:ext uri="{BB962C8B-B14F-4D97-AF65-F5344CB8AC3E}">
        <p14:creationId xmlns:p14="http://schemas.microsoft.com/office/powerpoint/2010/main" val="235255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613C-2DFA-B592-F24D-64D1F9D2FCFA}"/>
              </a:ext>
            </a:extLst>
          </p:cNvPr>
          <p:cNvSpPr>
            <a:spLocks noGrp="1"/>
          </p:cNvSpPr>
          <p:nvPr>
            <p:ph type="title"/>
          </p:nvPr>
        </p:nvSpPr>
        <p:spPr/>
        <p:txBody>
          <a:bodyPr/>
          <a:lstStyle/>
          <a:p>
            <a:r>
              <a:rPr lang="en-US" sz="4000" dirty="0"/>
              <a:t>Debug &amp; Build Across Platforms</a:t>
            </a:r>
          </a:p>
        </p:txBody>
      </p:sp>
      <p:sp>
        <p:nvSpPr>
          <p:cNvPr id="3" name="Content Placeholder 2">
            <a:extLst>
              <a:ext uri="{FF2B5EF4-FFF2-40B4-BE49-F238E27FC236}">
                <a16:creationId xmlns:a16="http://schemas.microsoft.com/office/drawing/2014/main" id="{ABEAC15B-5915-A474-E92B-52AE3E5288AC}"/>
              </a:ext>
            </a:extLst>
          </p:cNvPr>
          <p:cNvSpPr>
            <a:spLocks noGrp="1"/>
          </p:cNvSpPr>
          <p:nvPr>
            <p:ph idx="1"/>
          </p:nvPr>
        </p:nvSpPr>
        <p:spPr/>
        <p:txBody>
          <a:bodyPr/>
          <a:lstStyle/>
          <a:p>
            <a:r>
              <a:rPr lang="en-US" sz="2400" dirty="0"/>
              <a:t>Debugging Tools Usage</a:t>
            </a:r>
          </a:p>
          <a:p>
            <a:pPr lvl="1"/>
            <a:r>
              <a:rPr lang="en-US" sz="2000" dirty="0"/>
              <a:t>Use debugging tools like XAML Hot Reload, Live Visual Tree, and Visual Studio’s Binding Failures window to identify and fix issues effectively during development across platforms.</a:t>
            </a:r>
          </a:p>
          <a:p>
            <a:r>
              <a:rPr lang="en-US" sz="2400" dirty="0"/>
              <a:t>Simulators and Emulators</a:t>
            </a:r>
          </a:p>
          <a:p>
            <a:pPr lvl="1"/>
            <a:r>
              <a:rPr lang="en-US" sz="2000" dirty="0"/>
              <a:t>Simulators and emulators for Android and iOS replicate different platforms, enabling real-time testing without physical devices. Connect to a Mac from Visual Studio on Windows to debug iOS apps from your favorite IDE.</a:t>
            </a:r>
          </a:p>
        </p:txBody>
      </p:sp>
    </p:spTree>
    <p:extLst>
      <p:ext uri="{BB962C8B-B14F-4D97-AF65-F5344CB8AC3E}">
        <p14:creationId xmlns:p14="http://schemas.microsoft.com/office/powerpoint/2010/main" val="4218931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6BE5-276A-02D2-3E28-30E82DE7723D}"/>
              </a:ext>
            </a:extLst>
          </p:cNvPr>
          <p:cNvSpPr>
            <a:spLocks noGrp="1"/>
          </p:cNvSpPr>
          <p:nvPr>
            <p:ph type="title"/>
          </p:nvPr>
        </p:nvSpPr>
        <p:spPr/>
        <p:txBody>
          <a:bodyPr/>
          <a:lstStyle/>
          <a:p>
            <a:r>
              <a:rPr lang="en-US" dirty="0"/>
              <a:t>Productivity Tips</a:t>
            </a:r>
          </a:p>
        </p:txBody>
      </p:sp>
      <p:sp>
        <p:nvSpPr>
          <p:cNvPr id="3" name="Content Placeholder 2">
            <a:extLst>
              <a:ext uri="{FF2B5EF4-FFF2-40B4-BE49-F238E27FC236}">
                <a16:creationId xmlns:a16="http://schemas.microsoft.com/office/drawing/2014/main" id="{CFA3B380-E5F0-5EAE-FE2C-3DB010BB4B1C}"/>
              </a:ext>
            </a:extLst>
          </p:cNvPr>
          <p:cNvSpPr>
            <a:spLocks noGrp="1"/>
          </p:cNvSpPr>
          <p:nvPr>
            <p:ph idx="1"/>
          </p:nvPr>
        </p:nvSpPr>
        <p:spPr/>
        <p:txBody>
          <a:bodyPr/>
          <a:lstStyle/>
          <a:p>
            <a:r>
              <a:rPr lang="en-US" sz="2400" dirty="0"/>
              <a:t>Hot Reload Feature</a:t>
            </a:r>
          </a:p>
          <a:p>
            <a:pPr lvl="1"/>
            <a:r>
              <a:rPr lang="en-US" sz="2000" dirty="0"/>
              <a:t>XAML Hot Reload &amp; .NET Hot Reload enable instant code and markup changes, speeding up development &amp; reducing testing time.</a:t>
            </a:r>
          </a:p>
          <a:p>
            <a:r>
              <a:rPr lang="en-US" sz="2400" dirty="0"/>
              <a:t>Use of Templates</a:t>
            </a:r>
          </a:p>
          <a:p>
            <a:pPr lvl="1"/>
            <a:r>
              <a:rPr lang="en-US" sz="2000" dirty="0"/>
              <a:t>Templates provide reusable structures, enhancing consistency &amp; saving time coding.</a:t>
            </a:r>
          </a:p>
          <a:p>
            <a:r>
              <a:rPr lang="en-US" sz="2400" dirty="0"/>
              <a:t>Extensions for Quality</a:t>
            </a:r>
          </a:p>
          <a:p>
            <a:pPr lvl="1"/>
            <a:r>
              <a:rPr lang="en-US" sz="2000" dirty="0"/>
              <a:t>Visual Studio &amp; VS Code extensions add functionality &amp; help maintain high code quality across platforms.</a:t>
            </a:r>
          </a:p>
        </p:txBody>
      </p:sp>
    </p:spTree>
    <p:extLst>
      <p:ext uri="{BB962C8B-B14F-4D97-AF65-F5344CB8AC3E}">
        <p14:creationId xmlns:p14="http://schemas.microsoft.com/office/powerpoint/2010/main" val="2695737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52D5E-9E57-EE79-21C0-FFCDDAD69CB1}"/>
              </a:ext>
            </a:extLst>
          </p:cNvPr>
          <p:cNvSpPr>
            <a:spLocks noGrp="1"/>
          </p:cNvSpPr>
          <p:nvPr>
            <p:ph type="title"/>
          </p:nvPr>
        </p:nvSpPr>
        <p:spPr/>
        <p:txBody>
          <a:bodyPr/>
          <a:lstStyle/>
          <a:p>
            <a:r>
              <a:rPr lang="en-US" dirty="0"/>
              <a:t>Start Building Apps</a:t>
            </a:r>
          </a:p>
        </p:txBody>
      </p:sp>
      <p:sp>
        <p:nvSpPr>
          <p:cNvPr id="3" name="Text Placeholder 2">
            <a:extLst>
              <a:ext uri="{FF2B5EF4-FFF2-40B4-BE49-F238E27FC236}">
                <a16:creationId xmlns:a16="http://schemas.microsoft.com/office/drawing/2014/main" id="{422E73C0-362F-0263-CE66-B859C936B145}"/>
              </a:ext>
            </a:extLst>
          </p:cNvPr>
          <p:cNvSpPr>
            <a:spLocks noGrp="1"/>
          </p:cNvSpPr>
          <p:nvPr>
            <p:ph type="body" idx="1"/>
          </p:nvPr>
        </p:nvSpPr>
        <p:spPr/>
        <p:txBody>
          <a:bodyPr/>
          <a:lstStyle/>
          <a:p>
            <a:r>
              <a:rPr lang="en-US" dirty="0"/>
              <a:t>Leverage XAML, C#, and Your Favorite IDE</a:t>
            </a:r>
          </a:p>
        </p:txBody>
      </p:sp>
    </p:spTree>
    <p:extLst>
      <p:ext uri="{BB962C8B-B14F-4D97-AF65-F5344CB8AC3E}">
        <p14:creationId xmlns:p14="http://schemas.microsoft.com/office/powerpoint/2010/main" val="142416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A747-E3C3-EFC9-CE37-7E60A6D5B42A}"/>
              </a:ext>
            </a:extLst>
          </p:cNvPr>
          <p:cNvSpPr>
            <a:spLocks noGrp="1"/>
          </p:cNvSpPr>
          <p:nvPr>
            <p:ph type="title"/>
          </p:nvPr>
        </p:nvSpPr>
        <p:spPr/>
        <p:txBody>
          <a:bodyPr/>
          <a:lstStyle/>
          <a:p>
            <a:r>
              <a:rPr lang="en-US" dirty="0"/>
              <a:t>Build UIs with XAML or C#</a:t>
            </a:r>
          </a:p>
        </p:txBody>
      </p:sp>
      <p:sp>
        <p:nvSpPr>
          <p:cNvPr id="3" name="Content Placeholder 2">
            <a:extLst>
              <a:ext uri="{FF2B5EF4-FFF2-40B4-BE49-F238E27FC236}">
                <a16:creationId xmlns:a16="http://schemas.microsoft.com/office/drawing/2014/main" id="{84481B79-2820-63DA-BDFA-827E7E9E7873}"/>
              </a:ext>
            </a:extLst>
          </p:cNvPr>
          <p:cNvSpPr>
            <a:spLocks noGrp="1"/>
          </p:cNvSpPr>
          <p:nvPr>
            <p:ph sz="half" idx="1"/>
          </p:nvPr>
        </p:nvSpPr>
        <p:spPr>
          <a:xfrm>
            <a:off x="457200" y="1106314"/>
            <a:ext cx="4038600" cy="2545556"/>
          </a:xfrm>
        </p:spPr>
        <p:txBody>
          <a:bodyPr/>
          <a:lstStyle/>
          <a:p>
            <a:r>
              <a:rPr lang="en-US" dirty="0"/>
              <a:t>XAML markup for clear &amp; declarative UI design when building responsive UIs.</a:t>
            </a:r>
          </a:p>
          <a:p>
            <a:r>
              <a:rPr lang="en-US" dirty="0"/>
              <a:t>Code behind in C#</a:t>
            </a:r>
          </a:p>
          <a:p>
            <a:r>
              <a:rPr lang="en-US" dirty="0"/>
              <a:t>Separation of concerns with MVVM</a:t>
            </a:r>
          </a:p>
          <a:p>
            <a:endParaRPr lang="en-US" dirty="0"/>
          </a:p>
        </p:txBody>
      </p:sp>
      <p:sp>
        <p:nvSpPr>
          <p:cNvPr id="4" name="Content Placeholder 3">
            <a:extLst>
              <a:ext uri="{FF2B5EF4-FFF2-40B4-BE49-F238E27FC236}">
                <a16:creationId xmlns:a16="http://schemas.microsoft.com/office/drawing/2014/main" id="{C894133F-781C-173E-CE2D-802F49903301}"/>
              </a:ext>
            </a:extLst>
          </p:cNvPr>
          <p:cNvSpPr>
            <a:spLocks noGrp="1"/>
          </p:cNvSpPr>
          <p:nvPr>
            <p:ph sz="half" idx="2"/>
          </p:nvPr>
        </p:nvSpPr>
        <p:spPr>
          <a:xfrm>
            <a:off x="4648200" y="1106314"/>
            <a:ext cx="4038600" cy="2545556"/>
          </a:xfrm>
        </p:spPr>
        <p:txBody>
          <a:bodyPr/>
          <a:lstStyle/>
          <a:p>
            <a:r>
              <a:rPr lang="en-US" dirty="0"/>
              <a:t>Create UI in code with C# Markup</a:t>
            </a:r>
          </a:p>
          <a:p>
            <a:r>
              <a:rPr lang="en-US" dirty="0"/>
              <a:t>MVU pattern for robust apps</a:t>
            </a:r>
          </a:p>
          <a:p>
            <a:r>
              <a:rPr lang="en-US" dirty="0"/>
              <a:t>No XAML learning curve</a:t>
            </a:r>
          </a:p>
        </p:txBody>
      </p:sp>
    </p:spTree>
    <p:extLst>
      <p:ext uri="{BB962C8B-B14F-4D97-AF65-F5344CB8AC3E}">
        <p14:creationId xmlns:p14="http://schemas.microsoft.com/office/powerpoint/2010/main" val="3841370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BDB2B-3E30-3766-568D-3BCA6A830379}"/>
              </a:ext>
            </a:extLst>
          </p:cNvPr>
          <p:cNvSpPr>
            <a:spLocks noGrp="1"/>
          </p:cNvSpPr>
          <p:nvPr>
            <p:ph type="title"/>
          </p:nvPr>
        </p:nvSpPr>
        <p:spPr/>
        <p:txBody>
          <a:bodyPr/>
          <a:lstStyle/>
          <a:p>
            <a:r>
              <a:rPr lang="en-US" dirty="0"/>
              <a:t>MAUI Community Toolkit</a:t>
            </a:r>
          </a:p>
        </p:txBody>
      </p:sp>
      <p:sp>
        <p:nvSpPr>
          <p:cNvPr id="3" name="Text Placeholder 2">
            <a:extLst>
              <a:ext uri="{FF2B5EF4-FFF2-40B4-BE49-F238E27FC236}">
                <a16:creationId xmlns:a16="http://schemas.microsoft.com/office/drawing/2014/main" id="{216B17A3-6BEA-51E7-67C6-8D2B15B65D2A}"/>
              </a:ext>
            </a:extLst>
          </p:cNvPr>
          <p:cNvSpPr>
            <a:spLocks noGrp="1"/>
          </p:cNvSpPr>
          <p:nvPr>
            <p:ph type="body" idx="1"/>
          </p:nvPr>
        </p:nvSpPr>
        <p:spPr/>
        <p:txBody>
          <a:bodyPr/>
          <a:lstStyle/>
          <a:p>
            <a:r>
              <a:rPr lang="en-US" dirty="0"/>
              <a:t>Turbo-charge your .NET MAUI app development</a:t>
            </a:r>
          </a:p>
        </p:txBody>
      </p:sp>
    </p:spTree>
    <p:extLst>
      <p:ext uri="{BB962C8B-B14F-4D97-AF65-F5344CB8AC3E}">
        <p14:creationId xmlns:p14="http://schemas.microsoft.com/office/powerpoint/2010/main" val="104562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9D3DB-70C9-F013-5EE1-E09006E79341}"/>
              </a:ext>
            </a:extLst>
          </p:cNvPr>
          <p:cNvSpPr>
            <a:spLocks noGrp="1"/>
          </p:cNvSpPr>
          <p:nvPr>
            <p:ph type="title"/>
          </p:nvPr>
        </p:nvSpPr>
        <p:spPr/>
        <p:txBody>
          <a:bodyPr/>
          <a:lstStyle/>
          <a:p>
            <a:r>
              <a:rPr lang="en-US" dirty="0"/>
              <a:t>Toolkit Overview</a:t>
            </a:r>
          </a:p>
        </p:txBody>
      </p:sp>
      <p:sp>
        <p:nvSpPr>
          <p:cNvPr id="3" name="Content Placeholder 2">
            <a:extLst>
              <a:ext uri="{FF2B5EF4-FFF2-40B4-BE49-F238E27FC236}">
                <a16:creationId xmlns:a16="http://schemas.microsoft.com/office/drawing/2014/main" id="{81C13FB7-01C9-5625-26A4-6E6CD70AC1DA}"/>
              </a:ext>
            </a:extLst>
          </p:cNvPr>
          <p:cNvSpPr>
            <a:spLocks noGrp="1"/>
          </p:cNvSpPr>
          <p:nvPr>
            <p:ph idx="1"/>
          </p:nvPr>
        </p:nvSpPr>
        <p:spPr/>
        <p:txBody>
          <a:bodyPr/>
          <a:lstStyle/>
          <a:p>
            <a:r>
              <a:rPr lang="en-US" sz="2000" dirty="0"/>
              <a:t>Reusable UI Components</a:t>
            </a:r>
          </a:p>
          <a:p>
            <a:pPr lvl="1"/>
            <a:r>
              <a:rPr lang="en-US" sz="1800" dirty="0"/>
              <a:t>Microsoft’s Community Toolkits provide reusable components that speed up UI development and maintain consistency.</a:t>
            </a:r>
          </a:p>
          <a:p>
            <a:r>
              <a:rPr lang="en-US" sz="2000" dirty="0"/>
              <a:t>Functionality Enhancements</a:t>
            </a:r>
          </a:p>
          <a:p>
            <a:pPr lvl="1"/>
            <a:r>
              <a:rPr lang="en-US" sz="1800" dirty="0"/>
              <a:t>Extensions, converters &amp; animations add new features that extend the capabilities of existing UI elements.</a:t>
            </a:r>
          </a:p>
          <a:p>
            <a:r>
              <a:rPr lang="en-US" sz="2000" dirty="0"/>
              <a:t>Improved Responsiveness</a:t>
            </a:r>
          </a:p>
          <a:p>
            <a:pPr lvl="1"/>
            <a:r>
              <a:rPr lang="en-US" sz="1800" dirty="0"/>
              <a:t>Behaviors improve app responsiveness by managing user interactions smoothly.</a:t>
            </a:r>
          </a:p>
          <a:p>
            <a:r>
              <a:rPr lang="en-US" sz="2000" dirty="0"/>
              <a:t>Demo - Toolkit docs on Microsoft Learn</a:t>
            </a:r>
          </a:p>
        </p:txBody>
      </p:sp>
    </p:spTree>
    <p:extLst>
      <p:ext uri="{BB962C8B-B14F-4D97-AF65-F5344CB8AC3E}">
        <p14:creationId xmlns:p14="http://schemas.microsoft.com/office/powerpoint/2010/main" val="27022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F9A62-A657-54B7-A571-B9CE7407981D}"/>
              </a:ext>
            </a:extLst>
          </p:cNvPr>
          <p:cNvSpPr>
            <a:spLocks noGrp="1"/>
          </p:cNvSpPr>
          <p:nvPr>
            <p:ph type="title"/>
          </p:nvPr>
        </p:nvSpPr>
        <p:spPr/>
        <p:txBody>
          <a:bodyPr/>
          <a:lstStyle/>
          <a:p>
            <a:r>
              <a:rPr lang="en-US" dirty="0"/>
              <a:t>Integrate Toolkit Features</a:t>
            </a:r>
          </a:p>
        </p:txBody>
      </p:sp>
      <p:sp>
        <p:nvSpPr>
          <p:cNvPr id="3" name="Content Placeholder 2">
            <a:extLst>
              <a:ext uri="{FF2B5EF4-FFF2-40B4-BE49-F238E27FC236}">
                <a16:creationId xmlns:a16="http://schemas.microsoft.com/office/drawing/2014/main" id="{85B5D017-5BEF-D200-52B8-6FD393985B3E}"/>
              </a:ext>
            </a:extLst>
          </p:cNvPr>
          <p:cNvSpPr>
            <a:spLocks noGrp="1"/>
          </p:cNvSpPr>
          <p:nvPr>
            <p:ph idx="1"/>
          </p:nvPr>
        </p:nvSpPr>
        <p:spPr/>
        <p:txBody>
          <a:bodyPr/>
          <a:lstStyle/>
          <a:p>
            <a:r>
              <a:rPr lang="en-US" sz="2400" dirty="0"/>
              <a:t>Toolkit Controls &amp; Extensions</a:t>
            </a:r>
          </a:p>
          <a:p>
            <a:pPr lvl="1"/>
            <a:r>
              <a:rPr lang="en-US" sz="2000" dirty="0"/>
              <a:t>Controls and extensions enhance development environments by adding useful features &amp; functionalities.</a:t>
            </a:r>
          </a:p>
          <a:p>
            <a:r>
              <a:rPr lang="en-US" sz="2400" dirty="0"/>
              <a:t>Boost Productivity</a:t>
            </a:r>
          </a:p>
          <a:p>
            <a:pPr lvl="1"/>
            <a:r>
              <a:rPr lang="en-US" sz="2000" dirty="0"/>
              <a:t>Integrating the .NET MAUI Toolkit streamlines workflows &amp; accelerates coding efficiency.</a:t>
            </a:r>
          </a:p>
          <a:p>
            <a:r>
              <a:rPr lang="en-US" sz="2400" dirty="0"/>
              <a:t>Demo – Using the Community Toolkit in your apps</a:t>
            </a:r>
          </a:p>
        </p:txBody>
      </p:sp>
    </p:spTree>
    <p:extLst>
      <p:ext uri="{BB962C8B-B14F-4D97-AF65-F5344CB8AC3E}">
        <p14:creationId xmlns:p14="http://schemas.microsoft.com/office/powerpoint/2010/main" val="1027973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E078-2AD8-FEC8-6F7E-7525A05F49B4}"/>
              </a:ext>
            </a:extLst>
          </p:cNvPr>
          <p:cNvSpPr>
            <a:spLocks noGrp="1"/>
          </p:cNvSpPr>
          <p:nvPr>
            <p:ph type="title"/>
          </p:nvPr>
        </p:nvSpPr>
        <p:spPr/>
        <p:txBody>
          <a:bodyPr/>
          <a:lstStyle/>
          <a:p>
            <a:r>
              <a:rPr lang="en-US" sz="3600" dirty="0"/>
              <a:t>Simplify Your Architecture</a:t>
            </a:r>
          </a:p>
        </p:txBody>
      </p:sp>
      <p:sp>
        <p:nvSpPr>
          <p:cNvPr id="3" name="Text Placeholder 2">
            <a:extLst>
              <a:ext uri="{FF2B5EF4-FFF2-40B4-BE49-F238E27FC236}">
                <a16:creationId xmlns:a16="http://schemas.microsoft.com/office/drawing/2014/main" id="{22E01568-12D5-867E-4EF9-454850CB62D3}"/>
              </a:ext>
            </a:extLst>
          </p:cNvPr>
          <p:cNvSpPr>
            <a:spLocks noGrp="1"/>
          </p:cNvSpPr>
          <p:nvPr>
            <p:ph type="body" idx="1"/>
          </p:nvPr>
        </p:nvSpPr>
        <p:spPr/>
        <p:txBody>
          <a:bodyPr/>
          <a:lstStyle/>
          <a:p>
            <a:r>
              <a:rPr lang="en-US" dirty="0"/>
              <a:t>Implement Model-View-</a:t>
            </a:r>
            <a:r>
              <a:rPr lang="en-US" dirty="0" err="1"/>
              <a:t>ViewModel</a:t>
            </a:r>
            <a:r>
              <a:rPr lang="en-US" dirty="0"/>
              <a:t> with the MVVM Toolkit</a:t>
            </a:r>
          </a:p>
        </p:txBody>
      </p:sp>
    </p:spTree>
    <p:extLst>
      <p:ext uri="{BB962C8B-B14F-4D97-AF65-F5344CB8AC3E}">
        <p14:creationId xmlns:p14="http://schemas.microsoft.com/office/powerpoint/2010/main" val="3405861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17C70-366F-2A94-0721-CAC502251B4C}"/>
              </a:ext>
            </a:extLst>
          </p:cNvPr>
          <p:cNvSpPr>
            <a:spLocks noGrp="1"/>
          </p:cNvSpPr>
          <p:nvPr>
            <p:ph type="title"/>
          </p:nvPr>
        </p:nvSpPr>
        <p:spPr>
          <a:xfrm>
            <a:off x="457200" y="205979"/>
            <a:ext cx="8229600" cy="857250"/>
          </a:xfrm>
        </p:spPr>
        <p:txBody>
          <a:bodyPr wrap="square" anchor="ctr">
            <a:normAutofit/>
          </a:bodyPr>
          <a:lstStyle/>
          <a:p>
            <a:r>
              <a:rPr lang="en-US" dirty="0"/>
              <a:t>MVVM in MAUI Apps</a:t>
            </a:r>
          </a:p>
        </p:txBody>
      </p:sp>
      <p:sp>
        <p:nvSpPr>
          <p:cNvPr id="8" name="Content Placeholder 2">
            <a:extLst>
              <a:ext uri="{FF2B5EF4-FFF2-40B4-BE49-F238E27FC236}">
                <a16:creationId xmlns:a16="http://schemas.microsoft.com/office/drawing/2014/main" id="{DB88975F-7D52-F494-069C-88080F4125C5}"/>
              </a:ext>
            </a:extLst>
          </p:cNvPr>
          <p:cNvSpPr>
            <a:spLocks noGrp="1"/>
          </p:cNvSpPr>
          <p:nvPr>
            <p:ph sz="half" idx="1"/>
          </p:nvPr>
        </p:nvSpPr>
        <p:spPr>
          <a:xfrm>
            <a:off x="457200" y="961629"/>
            <a:ext cx="4038600" cy="3975892"/>
          </a:xfrm>
        </p:spPr>
        <p:txBody>
          <a:bodyPr/>
          <a:lstStyle/>
          <a:p>
            <a:r>
              <a:rPr lang="en-US" sz="2000" dirty="0"/>
              <a:t>Separation of Concerns</a:t>
            </a:r>
          </a:p>
          <a:p>
            <a:pPr lvl="1"/>
            <a:r>
              <a:rPr lang="en-US" sz="1800" dirty="0"/>
              <a:t>MVVM separates UI from business logic for cleaner &amp; modular code design.</a:t>
            </a:r>
          </a:p>
          <a:p>
            <a:r>
              <a:rPr lang="en-US" sz="2000" dirty="0"/>
              <a:t>Improved Code Organization</a:t>
            </a:r>
          </a:p>
          <a:p>
            <a:pPr lvl="1"/>
            <a:r>
              <a:rPr lang="en-US" sz="1800" dirty="0"/>
              <a:t>Using MVVM enhances code maintainability and organization in .NET MAUI applications.</a:t>
            </a:r>
          </a:p>
          <a:p>
            <a:r>
              <a:rPr lang="en-US" sz="2000" dirty="0"/>
              <a:t>Easier Testing</a:t>
            </a:r>
          </a:p>
          <a:p>
            <a:pPr lvl="1"/>
            <a:r>
              <a:rPr lang="en-US" sz="1800" dirty="0"/>
              <a:t>MVVM facilitates unit testing by isolating business logic from UI elements.</a:t>
            </a:r>
          </a:p>
        </p:txBody>
      </p:sp>
      <p:pic>
        <p:nvPicPr>
          <p:cNvPr id="4" name="Content Placeholder 7">
            <a:extLst>
              <a:ext uri="{FF2B5EF4-FFF2-40B4-BE49-F238E27FC236}">
                <a16:creationId xmlns:a16="http://schemas.microsoft.com/office/drawing/2014/main" id="{41450B70-0B63-55FD-5642-38B5AAC185ED}"/>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a:stretch/>
        </p:blipFill>
        <p:spPr>
          <a:xfrm>
            <a:off x="5094514" y="900114"/>
            <a:ext cx="3570163" cy="3570163"/>
          </a:xfrm>
          <a:prstGeom prst="rect">
            <a:avLst/>
          </a:prstGeom>
          <a:noFill/>
        </p:spPr>
      </p:pic>
    </p:spTree>
    <p:extLst>
      <p:ext uri="{BB962C8B-B14F-4D97-AF65-F5344CB8AC3E}">
        <p14:creationId xmlns:p14="http://schemas.microsoft.com/office/powerpoint/2010/main" val="197782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F855-02EC-DB99-BC10-CBAA262A410B}"/>
              </a:ext>
            </a:extLst>
          </p:cNvPr>
          <p:cNvSpPr>
            <a:spLocks noGrp="1"/>
          </p:cNvSpPr>
          <p:nvPr>
            <p:ph type="title"/>
          </p:nvPr>
        </p:nvSpPr>
        <p:spPr/>
        <p:txBody>
          <a:bodyPr/>
          <a:lstStyle/>
          <a:p>
            <a:r>
              <a:rPr lang="en-US" sz="3200" dirty="0"/>
              <a:t>Reduce Boilerplate with MVVM Toolkit</a:t>
            </a:r>
          </a:p>
        </p:txBody>
      </p:sp>
      <p:sp>
        <p:nvSpPr>
          <p:cNvPr id="3" name="Content Placeholder 2">
            <a:extLst>
              <a:ext uri="{FF2B5EF4-FFF2-40B4-BE49-F238E27FC236}">
                <a16:creationId xmlns:a16="http://schemas.microsoft.com/office/drawing/2014/main" id="{8783D2A2-698A-90EF-56DD-A6901B6D9F64}"/>
              </a:ext>
            </a:extLst>
          </p:cNvPr>
          <p:cNvSpPr>
            <a:spLocks noGrp="1"/>
          </p:cNvSpPr>
          <p:nvPr>
            <p:ph idx="1"/>
          </p:nvPr>
        </p:nvSpPr>
        <p:spPr/>
        <p:txBody>
          <a:bodyPr/>
          <a:lstStyle/>
          <a:p>
            <a:r>
              <a:rPr lang="en-US" dirty="0"/>
              <a:t>Minimizing Repetitive Code</a:t>
            </a:r>
          </a:p>
          <a:p>
            <a:pPr lvl="1"/>
            <a:r>
              <a:rPr lang="en-US" dirty="0"/>
              <a:t>Base classes designed to reduce repetitive coding tasks efficiently.</a:t>
            </a:r>
          </a:p>
          <a:p>
            <a:r>
              <a:rPr lang="en-US" dirty="0"/>
              <a:t>Streamlining Development</a:t>
            </a:r>
          </a:p>
          <a:p>
            <a:pPr lvl="1"/>
            <a:r>
              <a:rPr lang="en-US" dirty="0"/>
              <a:t>Helpers in the toolkit streamline the development process, enhancing productivity &amp; maintainability.</a:t>
            </a:r>
          </a:p>
        </p:txBody>
      </p:sp>
    </p:spTree>
    <p:extLst>
      <p:ext uri="{BB962C8B-B14F-4D97-AF65-F5344CB8AC3E}">
        <p14:creationId xmlns:p14="http://schemas.microsoft.com/office/powerpoint/2010/main" val="2671546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89EE-9BB0-2C6F-4FF6-8E539DB8D2E2}"/>
              </a:ext>
            </a:extLst>
          </p:cNvPr>
          <p:cNvSpPr>
            <a:spLocks noGrp="1"/>
          </p:cNvSpPr>
          <p:nvPr>
            <p:ph type="title"/>
          </p:nvPr>
        </p:nvSpPr>
        <p:spPr/>
        <p:txBody>
          <a:bodyPr/>
          <a:lstStyle/>
          <a:p>
            <a:r>
              <a:rPr lang="en-US" dirty="0"/>
              <a:t>Build Scalable Apps</a:t>
            </a:r>
          </a:p>
        </p:txBody>
      </p:sp>
      <p:sp>
        <p:nvSpPr>
          <p:cNvPr id="3" name="Content Placeholder 2">
            <a:extLst>
              <a:ext uri="{FF2B5EF4-FFF2-40B4-BE49-F238E27FC236}">
                <a16:creationId xmlns:a16="http://schemas.microsoft.com/office/drawing/2014/main" id="{7CF74563-500F-76A7-DDB9-AA2ABE0F38AC}"/>
              </a:ext>
            </a:extLst>
          </p:cNvPr>
          <p:cNvSpPr>
            <a:spLocks noGrp="1"/>
          </p:cNvSpPr>
          <p:nvPr>
            <p:ph idx="1"/>
          </p:nvPr>
        </p:nvSpPr>
        <p:spPr/>
        <p:txBody>
          <a:bodyPr/>
          <a:lstStyle/>
          <a:p>
            <a:r>
              <a:rPr lang="en-US" sz="2400" dirty="0"/>
              <a:t>Data Binding</a:t>
            </a:r>
          </a:p>
          <a:p>
            <a:pPr lvl="1"/>
            <a:r>
              <a:rPr lang="en-US" sz="2000" dirty="0"/>
              <a:t>Use data binding to synchronize UI and data models efficiently, enhancing app responsiveness and maintainability.</a:t>
            </a:r>
          </a:p>
          <a:p>
            <a:r>
              <a:rPr lang="en-US" sz="2400" dirty="0"/>
              <a:t>Command Patterns</a:t>
            </a:r>
          </a:p>
          <a:p>
            <a:pPr lvl="1"/>
            <a:r>
              <a:rPr lang="en-US" sz="2000" dirty="0"/>
              <a:t>Apply command patterns to encapsulate requests as objects, facilitating flexible and reusable code.</a:t>
            </a:r>
          </a:p>
          <a:p>
            <a:r>
              <a:rPr lang="en-US" sz="2400" dirty="0"/>
              <a:t>Dependency Injection</a:t>
            </a:r>
          </a:p>
          <a:p>
            <a:pPr lvl="1"/>
            <a:r>
              <a:rPr lang="en-US" sz="2000" dirty="0"/>
              <a:t>Use dependency injection to manage component dependencies, promoting modular and testable code architecture.</a:t>
            </a:r>
          </a:p>
          <a:p>
            <a:r>
              <a:rPr lang="en-US" sz="2400" dirty="0"/>
              <a:t>Demo – Use the MVVM Toolkit in Your Project</a:t>
            </a:r>
          </a:p>
        </p:txBody>
      </p:sp>
    </p:spTree>
    <p:extLst>
      <p:ext uri="{BB962C8B-B14F-4D97-AF65-F5344CB8AC3E}">
        <p14:creationId xmlns:p14="http://schemas.microsoft.com/office/powerpoint/2010/main" val="2401719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CD235-ED5E-5BC0-FFA4-5435518701EB}"/>
              </a:ext>
            </a:extLst>
          </p:cNvPr>
          <p:cNvSpPr>
            <a:spLocks noGrp="1"/>
          </p:cNvSpPr>
          <p:nvPr>
            <p:ph type="title"/>
          </p:nvPr>
        </p:nvSpPr>
        <p:spPr/>
        <p:txBody>
          <a:bodyPr/>
          <a:lstStyle/>
          <a:p>
            <a:r>
              <a:rPr lang="en-US" sz="3200" dirty="0"/>
              <a:t>Build MAUI Apps with C# Markup</a:t>
            </a:r>
          </a:p>
        </p:txBody>
      </p:sp>
      <p:sp>
        <p:nvSpPr>
          <p:cNvPr id="3" name="Text Placeholder 2">
            <a:extLst>
              <a:ext uri="{FF2B5EF4-FFF2-40B4-BE49-F238E27FC236}">
                <a16:creationId xmlns:a16="http://schemas.microsoft.com/office/drawing/2014/main" id="{9B6F84FB-0586-8C19-0BC4-F417F3798810}"/>
              </a:ext>
            </a:extLst>
          </p:cNvPr>
          <p:cNvSpPr>
            <a:spLocks noGrp="1"/>
          </p:cNvSpPr>
          <p:nvPr>
            <p:ph type="body" idx="1"/>
          </p:nvPr>
        </p:nvSpPr>
        <p:spPr/>
        <p:txBody>
          <a:bodyPr/>
          <a:lstStyle/>
          <a:p>
            <a:r>
              <a:rPr lang="en-US" dirty="0"/>
              <a:t>Look, ma… No XAML!</a:t>
            </a:r>
          </a:p>
        </p:txBody>
      </p:sp>
    </p:spTree>
    <p:extLst>
      <p:ext uri="{BB962C8B-B14F-4D97-AF65-F5344CB8AC3E}">
        <p14:creationId xmlns:p14="http://schemas.microsoft.com/office/powerpoint/2010/main" val="2499136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5986-D242-815D-D383-C5D9B9125148}"/>
              </a:ext>
            </a:extLst>
          </p:cNvPr>
          <p:cNvSpPr>
            <a:spLocks noGrp="1"/>
          </p:cNvSpPr>
          <p:nvPr>
            <p:ph type="title"/>
          </p:nvPr>
        </p:nvSpPr>
        <p:spPr/>
        <p:txBody>
          <a:bodyPr/>
          <a:lstStyle/>
          <a:p>
            <a:r>
              <a:rPr lang="en-US" dirty="0"/>
              <a:t>Advantages of C# Markup</a:t>
            </a:r>
          </a:p>
        </p:txBody>
      </p:sp>
      <p:sp>
        <p:nvSpPr>
          <p:cNvPr id="3" name="Content Placeholder 2">
            <a:extLst>
              <a:ext uri="{FF2B5EF4-FFF2-40B4-BE49-F238E27FC236}">
                <a16:creationId xmlns:a16="http://schemas.microsoft.com/office/drawing/2014/main" id="{4A8EBCF9-1D7C-D137-565C-8432953AC8E0}"/>
              </a:ext>
            </a:extLst>
          </p:cNvPr>
          <p:cNvSpPr>
            <a:spLocks noGrp="1"/>
          </p:cNvSpPr>
          <p:nvPr>
            <p:ph idx="1"/>
          </p:nvPr>
        </p:nvSpPr>
        <p:spPr/>
        <p:txBody>
          <a:bodyPr/>
          <a:lstStyle/>
          <a:p>
            <a:r>
              <a:rPr lang="en-US" sz="2400" dirty="0"/>
              <a:t>Programmatic UI Creation</a:t>
            </a:r>
          </a:p>
          <a:p>
            <a:pPr lvl="1"/>
            <a:r>
              <a:rPr lang="en-US" sz="2000" dirty="0"/>
              <a:t>Create and modify user interface elements using C# markup programmatically.</a:t>
            </a:r>
          </a:p>
          <a:p>
            <a:r>
              <a:rPr lang="en-US" sz="2400" dirty="0"/>
              <a:t>Improved Code Reuse</a:t>
            </a:r>
          </a:p>
          <a:p>
            <a:pPr lvl="1"/>
            <a:r>
              <a:rPr lang="en-US" sz="2000" dirty="0"/>
              <a:t>Enhance code reuse by allowing modular UI components to be managed efficiently.</a:t>
            </a:r>
          </a:p>
          <a:p>
            <a:r>
              <a:rPr lang="en-US" sz="2400" dirty="0"/>
              <a:t>Reduced Context Switching</a:t>
            </a:r>
          </a:p>
          <a:p>
            <a:pPr lvl="1"/>
            <a:r>
              <a:rPr lang="en-US" sz="2000" dirty="0"/>
              <a:t>Using C# markup reduces context switching between design and code environments for developers.</a:t>
            </a:r>
          </a:p>
        </p:txBody>
      </p:sp>
    </p:spTree>
    <p:extLst>
      <p:ext uri="{BB962C8B-B14F-4D97-AF65-F5344CB8AC3E}">
        <p14:creationId xmlns:p14="http://schemas.microsoft.com/office/powerpoint/2010/main" val="395753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C12B2-74DC-52B1-B898-F405CD35B509}"/>
              </a:ext>
            </a:extLst>
          </p:cNvPr>
          <p:cNvSpPr>
            <a:spLocks noGrp="1"/>
          </p:cNvSpPr>
          <p:nvPr>
            <p:ph type="title"/>
          </p:nvPr>
        </p:nvSpPr>
        <p:spPr/>
        <p:txBody>
          <a:bodyPr/>
          <a:lstStyle/>
          <a:p>
            <a:r>
              <a:rPr lang="en-US" dirty="0"/>
              <a:t>Pure C# User Interfaces</a:t>
            </a:r>
          </a:p>
        </p:txBody>
      </p:sp>
      <p:sp>
        <p:nvSpPr>
          <p:cNvPr id="3" name="Content Placeholder 2">
            <a:extLst>
              <a:ext uri="{FF2B5EF4-FFF2-40B4-BE49-F238E27FC236}">
                <a16:creationId xmlns:a16="http://schemas.microsoft.com/office/drawing/2014/main" id="{569FC888-F08B-ED79-8AD4-71CA7201D087}"/>
              </a:ext>
            </a:extLst>
          </p:cNvPr>
          <p:cNvSpPr>
            <a:spLocks noGrp="1"/>
          </p:cNvSpPr>
          <p:nvPr>
            <p:ph idx="1"/>
          </p:nvPr>
        </p:nvSpPr>
        <p:spPr/>
        <p:txBody>
          <a:bodyPr/>
          <a:lstStyle/>
          <a:p>
            <a:r>
              <a:rPr lang="en-US" sz="2400" dirty="0"/>
              <a:t>Runtime UI Generation</a:t>
            </a:r>
          </a:p>
          <a:p>
            <a:pPr lvl="1"/>
            <a:r>
              <a:rPr lang="en-US" sz="2000" dirty="0"/>
              <a:t>Create UI elements on-the-fly during application runtime using C# code for flexibility.</a:t>
            </a:r>
          </a:p>
          <a:p>
            <a:r>
              <a:rPr lang="en-US" sz="2400" dirty="0"/>
              <a:t>Enhanced Adaptability</a:t>
            </a:r>
          </a:p>
          <a:p>
            <a:pPr lvl="1"/>
            <a:r>
              <a:rPr lang="en-US" sz="2000" dirty="0"/>
              <a:t>Building UIs dynamically improves adaptability to complex and changing application requirements.</a:t>
            </a:r>
          </a:p>
          <a:p>
            <a:r>
              <a:rPr lang="en-US" sz="2400" dirty="0"/>
              <a:t>Pure C# Implementation</a:t>
            </a:r>
          </a:p>
          <a:p>
            <a:pPr lvl="1"/>
            <a:r>
              <a:rPr lang="en-US" sz="2000" dirty="0"/>
              <a:t>All UI components &amp; logic are implemented purely in C# without relying on external tools or markup.</a:t>
            </a:r>
          </a:p>
        </p:txBody>
      </p:sp>
    </p:spTree>
    <p:extLst>
      <p:ext uri="{BB962C8B-B14F-4D97-AF65-F5344CB8AC3E}">
        <p14:creationId xmlns:p14="http://schemas.microsoft.com/office/powerpoint/2010/main" val="1458642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4F1D4-7BF6-69C5-F5C6-6723BDD70DCD}"/>
              </a:ext>
            </a:extLst>
          </p:cNvPr>
          <p:cNvSpPr>
            <a:spLocks noGrp="1"/>
          </p:cNvSpPr>
          <p:nvPr>
            <p:ph type="title"/>
          </p:nvPr>
        </p:nvSpPr>
        <p:spPr/>
        <p:txBody>
          <a:bodyPr/>
          <a:lstStyle/>
          <a:p>
            <a:r>
              <a:rPr lang="en-US" dirty="0"/>
              <a:t>Recommended Scenarios</a:t>
            </a:r>
          </a:p>
        </p:txBody>
      </p:sp>
      <p:sp>
        <p:nvSpPr>
          <p:cNvPr id="3" name="Content Placeholder 2">
            <a:extLst>
              <a:ext uri="{FF2B5EF4-FFF2-40B4-BE49-F238E27FC236}">
                <a16:creationId xmlns:a16="http://schemas.microsoft.com/office/drawing/2014/main" id="{069F68E7-00CB-9473-CAC8-93C7F21E8280}"/>
              </a:ext>
            </a:extLst>
          </p:cNvPr>
          <p:cNvSpPr>
            <a:spLocks noGrp="1"/>
          </p:cNvSpPr>
          <p:nvPr>
            <p:ph idx="1"/>
          </p:nvPr>
        </p:nvSpPr>
        <p:spPr/>
        <p:txBody>
          <a:bodyPr/>
          <a:lstStyle/>
          <a:p>
            <a:r>
              <a:rPr lang="en-US" sz="2800" dirty="0"/>
              <a:t>Dynamic Layouts</a:t>
            </a:r>
          </a:p>
          <a:p>
            <a:pPr lvl="1"/>
            <a:r>
              <a:rPr lang="en-US" sz="2400" dirty="0"/>
              <a:t>Get flexible, dynamic layouts that adjust automatically based on data and user interactions.</a:t>
            </a:r>
          </a:p>
          <a:p>
            <a:r>
              <a:rPr lang="en-US" sz="2800" dirty="0"/>
              <a:t>Data-Driven UI Generation</a:t>
            </a:r>
          </a:p>
          <a:p>
            <a:pPr lvl="1"/>
            <a:r>
              <a:rPr lang="en-US" sz="2400" dirty="0"/>
              <a:t>UI elements can be generated dynamically from data sources, improving responsiveness and customization.</a:t>
            </a:r>
          </a:p>
          <a:p>
            <a:r>
              <a:rPr lang="en-US" sz="2800" dirty="0"/>
              <a:t>Demo – Create a Project w/ C# Markup</a:t>
            </a:r>
          </a:p>
        </p:txBody>
      </p:sp>
    </p:spTree>
    <p:extLst>
      <p:ext uri="{BB962C8B-B14F-4D97-AF65-F5344CB8AC3E}">
        <p14:creationId xmlns:p14="http://schemas.microsoft.com/office/powerpoint/2010/main" val="1108156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B296-CC5C-2659-BAE8-5B5CFF232071}"/>
              </a:ext>
            </a:extLst>
          </p:cNvPr>
          <p:cNvSpPr>
            <a:spLocks noGrp="1"/>
          </p:cNvSpPr>
          <p:nvPr>
            <p:ph type="title"/>
          </p:nvPr>
        </p:nvSpPr>
        <p:spPr/>
        <p:txBody>
          <a:bodyPr/>
          <a:lstStyle/>
          <a:p>
            <a:r>
              <a:rPr lang="en-US" dirty="0"/>
              <a:t>Style Apps Like a Web Dev</a:t>
            </a:r>
          </a:p>
        </p:txBody>
      </p:sp>
      <p:sp>
        <p:nvSpPr>
          <p:cNvPr id="3" name="Text Placeholder 2">
            <a:extLst>
              <a:ext uri="{FF2B5EF4-FFF2-40B4-BE49-F238E27FC236}">
                <a16:creationId xmlns:a16="http://schemas.microsoft.com/office/drawing/2014/main" id="{9F2C76FF-34B3-D317-6A31-77B6F512CBAB}"/>
              </a:ext>
            </a:extLst>
          </p:cNvPr>
          <p:cNvSpPr>
            <a:spLocks noGrp="1"/>
          </p:cNvSpPr>
          <p:nvPr>
            <p:ph type="body" idx="1"/>
          </p:nvPr>
        </p:nvSpPr>
        <p:spPr/>
        <p:txBody>
          <a:bodyPr/>
          <a:lstStyle/>
          <a:p>
            <a:r>
              <a:rPr lang="en-US" dirty="0"/>
              <a:t>Web style reuse with CSS in .NET MAUI apps</a:t>
            </a:r>
          </a:p>
        </p:txBody>
      </p:sp>
    </p:spTree>
    <p:extLst>
      <p:ext uri="{BB962C8B-B14F-4D97-AF65-F5344CB8AC3E}">
        <p14:creationId xmlns:p14="http://schemas.microsoft.com/office/powerpoint/2010/main" val="3454997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D238-72BF-2034-67CC-ECFB1F21C83B}"/>
              </a:ext>
            </a:extLst>
          </p:cNvPr>
          <p:cNvSpPr>
            <a:spLocks noGrp="1"/>
          </p:cNvSpPr>
          <p:nvPr>
            <p:ph type="title"/>
          </p:nvPr>
        </p:nvSpPr>
        <p:spPr/>
        <p:txBody>
          <a:bodyPr/>
          <a:lstStyle/>
          <a:p>
            <a:r>
              <a:rPr lang="en-US" dirty="0"/>
              <a:t>Reuse Web Skills</a:t>
            </a:r>
          </a:p>
        </p:txBody>
      </p:sp>
      <p:sp>
        <p:nvSpPr>
          <p:cNvPr id="3" name="Content Placeholder 2">
            <a:extLst>
              <a:ext uri="{FF2B5EF4-FFF2-40B4-BE49-F238E27FC236}">
                <a16:creationId xmlns:a16="http://schemas.microsoft.com/office/drawing/2014/main" id="{79D1EBE5-468E-9B83-5271-27054A5B7892}"/>
              </a:ext>
            </a:extLst>
          </p:cNvPr>
          <p:cNvSpPr>
            <a:spLocks noGrp="1"/>
          </p:cNvSpPr>
          <p:nvPr>
            <p:ph idx="1"/>
          </p:nvPr>
        </p:nvSpPr>
        <p:spPr/>
        <p:txBody>
          <a:bodyPr/>
          <a:lstStyle/>
          <a:p>
            <a:r>
              <a:rPr lang="en-US" sz="2400" dirty="0"/>
              <a:t>Leverage Web Development Skills</a:t>
            </a:r>
          </a:p>
          <a:p>
            <a:pPr lvl="1"/>
            <a:r>
              <a:rPr lang="en-US" sz="2000" dirty="0"/>
              <a:t>Utilize your existing web dev knowledge to efficiently style MAUI applications.</a:t>
            </a:r>
          </a:p>
          <a:p>
            <a:r>
              <a:rPr lang="en-US" sz="2400" dirty="0"/>
              <a:t>Save Development Time</a:t>
            </a:r>
          </a:p>
          <a:p>
            <a:pPr lvl="1"/>
            <a:r>
              <a:rPr lang="en-US" sz="2000" dirty="0"/>
              <a:t>Reusing web assets reduces styling time, accelerating app development &amp; deployment.</a:t>
            </a:r>
          </a:p>
          <a:p>
            <a:r>
              <a:rPr lang="en-US" sz="2400" dirty="0"/>
              <a:t>Maintain Brand Consistency</a:t>
            </a:r>
          </a:p>
          <a:p>
            <a:pPr lvl="1"/>
            <a:r>
              <a:rPr lang="en-US" sz="2000" dirty="0"/>
              <a:t>Consistent styling across web &amp; MAUI apps ensures strong &amp; uniform brand identity.</a:t>
            </a:r>
          </a:p>
        </p:txBody>
      </p:sp>
    </p:spTree>
    <p:extLst>
      <p:ext uri="{BB962C8B-B14F-4D97-AF65-F5344CB8AC3E}">
        <p14:creationId xmlns:p14="http://schemas.microsoft.com/office/powerpoint/2010/main" val="664451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F9FB6-FC64-FBAB-E50F-BAEB165F1936}"/>
              </a:ext>
            </a:extLst>
          </p:cNvPr>
          <p:cNvSpPr>
            <a:spLocks noGrp="1"/>
          </p:cNvSpPr>
          <p:nvPr>
            <p:ph type="title"/>
          </p:nvPr>
        </p:nvSpPr>
        <p:spPr/>
        <p:txBody>
          <a:bodyPr/>
          <a:lstStyle/>
          <a:p>
            <a:r>
              <a:rPr lang="en-US" dirty="0"/>
              <a:t>Using CSS in MAUI Projects</a:t>
            </a:r>
          </a:p>
        </p:txBody>
      </p:sp>
      <p:sp>
        <p:nvSpPr>
          <p:cNvPr id="3" name="Content Placeholder 2">
            <a:extLst>
              <a:ext uri="{FF2B5EF4-FFF2-40B4-BE49-F238E27FC236}">
                <a16:creationId xmlns:a16="http://schemas.microsoft.com/office/drawing/2014/main" id="{8B168594-7C50-B49B-6C41-750D3A133BBB}"/>
              </a:ext>
            </a:extLst>
          </p:cNvPr>
          <p:cNvSpPr>
            <a:spLocks noGrp="1"/>
          </p:cNvSpPr>
          <p:nvPr>
            <p:ph idx="1"/>
          </p:nvPr>
        </p:nvSpPr>
        <p:spPr/>
        <p:txBody>
          <a:bodyPr/>
          <a:lstStyle/>
          <a:p>
            <a:r>
              <a:rPr lang="en-US" sz="2800" dirty="0"/>
              <a:t>Including CSS Files</a:t>
            </a:r>
          </a:p>
          <a:p>
            <a:pPr lvl="1"/>
            <a:r>
              <a:rPr lang="en-US" sz="2400" dirty="0"/>
              <a:t>Learn the process to add CSS files to a MAUI project to manage styles separately from code and XAML.</a:t>
            </a:r>
          </a:p>
          <a:p>
            <a:r>
              <a:rPr lang="en-US" sz="2800" dirty="0"/>
              <a:t>Applying Styles to Controls</a:t>
            </a:r>
          </a:p>
          <a:p>
            <a:pPr lvl="1"/>
            <a:r>
              <a:rPr lang="en-US" sz="2400" dirty="0"/>
              <a:t>Apply CSS styles effectively to UI controls for a clear separation between design &amp; app logic.</a:t>
            </a:r>
          </a:p>
          <a:p>
            <a:r>
              <a:rPr lang="en-US" sz="2800" dirty="0"/>
              <a:t>Demo – CSS in .NET MAUI projects</a:t>
            </a:r>
          </a:p>
        </p:txBody>
      </p:sp>
    </p:spTree>
    <p:extLst>
      <p:ext uri="{BB962C8B-B14F-4D97-AF65-F5344CB8AC3E}">
        <p14:creationId xmlns:p14="http://schemas.microsoft.com/office/powerpoint/2010/main" val="4080020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D7378-C8F3-9186-3F5F-6A90EB5AA750}"/>
              </a:ext>
            </a:extLst>
          </p:cNvPr>
          <p:cNvSpPr>
            <a:spLocks noGrp="1"/>
          </p:cNvSpPr>
          <p:nvPr>
            <p:ph type="title"/>
          </p:nvPr>
        </p:nvSpPr>
        <p:spPr/>
        <p:txBody>
          <a:bodyPr/>
          <a:lstStyle/>
          <a:p>
            <a:r>
              <a:rPr lang="en-US" sz="3600" dirty="0"/>
              <a:t>Platform-Specific Features</a:t>
            </a:r>
          </a:p>
        </p:txBody>
      </p:sp>
      <p:sp>
        <p:nvSpPr>
          <p:cNvPr id="3" name="Text Placeholder 2">
            <a:extLst>
              <a:ext uri="{FF2B5EF4-FFF2-40B4-BE49-F238E27FC236}">
                <a16:creationId xmlns:a16="http://schemas.microsoft.com/office/drawing/2014/main" id="{663E6B13-0AB5-5F4B-1B98-DC0101BA224C}"/>
              </a:ext>
            </a:extLst>
          </p:cNvPr>
          <p:cNvSpPr>
            <a:spLocks noGrp="1"/>
          </p:cNvSpPr>
          <p:nvPr>
            <p:ph type="body" idx="1"/>
          </p:nvPr>
        </p:nvSpPr>
        <p:spPr/>
        <p:txBody>
          <a:bodyPr/>
          <a:lstStyle/>
          <a:p>
            <a:r>
              <a:rPr lang="en-US" dirty="0"/>
              <a:t>Access platform capabilities without platform-specific code</a:t>
            </a:r>
          </a:p>
        </p:txBody>
      </p:sp>
    </p:spTree>
    <p:extLst>
      <p:ext uri="{BB962C8B-B14F-4D97-AF65-F5344CB8AC3E}">
        <p14:creationId xmlns:p14="http://schemas.microsoft.com/office/powerpoint/2010/main" val="4063778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A6C5F-BDAF-505B-D899-D16536D5CCAA}"/>
              </a:ext>
            </a:extLst>
          </p:cNvPr>
          <p:cNvSpPr>
            <a:spLocks noGrp="1"/>
          </p:cNvSpPr>
          <p:nvPr>
            <p:ph type="title"/>
          </p:nvPr>
        </p:nvSpPr>
        <p:spPr/>
        <p:txBody>
          <a:bodyPr/>
          <a:lstStyle/>
          <a:p>
            <a:r>
              <a:rPr lang="en-US" dirty="0"/>
              <a:t>Device Feature Abstraction</a:t>
            </a:r>
          </a:p>
        </p:txBody>
      </p:sp>
      <p:sp>
        <p:nvSpPr>
          <p:cNvPr id="3" name="Content Placeholder 2">
            <a:extLst>
              <a:ext uri="{FF2B5EF4-FFF2-40B4-BE49-F238E27FC236}">
                <a16:creationId xmlns:a16="http://schemas.microsoft.com/office/drawing/2014/main" id="{E2E327F2-1877-58ED-96AD-EB72AA06A008}"/>
              </a:ext>
            </a:extLst>
          </p:cNvPr>
          <p:cNvSpPr>
            <a:spLocks noGrp="1"/>
          </p:cNvSpPr>
          <p:nvPr>
            <p:ph idx="1"/>
          </p:nvPr>
        </p:nvSpPr>
        <p:spPr/>
        <p:txBody>
          <a:bodyPr/>
          <a:lstStyle/>
          <a:p>
            <a:r>
              <a:rPr lang="en-US" sz="2400" dirty="0"/>
              <a:t>Unified API Access</a:t>
            </a:r>
          </a:p>
          <a:p>
            <a:pPr lvl="1"/>
            <a:r>
              <a:rPr lang="en-US" sz="2000" dirty="0"/>
              <a:t>Unified APIs simplify device feature access across multiple device platforms.</a:t>
            </a:r>
          </a:p>
          <a:p>
            <a:r>
              <a:rPr lang="en-US" sz="2400" dirty="0"/>
              <a:t>Sensors Integration</a:t>
            </a:r>
          </a:p>
          <a:p>
            <a:pPr lvl="1"/>
            <a:r>
              <a:rPr lang="en-US" sz="2000" dirty="0"/>
              <a:t>APIs enable consistent access to device sensors like accelerometers &amp; gyroscopes.</a:t>
            </a:r>
          </a:p>
          <a:p>
            <a:r>
              <a:rPr lang="en-US" sz="2400" dirty="0"/>
              <a:t>Camera and Storage</a:t>
            </a:r>
          </a:p>
          <a:p>
            <a:pPr lvl="1"/>
            <a:r>
              <a:rPr lang="en-US" sz="2000" dirty="0"/>
              <a:t>Support for camera use &amp; file management is streamlined via unified APIs.</a:t>
            </a:r>
          </a:p>
          <a:p>
            <a:r>
              <a:rPr lang="en-US" sz="2400" dirty="0"/>
              <a:t>Demo – View the Device Platform docs</a:t>
            </a:r>
          </a:p>
        </p:txBody>
      </p:sp>
    </p:spTree>
    <p:extLst>
      <p:ext uri="{BB962C8B-B14F-4D97-AF65-F5344CB8AC3E}">
        <p14:creationId xmlns:p14="http://schemas.microsoft.com/office/powerpoint/2010/main" val="3237632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E1BB-73EE-0E32-924E-09428F70056A}"/>
              </a:ext>
            </a:extLst>
          </p:cNvPr>
          <p:cNvSpPr>
            <a:spLocks noGrp="1"/>
          </p:cNvSpPr>
          <p:nvPr>
            <p:ph type="title"/>
          </p:nvPr>
        </p:nvSpPr>
        <p:spPr/>
        <p:txBody>
          <a:bodyPr/>
          <a:lstStyle/>
          <a:p>
            <a:r>
              <a:rPr lang="en-US" dirty="0"/>
              <a:t>Resources and Q&amp;A</a:t>
            </a:r>
          </a:p>
        </p:txBody>
      </p:sp>
      <p:sp>
        <p:nvSpPr>
          <p:cNvPr id="3" name="Text Placeholder 2">
            <a:extLst>
              <a:ext uri="{FF2B5EF4-FFF2-40B4-BE49-F238E27FC236}">
                <a16:creationId xmlns:a16="http://schemas.microsoft.com/office/drawing/2014/main" id="{E9F7B396-7E73-F7DB-9B6B-DEE109917AF6}"/>
              </a:ext>
            </a:extLst>
          </p:cNvPr>
          <p:cNvSpPr>
            <a:spLocks noGrp="1"/>
          </p:cNvSpPr>
          <p:nvPr>
            <p:ph type="body" idx="1"/>
          </p:nvPr>
        </p:nvSpPr>
        <p:spPr/>
        <p:txBody>
          <a:bodyPr/>
          <a:lstStyle/>
          <a:p>
            <a:r>
              <a:rPr lang="en-US" dirty="0"/>
              <a:t>Your .NET MAUI App Development Questions Answered</a:t>
            </a:r>
          </a:p>
        </p:txBody>
      </p:sp>
    </p:spTree>
    <p:extLst>
      <p:ext uri="{BB962C8B-B14F-4D97-AF65-F5344CB8AC3E}">
        <p14:creationId xmlns:p14="http://schemas.microsoft.com/office/powerpoint/2010/main" val="3591541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3D63-4A07-5FB5-283A-022FD7DB02DB}"/>
              </a:ext>
            </a:extLst>
          </p:cNvPr>
          <p:cNvSpPr>
            <a:spLocks noGrp="1"/>
          </p:cNvSpPr>
          <p:nvPr>
            <p:ph type="title"/>
          </p:nvPr>
        </p:nvSpPr>
        <p:spPr/>
        <p:txBody>
          <a:bodyPr/>
          <a:lstStyle/>
          <a:p>
            <a:r>
              <a:rPr lang="en-US" dirty="0"/>
              <a:t>Additional Resources</a:t>
            </a:r>
          </a:p>
        </p:txBody>
      </p:sp>
      <p:sp>
        <p:nvSpPr>
          <p:cNvPr id="3" name="Content Placeholder 2">
            <a:extLst>
              <a:ext uri="{FF2B5EF4-FFF2-40B4-BE49-F238E27FC236}">
                <a16:creationId xmlns:a16="http://schemas.microsoft.com/office/drawing/2014/main" id="{9EF819F0-F620-B38D-BFEA-9CBA932D9214}"/>
              </a:ext>
            </a:extLst>
          </p:cNvPr>
          <p:cNvSpPr>
            <a:spLocks noGrp="1"/>
          </p:cNvSpPr>
          <p:nvPr>
            <p:ph idx="1"/>
          </p:nvPr>
        </p:nvSpPr>
        <p:spPr/>
        <p:txBody>
          <a:bodyPr/>
          <a:lstStyle/>
          <a:p>
            <a:r>
              <a:rPr lang="en-US" sz="1600" dirty="0"/>
              <a:t>Documentation Access</a:t>
            </a:r>
          </a:p>
          <a:p>
            <a:pPr lvl="1"/>
            <a:r>
              <a:rPr lang="en-US" sz="1400" dirty="0"/>
              <a:t>.NET MAUI docs home: </a:t>
            </a:r>
            <a:r>
              <a:rPr lang="en-US" sz="1400" dirty="0">
                <a:hlinkClick r:id="rId2"/>
              </a:rPr>
              <a:t>https://learn.microsoft.com/dotnet/maui/</a:t>
            </a:r>
            <a:r>
              <a:rPr lang="en-US" sz="1400" dirty="0"/>
              <a:t> </a:t>
            </a:r>
          </a:p>
          <a:p>
            <a:pPr lvl="1"/>
            <a:r>
              <a:rPr lang="en-US" sz="1400" dirty="0"/>
              <a:t>MAUI Toolkit docs: </a:t>
            </a:r>
            <a:r>
              <a:rPr lang="en-US" sz="1400" dirty="0">
                <a:hlinkClick r:id="rId3"/>
              </a:rPr>
              <a:t>https://learn.microsoft.com/dotnet/communitytoolkit/maui/</a:t>
            </a:r>
            <a:r>
              <a:rPr lang="en-US" sz="1400" dirty="0"/>
              <a:t> </a:t>
            </a:r>
          </a:p>
          <a:p>
            <a:r>
              <a:rPr lang="en-US" sz="1600" dirty="0"/>
              <a:t>Tutorials and Guides</a:t>
            </a:r>
          </a:p>
          <a:p>
            <a:pPr lvl="1"/>
            <a:r>
              <a:rPr lang="en-US" sz="1400" dirty="0"/>
              <a:t>Get started in docs: </a:t>
            </a:r>
            <a:r>
              <a:rPr lang="en-US" sz="1400" dirty="0">
                <a:hlinkClick r:id="rId4"/>
              </a:rPr>
              <a:t>https://learn.microsoft.com/dotnet/maui/get-started/first-app</a:t>
            </a:r>
            <a:r>
              <a:rPr lang="en-US" sz="1400" dirty="0"/>
              <a:t> </a:t>
            </a:r>
          </a:p>
          <a:p>
            <a:pPr lvl="1"/>
            <a:r>
              <a:rPr lang="en-US" sz="1400" dirty="0"/>
              <a:t>.NET MAUI learning path: </a:t>
            </a:r>
            <a:r>
              <a:rPr lang="en-US" sz="1400" dirty="0">
                <a:hlinkClick r:id="rId5"/>
              </a:rPr>
              <a:t>https://learn.microsoft.com/training/paths/build-apps-with-dotnet-maui/</a:t>
            </a:r>
            <a:r>
              <a:rPr lang="en-US" sz="1400" dirty="0"/>
              <a:t> </a:t>
            </a:r>
          </a:p>
          <a:p>
            <a:r>
              <a:rPr lang="en-US" sz="1600" dirty="0"/>
              <a:t>Community Groups</a:t>
            </a:r>
          </a:p>
          <a:p>
            <a:pPr lvl="1"/>
            <a:r>
              <a:rPr lang="en-US" sz="1400" dirty="0"/>
              <a:t>.NET MAUI Community Standup: </a:t>
            </a:r>
            <a:r>
              <a:rPr lang="en-US" sz="1400" dirty="0">
                <a:hlinkClick r:id="rId6"/>
              </a:rPr>
              <a:t>https://www.youtube.com/watch?v=SeRGpBR3-3M&amp;list=PLdo4fOcmZ0oX-sL7AFmygVw2A37Hbp8ZS</a:t>
            </a:r>
            <a:r>
              <a:rPr lang="en-US" sz="1400" dirty="0"/>
              <a:t> </a:t>
            </a:r>
          </a:p>
          <a:p>
            <a:r>
              <a:rPr lang="en-US" sz="1600" dirty="0"/>
              <a:t>Sample Projects</a:t>
            </a:r>
          </a:p>
          <a:p>
            <a:pPr lvl="1"/>
            <a:r>
              <a:rPr lang="en-US" sz="1400" dirty="0"/>
              <a:t>Access sample projects to practice and apply new skills in real-world scenarios: </a:t>
            </a:r>
            <a:r>
              <a:rPr lang="en-US" sz="1400" dirty="0">
                <a:hlinkClick r:id="rId7"/>
              </a:rPr>
              <a:t>https://github.com/dotnet/maui-samples</a:t>
            </a:r>
            <a:r>
              <a:rPr lang="en-US" sz="1400" dirty="0"/>
              <a:t> </a:t>
            </a:r>
          </a:p>
        </p:txBody>
      </p:sp>
    </p:spTree>
    <p:extLst>
      <p:ext uri="{BB962C8B-B14F-4D97-AF65-F5344CB8AC3E}">
        <p14:creationId xmlns:p14="http://schemas.microsoft.com/office/powerpoint/2010/main" val="149669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56E8-268B-B6ED-2F72-83F4E3722FC6}"/>
              </a:ext>
            </a:extLst>
          </p:cNvPr>
          <p:cNvSpPr>
            <a:spLocks noGrp="1"/>
          </p:cNvSpPr>
          <p:nvPr>
            <p:ph type="title"/>
          </p:nvPr>
        </p:nvSpPr>
        <p:spPr/>
        <p:txBody>
          <a:bodyPr/>
          <a:lstStyle/>
          <a:p>
            <a:r>
              <a:rPr lang="en-US" dirty="0"/>
              <a:t>Q&amp;A and Thank You!</a:t>
            </a:r>
          </a:p>
        </p:txBody>
      </p:sp>
      <p:sp>
        <p:nvSpPr>
          <p:cNvPr id="3" name="Content Placeholder 2">
            <a:extLst>
              <a:ext uri="{FF2B5EF4-FFF2-40B4-BE49-F238E27FC236}">
                <a16:creationId xmlns:a16="http://schemas.microsoft.com/office/drawing/2014/main" id="{36DA1289-A2B2-501E-384A-DE8D8FFB473B}"/>
              </a:ext>
            </a:extLst>
          </p:cNvPr>
          <p:cNvSpPr>
            <a:spLocks noGrp="1"/>
          </p:cNvSpPr>
          <p:nvPr>
            <p:ph idx="1"/>
          </p:nvPr>
        </p:nvSpPr>
        <p:spPr/>
        <p:txBody>
          <a:bodyPr/>
          <a:lstStyle/>
          <a:p>
            <a:r>
              <a:rPr lang="en-US" sz="2800" dirty="0"/>
              <a:t>Questions about .NET MAUI &amp; the Community Toolkits?</a:t>
            </a:r>
          </a:p>
          <a:p>
            <a:r>
              <a:rPr lang="en-US" sz="2800" dirty="0"/>
              <a:t>General Cross-Platform Dev Questions?</a:t>
            </a:r>
          </a:p>
          <a:p>
            <a:r>
              <a:rPr lang="en-US" sz="2800" dirty="0"/>
              <a:t>Follow up later:</a:t>
            </a:r>
          </a:p>
          <a:p>
            <a:pPr lvl="1"/>
            <a:r>
              <a:rPr lang="en-US" sz="2400" dirty="0">
                <a:hlinkClick r:id="rId2"/>
              </a:rPr>
              <a:t>alashcraft@gmail.com</a:t>
            </a:r>
            <a:endParaRPr lang="en-US" sz="2400" dirty="0"/>
          </a:p>
          <a:p>
            <a:pPr lvl="1"/>
            <a:r>
              <a:rPr lang="en-US" sz="2400" dirty="0"/>
              <a:t>Find me on BlueSky and LinkedIn</a:t>
            </a:r>
          </a:p>
          <a:p>
            <a:r>
              <a:rPr lang="en-US" sz="2800" dirty="0"/>
              <a:t>Thank you!</a:t>
            </a:r>
          </a:p>
        </p:txBody>
      </p:sp>
    </p:spTree>
    <p:extLst>
      <p:ext uri="{BB962C8B-B14F-4D97-AF65-F5344CB8AC3E}">
        <p14:creationId xmlns:p14="http://schemas.microsoft.com/office/powerpoint/2010/main" val="2220436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1590"/>
            <a:ext cx="8229600" cy="3394472"/>
          </a:xfrm>
        </p:spPr>
        <p:txBody>
          <a:bodyPr>
            <a:normAutofit fontScale="92500" lnSpcReduction="10000"/>
          </a:bodyPr>
          <a:lstStyle/>
          <a:p>
            <a:r>
              <a:rPr lang="en-US" sz="2800" dirty="0"/>
              <a:t>Your feedback is very important to us</a:t>
            </a:r>
          </a:p>
          <a:p>
            <a:r>
              <a:rPr lang="en-US" sz="2800" dirty="0"/>
              <a:t>Please take a moment to complete the session survey found in the mobile app</a:t>
            </a:r>
          </a:p>
          <a:p>
            <a:r>
              <a:rPr lang="en-US" sz="2800" dirty="0"/>
              <a:t>Use the QR code or search for “Converge360 Events” in your app store</a:t>
            </a:r>
          </a:p>
          <a:p>
            <a:r>
              <a:rPr lang="en-US" sz="2800" dirty="0"/>
              <a:t>Find this session on the Agenda tab</a:t>
            </a:r>
          </a:p>
          <a:p>
            <a:r>
              <a:rPr lang="en-US" sz="2800" dirty="0"/>
              <a:t>Click “Session Evaluation”</a:t>
            </a:r>
          </a:p>
          <a:p>
            <a:r>
              <a:rPr lang="en-US" sz="2800" dirty="0"/>
              <a:t>Thank you! </a:t>
            </a:r>
          </a:p>
          <a:p>
            <a:endParaRPr lang="en-US" sz="3000" dirty="0"/>
          </a:p>
        </p:txBody>
      </p:sp>
      <p:sp>
        <p:nvSpPr>
          <p:cNvPr id="4" name="Title 1"/>
          <p:cNvSpPr>
            <a:spLocks noGrp="1"/>
          </p:cNvSpPr>
          <p:nvPr>
            <p:ph type="title"/>
          </p:nvPr>
        </p:nvSpPr>
        <p:spPr/>
        <p:txBody>
          <a:bodyPr/>
          <a:lstStyle/>
          <a:p>
            <a:r>
              <a:rPr lang="en-US" b="1" dirty="0"/>
              <a:t>Session Survey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6804985" y="2852732"/>
            <a:ext cx="1427276" cy="1428750"/>
          </a:xfrm>
          <a:prstGeom prst="rect">
            <a:avLst/>
          </a:prstGeom>
        </p:spPr>
      </p:pic>
    </p:spTree>
    <p:extLst>
      <p:ext uri="{BB962C8B-B14F-4D97-AF65-F5344CB8AC3E}">
        <p14:creationId xmlns:p14="http://schemas.microsoft.com/office/powerpoint/2010/main" val="2341698217"/>
      </p:ext>
    </p:extLst>
  </p:cSld>
  <p:clrMapOvr>
    <a:masterClrMapping/>
  </p:clrMapOvr>
</p:sld>
</file>

<file path=ppt/theme/theme1.xml><?xml version="1.0" encoding="utf-8"?>
<a:theme xmlns:a="http://schemas.openxmlformats.org/drawingml/2006/main" name="Visual Studio Live! New York 2015">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ve! 360 2018">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3285</TotalTime>
  <Words>2201</Words>
  <Application>Microsoft Office PowerPoint</Application>
  <PresentationFormat>On-screen Show (16:9)</PresentationFormat>
  <Paragraphs>233</Paragraphs>
  <Slides>34</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ＭＳ Ｐゴシック</vt:lpstr>
      <vt:lpstr>Arial</vt:lpstr>
      <vt:lpstr>Arial Bold</vt:lpstr>
      <vt:lpstr>Calibri</vt:lpstr>
      <vt:lpstr>Times New Roman</vt:lpstr>
      <vt:lpstr>Visual Studio Live! New York 2015</vt:lpstr>
      <vt:lpstr>Live! 360 2018</vt:lpstr>
      <vt:lpstr>PowerPoint Presentation</vt:lpstr>
      <vt:lpstr>Session Survey</vt:lpstr>
      <vt:lpstr>Agenda</vt:lpstr>
      <vt:lpstr>About Me</vt:lpstr>
      <vt:lpstr>Introduction</vt:lpstr>
      <vt:lpstr>Overview of .NET MAUI &amp; Supported Platforms</vt:lpstr>
      <vt:lpstr>Benefits of a Single Codebase</vt:lpstr>
      <vt:lpstr>MAUI vs Other X-Plat Frameworks</vt:lpstr>
      <vt:lpstr>Development Tools</vt:lpstr>
      <vt:lpstr>IDEs and Tools</vt:lpstr>
      <vt:lpstr>Debug &amp; Build Across Platforms</vt:lpstr>
      <vt:lpstr>Productivity Tips</vt:lpstr>
      <vt:lpstr>Start Building Apps</vt:lpstr>
      <vt:lpstr>Build UIs with XAML or C#</vt:lpstr>
      <vt:lpstr>MAUI Community Toolkit</vt:lpstr>
      <vt:lpstr>Toolkit Overview</vt:lpstr>
      <vt:lpstr>Integrate Toolkit Features</vt:lpstr>
      <vt:lpstr>Simplify Your Architecture</vt:lpstr>
      <vt:lpstr>MVVM in MAUI Apps</vt:lpstr>
      <vt:lpstr>Reduce Boilerplate with MVVM Toolkit</vt:lpstr>
      <vt:lpstr>Build Scalable Apps</vt:lpstr>
      <vt:lpstr>Build MAUI Apps with C# Markup</vt:lpstr>
      <vt:lpstr>Advantages of C# Markup</vt:lpstr>
      <vt:lpstr>Pure C# User Interfaces</vt:lpstr>
      <vt:lpstr>Recommended Scenarios</vt:lpstr>
      <vt:lpstr>Style Apps Like a Web Dev</vt:lpstr>
      <vt:lpstr>Reuse Web Skills</vt:lpstr>
      <vt:lpstr>Using CSS in MAUI Projects</vt:lpstr>
      <vt:lpstr>Platform-Specific Features</vt:lpstr>
      <vt:lpstr>Device Feature Abstraction</vt:lpstr>
      <vt:lpstr>Resources and Q&amp;A</vt:lpstr>
      <vt:lpstr>Additional Resources</vt:lpstr>
      <vt:lpstr>Q&amp;A and Thank You!</vt:lpstr>
      <vt:lpstr>Session Survey</vt:lpstr>
    </vt:vector>
  </TitlesOfParts>
  <Company>1105 Media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Brent Sutton</dc:creator>
  <cp:lastModifiedBy>Alvin Ashcraft</cp:lastModifiedBy>
  <cp:revision>186</cp:revision>
  <dcterms:created xsi:type="dcterms:W3CDTF">2012-12-07T00:48:42Z</dcterms:created>
  <dcterms:modified xsi:type="dcterms:W3CDTF">2025-11-15T22:55:22Z</dcterms:modified>
</cp:coreProperties>
</file>