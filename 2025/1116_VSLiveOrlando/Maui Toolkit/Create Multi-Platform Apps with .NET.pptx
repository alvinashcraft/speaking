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5"/>
  </p:notesMasterIdLst>
  <p:handoutMasterIdLst>
    <p:handoutMasterId r:id="rId26"/>
  </p:handoutMasterIdLst>
  <p:sldIdLst>
    <p:sldId id="258" r:id="rId3"/>
    <p:sldId id="260" r:id="rId4"/>
    <p:sldId id="262" r:id="rId5"/>
    <p:sldId id="259" r:id="rId6"/>
    <p:sldId id="264" r:id="rId7"/>
    <p:sldId id="265" r:id="rId8"/>
    <p:sldId id="266" r:id="rId9"/>
    <p:sldId id="267" r:id="rId10"/>
    <p:sldId id="269" r:id="rId11"/>
    <p:sldId id="270" r:id="rId12"/>
    <p:sldId id="272" r:id="rId13"/>
    <p:sldId id="274" r:id="rId14"/>
    <p:sldId id="277" r:id="rId15"/>
    <p:sldId id="278" r:id="rId16"/>
    <p:sldId id="279" r:id="rId17"/>
    <p:sldId id="281" r:id="rId18"/>
    <p:sldId id="285" r:id="rId19"/>
    <p:sldId id="286" r:id="rId20"/>
    <p:sldId id="287" r:id="rId21"/>
    <p:sldId id="290" r:id="rId22"/>
    <p:sldId id="291" r:id="rId23"/>
    <p:sldId id="261" r:id="rId24"/>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16" autoAdjust="0"/>
    <p:restoredTop sz="84821" autoAdjust="0"/>
  </p:normalViewPr>
  <p:slideViewPr>
    <p:cSldViewPr>
      <p:cViewPr varScale="1">
        <p:scale>
          <a:sx n="114" d="100"/>
          <a:sy n="114" d="100"/>
        </p:scale>
        <p:origin x="752" y="29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Live360 and </a:t>
            </a:r>
            <a:r>
              <a:rPr lang="en-US" dirty="0" err="1"/>
              <a:t>VSLive</a:t>
            </a:r>
            <a:r>
              <a:rPr lang="en-US" dirty="0"/>
              <a:t>!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forget to complete your session survey. We love to read your feedback. It helps to shape future events, and it helps me improve my sessions.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14959063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 and we just announce we’re coming back for another year next October.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 an introduction to .NET MAUI, development tools, rapid app building techniques, enhancing apps with the MAUI Community Toolkit, architectural patterns like MVVM, styling options, platform-specific features, and 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.NET MAUI stands for </a:t>
            </a:r>
            <a:r>
              <a:rPr lang="en-US" sz="1200" b="0" i="1" kern="1200" dirty="0">
                <a:solidFill>
                  <a:schemeClr val="tx1"/>
                </a:solidFill>
                <a:effectLst/>
                <a:latin typeface="+mn-lt"/>
                <a:ea typeface="ＭＳ Ｐゴシック" pitchFamily="-72" charset="-128"/>
                <a:cs typeface="ＭＳ Ｐゴシック" pitchFamily="-72" charset="-128"/>
              </a:rPr>
              <a:t>Multi‑platform App UI</a:t>
            </a:r>
            <a:r>
              <a:rPr lang="en-US" sz="1200" b="0" i="0" kern="1200" dirty="0">
                <a:solidFill>
                  <a:schemeClr val="tx1"/>
                </a:solidFill>
                <a:effectLst/>
                <a:latin typeface="+mn-lt"/>
                <a:ea typeface="ＭＳ Ｐゴシック" pitchFamily="-72" charset="-128"/>
                <a:cs typeface="ＭＳ Ｐゴシック" pitchFamily="-72" charset="-128"/>
              </a:rPr>
              <a:t>. It’s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with a modern project structure and better performance, designed for .NET developers who want to ship on desktop and mobile from a shared codebase.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A single codebase reduces maintenance and accelerates development. You write once and deploy to multiple platforms, while still delivering a native look and feel. Later in the talk we’ll show how tooling and the Community Toolkits make this even faster.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why a single codebase matters. With .NET MAUI, you write once and deliver to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—all from the same project.</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Reduced maintenance</a:t>
            </a:r>
            <a:r>
              <a:rPr lang="en-US" sz="1200" b="0" i="0" kern="1200" dirty="0">
                <a:solidFill>
                  <a:schemeClr val="tx1"/>
                </a:solidFill>
                <a:effectLst/>
                <a:latin typeface="+mn-lt"/>
                <a:ea typeface="ＭＳ Ｐゴシック" pitchFamily="-72" charset="-128"/>
                <a:cs typeface="ＭＳ Ｐゴシック" pitchFamily="-72" charset="-128"/>
              </a:rPr>
              <a:t> means fewer projects, fewer duplicated fixes. One change in shared code propagates across platforms, which lowers our bug surface and speeds up updates.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Faster development:</a:t>
            </a:r>
            <a:r>
              <a:rPr lang="en-US" sz="1200" b="0" i="0" kern="1200" dirty="0">
                <a:solidFill>
                  <a:schemeClr val="tx1"/>
                </a:solidFill>
                <a:effectLst/>
                <a:latin typeface="+mn-lt"/>
                <a:ea typeface="ＭＳ Ｐゴシック" pitchFamily="-72" charset="-128"/>
                <a:cs typeface="ＭＳ Ｐゴシック" pitchFamily="-72" charset="-128"/>
              </a:rPr>
              <a:t> Reuse UI, services, and business logic. With a single project and shared resources, you spend more time building features and less time wiring platform-specific plumbing.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Consistent user experience:</a:t>
            </a:r>
            <a:r>
              <a:rPr lang="en-US" sz="1200" b="0" i="0" kern="1200" dirty="0">
                <a:solidFill>
                  <a:schemeClr val="tx1"/>
                </a:solidFill>
                <a:effectLst/>
                <a:latin typeface="+mn-lt"/>
                <a:ea typeface="ＭＳ Ｐゴシック" pitchFamily="-72" charset="-128"/>
                <a:cs typeface="ＭＳ Ｐゴシック" pitchFamily="-72" charset="-128"/>
              </a:rPr>
              <a:t> A unified codebase makes it easier to keep behavior and design consistent across devices, while still using native controls under the hood for platform fidelity.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MAUI’s single-project model and cross-platform APIs simplify targeting multiple OSes, and you can still access platform-specific features when needed.</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Think about a shared settings page or an app theme—implement it once, and it runs on desktop and mobile with native look &amp; feel.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compares .NET MAUI to other cross‑platform options. The core idea is: with MAUI you get a single .NET codebase that targets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while still delivering native UI and performance on each platform. .NET is the key advantage. If you’re already a C# developer, you have a leg up when choosing MAUI.</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 is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rebuilt for performance and a single‑project model. On Windows it uses </a:t>
            </a:r>
            <a:r>
              <a:rPr lang="en-US" sz="1200" b="1" i="0" kern="1200" dirty="0">
                <a:solidFill>
                  <a:schemeClr val="tx1"/>
                </a:solidFill>
                <a:effectLst/>
                <a:latin typeface="+mn-lt"/>
                <a:ea typeface="ＭＳ Ｐゴシック" pitchFamily="-72" charset="-128"/>
                <a:cs typeface="ＭＳ Ｐゴシック" pitchFamily="-72" charset="-128"/>
              </a:rPr>
              <a:t>WinUI 3</a:t>
            </a:r>
            <a:r>
              <a:rPr lang="en-US" sz="1200" b="0" i="0" kern="1200" dirty="0">
                <a:solidFill>
                  <a:schemeClr val="tx1"/>
                </a:solidFill>
                <a:effectLst/>
                <a:latin typeface="+mn-lt"/>
                <a:ea typeface="ＭＳ Ｐゴシック" pitchFamily="-72" charset="-128"/>
                <a:cs typeface="ＭＳ Ｐゴシック" pitchFamily="-72" charset="-128"/>
              </a:rPr>
              <a:t> and the Windows App SDK, so your MAUI app on Windows feels like a native WinUI app while sharing most code across platforms.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You can write UI in XAML or C# and access platform APIs via a unified .NET surface; when you need it, you can add platform‑specific code. That balance keeps the ‘write once, run anywhere’ workflow practical.</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React Native (and React Native for Windows)</a:t>
            </a:r>
            <a:r>
              <a:rPr lang="en-US" sz="1200" b="0" i="0" kern="1200" dirty="0">
                <a:solidFill>
                  <a:schemeClr val="tx1"/>
                </a:solidFill>
                <a:effectLst/>
                <a:latin typeface="+mn-lt"/>
                <a:ea typeface="ＭＳ Ｐゴシック" pitchFamily="-72" charset="-128"/>
                <a:cs typeface="ＭＳ Ｐゴシック" pitchFamily="-72" charset="-128"/>
              </a:rPr>
              <a:t> — JavaScript/TypeScript with a bridge to native controls; strong for teams already invested in React. MAUI’s advantage is </a:t>
            </a:r>
            <a:r>
              <a:rPr lang="en-US" sz="1200" b="1" i="0" kern="1200" dirty="0">
                <a:solidFill>
                  <a:schemeClr val="tx1"/>
                </a:solidFill>
                <a:effectLst/>
                <a:latin typeface="+mn-lt"/>
                <a:ea typeface="ＭＳ Ｐゴシック" pitchFamily="-72" charset="-128"/>
                <a:cs typeface="ＭＳ Ｐゴシック" pitchFamily="-72" charset="-128"/>
              </a:rPr>
              <a:t>C#/.NET</a:t>
            </a:r>
            <a:r>
              <a:rPr lang="en-US" sz="1200" b="0" i="0" kern="1200" dirty="0">
                <a:solidFill>
                  <a:schemeClr val="tx1"/>
                </a:solidFill>
                <a:effectLst/>
                <a:latin typeface="+mn-lt"/>
                <a:ea typeface="ＭＳ Ｐゴシック" pitchFamily="-72" charset="-128"/>
                <a:cs typeface="ＭＳ Ｐゴシック" pitchFamily="-72" charset="-128"/>
              </a:rPr>
              <a:t> end‑to‑end and first‑class WinUI support on Windows.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Flutter</a:t>
            </a:r>
            <a:r>
              <a:rPr lang="en-US" sz="1200" b="0" i="0" kern="1200" dirty="0">
                <a:solidFill>
                  <a:schemeClr val="tx1"/>
                </a:solidFill>
                <a:effectLst/>
                <a:latin typeface="+mn-lt"/>
                <a:ea typeface="ＭＳ Ｐゴシック" pitchFamily="-72" charset="-128"/>
                <a:cs typeface="ＭＳ Ｐゴシック" pitchFamily="-72" charset="-128"/>
              </a:rPr>
              <a:t> — Dart + </a:t>
            </a:r>
            <a:r>
              <a:rPr lang="en-US" sz="1200" b="0" i="0" kern="1200" dirty="0" err="1">
                <a:solidFill>
                  <a:schemeClr val="tx1"/>
                </a:solidFill>
                <a:effectLst/>
                <a:latin typeface="+mn-lt"/>
                <a:ea typeface="ＭＳ Ｐゴシック" pitchFamily="-72" charset="-128"/>
                <a:cs typeface="ＭＳ Ｐゴシック" pitchFamily="-72" charset="-128"/>
              </a:rPr>
              <a:t>Skia</a:t>
            </a:r>
            <a:r>
              <a:rPr lang="en-US" sz="1200" b="0" i="0" kern="1200" dirty="0">
                <a:solidFill>
                  <a:schemeClr val="tx1"/>
                </a:solidFill>
                <a:effectLst/>
                <a:latin typeface="+mn-lt"/>
                <a:ea typeface="ＭＳ Ｐゴシック" pitchFamily="-72" charset="-128"/>
                <a:cs typeface="ＭＳ Ｐゴシック" pitchFamily="-72" charset="-128"/>
              </a:rPr>
              <a:t> rendering gives consistent UI across platforms, but it’s not using native platform elements on Windows; MAUI uses the native UI on each platform, which can improve platform‑specific behavior and accessibility.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Blazor Hybrid</a:t>
            </a:r>
            <a:r>
              <a:rPr lang="en-US" sz="1200" b="0" i="0" kern="1200" dirty="0">
                <a:solidFill>
                  <a:schemeClr val="tx1"/>
                </a:solidFill>
                <a:effectLst/>
                <a:latin typeface="+mn-lt"/>
                <a:ea typeface="ＭＳ Ｐゴシック" pitchFamily="-72" charset="-128"/>
                <a:cs typeface="ＭＳ Ｐゴシック" pitchFamily="-72" charset="-128"/>
              </a:rPr>
              <a:t> — Great when you want to reuse web UI with .NET; it’s a strong fit if your team is already Blazor‑centric. MAUI remains the go‑to for native UI scenarios with XAML/C# while still allowing Blazor where it makes sense.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1"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PWAs</a:t>
            </a:r>
            <a:r>
              <a:rPr lang="en-US" sz="1200" b="0" i="0" kern="1200" dirty="0">
                <a:solidFill>
                  <a:schemeClr val="tx1"/>
                </a:solidFill>
                <a:effectLst/>
                <a:latin typeface="+mn-lt"/>
                <a:ea typeface="ＭＳ Ｐゴシック" pitchFamily="-72" charset="-128"/>
                <a:cs typeface="ＭＳ Ｐゴシック" pitchFamily="-72" charset="-128"/>
              </a:rPr>
              <a:t> — Fast to ship and easy to update, but they’re web‑first and don’t provide native controls or the same access to device features as MAUI.</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the tooling that makes this practical.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the tools you’ll use to build .NET MAUI apps. The two primary IDEs are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(Windows and macOS) and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(Windows/macOS), with </a:t>
            </a:r>
            <a:r>
              <a:rPr lang="en-US" sz="1200" b="1" i="0" kern="1200" dirty="0">
                <a:solidFill>
                  <a:schemeClr val="tx1"/>
                </a:solidFill>
                <a:effectLst/>
                <a:latin typeface="+mn-lt"/>
                <a:ea typeface="ＭＳ Ｐゴシック" pitchFamily="-72" charset="-128"/>
                <a:cs typeface="ＭＳ Ｐゴシック" pitchFamily="-72" charset="-128"/>
              </a:rPr>
              <a:t>JetBrains Rider</a:t>
            </a:r>
            <a:r>
              <a:rPr lang="en-US" sz="1200" b="0" i="0" kern="1200" dirty="0">
                <a:solidFill>
                  <a:schemeClr val="tx1"/>
                </a:solidFill>
                <a:effectLst/>
                <a:latin typeface="+mn-lt"/>
                <a:ea typeface="ＭＳ Ｐゴシック" pitchFamily="-72" charset="-128"/>
                <a:cs typeface="ＭＳ Ｐゴシック" pitchFamily="-72" charset="-128"/>
              </a:rPr>
              <a:t> as an alternative for those who prefer it. All of them support the .NET MAUI workflows we’ll cover.</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Visual Studio is the most fully featured option for MAUI with built‑in project templates, device emulators, the </a:t>
            </a:r>
            <a:r>
              <a:rPr lang="en-US" sz="1200" b="1" i="0" kern="1200" dirty="0">
                <a:solidFill>
                  <a:schemeClr val="tx1"/>
                </a:solidFill>
                <a:effectLst/>
                <a:latin typeface="+mn-lt"/>
                <a:ea typeface="ＭＳ Ｐゴシック" pitchFamily="-72" charset="-128"/>
                <a:cs typeface="ＭＳ Ｐゴシック" pitchFamily="-72" charset="-128"/>
              </a:rPr>
              <a:t>Hot Reload</a:t>
            </a:r>
            <a:r>
              <a:rPr lang="en-US" sz="1200" b="0" i="0" kern="1200" dirty="0">
                <a:solidFill>
                  <a:schemeClr val="tx1"/>
                </a:solidFill>
                <a:effectLst/>
                <a:latin typeface="+mn-lt"/>
                <a:ea typeface="ＭＳ Ｐゴシック" pitchFamily="-72" charset="-128"/>
                <a:cs typeface="ＭＳ Ｐゴシック" pitchFamily="-72" charset="-128"/>
              </a:rPr>
              <a:t> experience for both XAML and C# code, and the </a:t>
            </a:r>
            <a:r>
              <a:rPr lang="en-US" sz="1200" b="1" i="0" kern="1200" dirty="0">
                <a:solidFill>
                  <a:schemeClr val="tx1"/>
                </a:solidFill>
                <a:effectLst/>
                <a:latin typeface="+mn-lt"/>
                <a:ea typeface="ＭＳ Ｐゴシック" pitchFamily="-72" charset="-128"/>
                <a:cs typeface="ＭＳ Ｐゴシック" pitchFamily="-72" charset="-128"/>
              </a:rPr>
              <a:t>Live Visual Tree</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Binding Failures</a:t>
            </a:r>
            <a:r>
              <a:rPr lang="en-US" sz="1200" b="0" i="0" kern="1200" dirty="0">
                <a:solidFill>
                  <a:schemeClr val="tx1"/>
                </a:solidFill>
                <a:effectLst/>
                <a:latin typeface="+mn-lt"/>
                <a:ea typeface="ＭＳ Ｐゴシック" pitchFamily="-72" charset="-128"/>
                <a:cs typeface="ＭＳ Ｐゴシック" pitchFamily="-72" charset="-128"/>
              </a:rPr>
              <a:t> windows for rapid UI debugging.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VS Code is a lighter, cross‑platform editor that can still be very productive for MAUI with the right extensions—project scaffolding, build/publish helpers, and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for packaging iOS/Android from VS Code.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great for quick iterations, C# Markup work, and people who prefer a lean editor while keeping the same .NET toolchain.</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Rider is a solid alternative if you’re already in the JetBrains ecosystem; it supports .NET MAUI projects with the usual Rider tooling, debugging, and </a:t>
            </a:r>
            <a:r>
              <a:rPr lang="en-US" sz="1200" b="0" i="0" kern="1200" dirty="0" err="1">
                <a:solidFill>
                  <a:schemeClr val="tx1"/>
                </a:solidFill>
                <a:effectLst/>
                <a:latin typeface="+mn-lt"/>
                <a:ea typeface="ＭＳ Ｐゴシック" pitchFamily="-72" charset="-128"/>
                <a:cs typeface="ＭＳ Ｐゴシック" pitchFamily="-72" charset="-128"/>
              </a:rPr>
              <a:t>refactorings</a:t>
            </a:r>
            <a:r>
              <a:rPr lang="en-US" sz="1200" b="0" i="0" kern="1200" dirty="0">
                <a:solidFill>
                  <a:schemeClr val="tx1"/>
                </a:solidFill>
                <a:effectLst/>
                <a:latin typeface="+mn-lt"/>
                <a:ea typeface="ＭＳ Ｐゴシック" pitchFamily="-72" charset="-128"/>
                <a:cs typeface="ＭＳ Ｐゴシック" pitchFamily="-72" charset="-128"/>
              </a:rPr>
              <a:t>. It’s a good choice when your team standardizes on Rider.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CLI</a:t>
            </a:r>
            <a:r>
              <a:rPr lang="en-US" sz="1200" b="0" i="0" kern="1200" dirty="0">
                <a:solidFill>
                  <a:schemeClr val="tx1"/>
                </a:solidFill>
                <a:effectLst/>
                <a:latin typeface="+mn-lt"/>
                <a:ea typeface="ＭＳ Ｐゴシック" pitchFamily="-72" charset="-128"/>
                <a:cs typeface="ＭＳ Ｐゴシック" pitchFamily="-72" charset="-128"/>
              </a:rPr>
              <a:t> powers builds, workloads, and templates.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highlight the tooling that makes cross‑platform development fast and reliable in .NET MAUI. These are the core features I use every day: Hot Reload, the Live Visual Tree, the Binding Failures window, and testing across device emulators and real hardware.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XAML Hot Reload you can change XAML while the app is running and see updates instantly—no stop/start cycle. It works for .NET MAUI (and other platforms like WPF and WinUI). It’s a big time‑saver when tuning layouts and styles. </a:t>
            </a:r>
            <a:r>
              <a:rPr lang="en-US" sz="1200" b="0" i="1" kern="1200" dirty="0">
                <a:solidFill>
                  <a:schemeClr val="tx1"/>
                </a:solidFill>
                <a:effectLst/>
                <a:latin typeface="+mn-lt"/>
                <a:ea typeface="ＭＳ Ｐゴシック" pitchFamily="-72" charset="-128"/>
                <a:cs typeface="ＭＳ Ｐゴシック" pitchFamily="-72" charset="-128"/>
              </a:rPr>
              <a:t>Tip:</a:t>
            </a:r>
            <a:r>
              <a:rPr lang="en-US" sz="1200" b="0" i="0" kern="1200" dirty="0">
                <a:solidFill>
                  <a:schemeClr val="tx1"/>
                </a:solidFill>
                <a:effectLst/>
                <a:latin typeface="+mn-lt"/>
                <a:ea typeface="ＭＳ Ｐゴシック" pitchFamily="-72" charset="-128"/>
                <a:cs typeface="ＭＳ Ｐゴシック" pitchFamily="-72" charset="-128"/>
              </a:rPr>
              <a:t> If you’re doing performance profiling, consider turning Hot Reload off, because it adds diagnostic overhead that can affect CPU/memory readings.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Live Visual Tree to inspect the runtime UI hierarchy and quickly locate elements. If a binding isn’t working, the </a:t>
            </a:r>
            <a:r>
              <a:rPr lang="en-US" sz="1200" b="1" i="0" kern="1200" dirty="0">
                <a:solidFill>
                  <a:schemeClr val="tx1"/>
                </a:solidFill>
                <a:effectLst/>
                <a:latin typeface="+mn-lt"/>
                <a:ea typeface="ＭＳ Ｐゴシック" pitchFamily="-72" charset="-128"/>
                <a:cs typeface="ＭＳ Ｐゴシック" pitchFamily="-72" charset="-128"/>
              </a:rPr>
              <a:t>XAML Binding Failures</a:t>
            </a:r>
            <a:r>
              <a:rPr lang="en-US" sz="1200" b="0" i="0" kern="1200" dirty="0">
                <a:solidFill>
                  <a:schemeClr val="tx1"/>
                </a:solidFill>
                <a:effectLst/>
                <a:latin typeface="+mn-lt"/>
                <a:ea typeface="ＭＳ Ｐゴシック" pitchFamily="-72" charset="-128"/>
                <a:cs typeface="ＭＳ Ｐゴシック" pitchFamily="-72" charset="-128"/>
              </a:rPr>
              <a:t> window shows failures in a searchable, sortable list. This is far better than digging through the Output window, which is what we used to do to find failures. It’s especially helpful when your view model properties or </a:t>
            </a:r>
            <a:r>
              <a:rPr lang="en-US" sz="1200" b="0" i="0" kern="1200" dirty="0" err="1">
                <a:solidFill>
                  <a:schemeClr val="tx1"/>
                </a:solidFill>
                <a:effectLst/>
                <a:latin typeface="+mn-lt"/>
                <a:ea typeface="ＭＳ Ｐゴシック" pitchFamily="-72" charset="-128"/>
                <a:cs typeface="ＭＳ Ｐゴシック" pitchFamily="-72" charset="-128"/>
              </a:rPr>
              <a:t>DataContext</a:t>
            </a:r>
            <a:r>
              <a:rPr lang="en-US" sz="1200" b="0" i="0" kern="1200" dirty="0">
                <a:solidFill>
                  <a:schemeClr val="tx1"/>
                </a:solidFill>
                <a:effectLst/>
                <a:latin typeface="+mn-lt"/>
                <a:ea typeface="ＭＳ Ｐゴシック" pitchFamily="-72" charset="-128"/>
                <a:cs typeface="ＭＳ Ｐゴシック" pitchFamily="-72" charset="-128"/>
              </a:rPr>
              <a:t> change.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Run on Android emulators and iOS simulators to catch platform‑specific layout or behavior issues early. For macOS/iOS debugging from Windows, you can </a:t>
            </a:r>
            <a:r>
              <a:rPr lang="en-US" sz="1200" b="1" i="0" kern="1200" dirty="0">
                <a:solidFill>
                  <a:schemeClr val="tx1"/>
                </a:solidFill>
                <a:effectLst/>
                <a:latin typeface="+mn-lt"/>
                <a:ea typeface="ＭＳ Ｐゴシック" pitchFamily="-72" charset="-128"/>
                <a:cs typeface="ＭＳ Ｐゴシック" pitchFamily="-72" charset="-128"/>
              </a:rPr>
              <a:t>connect to a Mac</a:t>
            </a:r>
            <a:r>
              <a:rPr lang="en-US" sz="1200" b="0" i="0" kern="1200" dirty="0">
                <a:solidFill>
                  <a:schemeClr val="tx1"/>
                </a:solidFill>
                <a:effectLst/>
                <a:latin typeface="+mn-lt"/>
                <a:ea typeface="ＭＳ Ｐゴシック" pitchFamily="-72" charset="-128"/>
                <a:cs typeface="ＭＳ Ｐゴシック" pitchFamily="-72" charset="-128"/>
              </a:rPr>
              <a:t>. You still get the full debugger experience.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When you need to validate sensors, camera, or file access, run on a provisioned device. This helps confirm permissions and platform quirks that emulators sometimes mask.</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tools reduce iteration time and surface issues early—so you can keep the single codebase advantage without the risk platform quirks. In short: edit fast, inspect deeply, and test everywhere.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is all about small habits and tools that add up to big productivity gains when you build .NET MAUI apps. I’ll call out a few quick wins you can use right away.</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a:solidFill>
                  <a:schemeClr val="tx1"/>
                </a:solidFill>
                <a:effectLst/>
                <a:latin typeface="+mn-lt"/>
                <a:ea typeface="ＭＳ Ｐゴシック" pitchFamily="-72" charset="-128"/>
                <a:cs typeface="ＭＳ Ｐゴシック" pitchFamily="-72" charset="-128"/>
              </a:rPr>
              <a:t>XAML Hot Reload</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.NET Hot Reload</a:t>
            </a:r>
            <a:r>
              <a:rPr lang="en-US" sz="1200" b="0" i="0" kern="1200" dirty="0">
                <a:solidFill>
                  <a:schemeClr val="tx1"/>
                </a:solidFill>
                <a:effectLst/>
                <a:latin typeface="+mn-lt"/>
                <a:ea typeface="ＭＳ Ｐゴシック" pitchFamily="-72" charset="-128"/>
                <a:cs typeface="ＭＳ Ｐゴシック" pitchFamily="-72" charset="-128"/>
              </a:rPr>
              <a:t> to iterate without restarting the app. Change XAML or C# code, and the running app updates in seconds—huge time‑saver for UI tweaks and layout fixes.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Start with the built‑in </a:t>
            </a:r>
            <a:r>
              <a:rPr lang="en-US" sz="1200" b="1" i="0" kern="1200" dirty="0">
                <a:solidFill>
                  <a:schemeClr val="tx1"/>
                </a:solidFill>
                <a:effectLst/>
                <a:latin typeface="+mn-lt"/>
                <a:ea typeface="ＭＳ Ｐゴシック" pitchFamily="-72" charset="-128"/>
                <a:cs typeface="ＭＳ Ｐゴシック" pitchFamily="-72" charset="-128"/>
              </a:rPr>
              <a:t>.NET MAUI project templates</a:t>
            </a:r>
            <a:r>
              <a:rPr lang="en-US" sz="1200" b="0" i="0" kern="1200" dirty="0">
                <a:solidFill>
                  <a:schemeClr val="tx1"/>
                </a:solidFill>
                <a:effectLst/>
                <a:latin typeface="+mn-lt"/>
                <a:ea typeface="ＭＳ Ｐゴシック" pitchFamily="-72" charset="-128"/>
                <a:cs typeface="ＭＳ Ｐゴシック" pitchFamily="-72" charset="-128"/>
              </a:rPr>
              <a:t> to get the right structure, SDK refs, and platform targets. They reduce setup friction and keep projects consistent.</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speeds packaging and publishing workflows—especially handy if you like a lighter editor or CI scripts.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In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use the built‑in publish tooling for Windows (MSIX) and platform‑specific publishing; it keeps your release path clear. You can also leverage GitHub Copilot VS or VS Code to generate unit tests for the code in your MAUI projects.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this slide, we’re looking at two ways to define UI in .NET MAUI: </a:t>
            </a:r>
            <a:r>
              <a:rPr lang="en-US" sz="1200" b="1" i="0" kern="1200" dirty="0">
                <a:solidFill>
                  <a:schemeClr val="tx1"/>
                </a:solidFill>
                <a:effectLst/>
                <a:latin typeface="+mn-lt"/>
                <a:ea typeface="ＭＳ Ｐゴシック" pitchFamily="-72" charset="-128"/>
                <a:cs typeface="ＭＳ Ｐゴシック" pitchFamily="-72" charset="-128"/>
              </a:rPr>
              <a:t>XAML</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XAML?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Declarative, familiar, and tool‑friendly:</a:t>
            </a:r>
            <a:r>
              <a:rPr lang="en-US" sz="1200" b="0" i="0" kern="1200" dirty="0">
                <a:solidFill>
                  <a:schemeClr val="tx1"/>
                </a:solidFill>
                <a:effectLst/>
                <a:latin typeface="+mn-lt"/>
                <a:ea typeface="ＭＳ Ｐゴシック" pitchFamily="-72" charset="-128"/>
                <a:cs typeface="ＭＳ Ｐゴシック" pitchFamily="-72" charset="-128"/>
              </a:rPr>
              <a:t> XAML is an XML‑based markup that cleanly separates UI from code‑behind and works seamlessly with data binding, styles, and behaviors. It’s the default for many .NET developers and has strong editor support in Visual Studio and VS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Great for design‑centric or complex pages:</a:t>
            </a:r>
            <a:r>
              <a:rPr lang="en-US" sz="1200" b="0" i="0" kern="1200" dirty="0">
                <a:solidFill>
                  <a:schemeClr val="tx1"/>
                </a:solidFill>
                <a:effectLst/>
                <a:latin typeface="+mn-lt"/>
                <a:ea typeface="ＭＳ Ｐゴシック" pitchFamily="-72" charset="-128"/>
                <a:cs typeface="ＭＳ Ｐゴシック" pitchFamily="-72" charset="-128"/>
              </a:rPr>
              <a:t> When you want clear, readable layout definitions, resource dictionaries, and platform‑specific values, XAML is a solid choice.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Hot Reload friendly:</a:t>
            </a:r>
            <a:r>
              <a:rPr lang="en-US" sz="1200" b="0" i="0" kern="1200" dirty="0">
                <a:solidFill>
                  <a:schemeClr val="tx1"/>
                </a:solidFill>
                <a:effectLst/>
                <a:latin typeface="+mn-lt"/>
                <a:ea typeface="ＭＳ Ｐゴシック" pitchFamily="-72" charset="-128"/>
                <a:cs typeface="ＭＳ Ｐゴシック" pitchFamily="-72" charset="-128"/>
              </a:rPr>
              <a:t> XAML Hot Reload speeds iteration by applying changes while the app runs.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Programmatic UI with fluent APIs:</a:t>
            </a:r>
            <a:r>
              <a:rPr lang="en-US" sz="1200" b="0" i="0" kern="1200" dirty="0">
                <a:solidFill>
                  <a:schemeClr val="tx1"/>
                </a:solidFill>
                <a:effectLst/>
                <a:latin typeface="+mn-lt"/>
                <a:ea typeface="ＭＳ Ｐゴシック" pitchFamily="-72" charset="-128"/>
                <a:cs typeface="ＭＳ Ｐゴシック" pitchFamily="-72" charset="-128"/>
              </a:rPr>
              <a:t> The .NET MAUI Community Toolkit’s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 provides fluent helpers to build UI in code—useful when UI is highly dynamic or generated from data.</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Single‑language flow:</a:t>
            </a:r>
            <a:r>
              <a:rPr lang="en-US" sz="1200" b="0" i="0" kern="1200" dirty="0">
                <a:solidFill>
                  <a:schemeClr val="tx1"/>
                </a:solidFill>
                <a:effectLst/>
                <a:latin typeface="+mn-lt"/>
                <a:ea typeface="ＭＳ Ｐゴシック" pitchFamily="-72" charset="-128"/>
                <a:cs typeface="ＭＳ Ｐゴシック" pitchFamily="-72" charset="-128"/>
              </a:rPr>
              <a:t> If your team prefers staying in C# across pages and view models, C# Markup keeps everything in one language and works with .NET Hot Reload.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Easy to compose and reuse:</a:t>
            </a:r>
            <a:r>
              <a:rPr lang="en-US" sz="1200" b="0" i="0" kern="1200" dirty="0">
                <a:solidFill>
                  <a:schemeClr val="tx1"/>
                </a:solidFill>
                <a:effectLst/>
                <a:latin typeface="+mn-lt"/>
                <a:ea typeface="ＭＳ Ｐゴシック" pitchFamily="-72" charset="-128"/>
                <a:cs typeface="ＭＳ Ｐゴシック" pitchFamily="-72" charset="-128"/>
              </a:rPr>
              <a:t> Fluent extensions make it straightforward to define layouts, bindings, and converters inline, which can reduce boilerplate for certain patterns.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Some best practices…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Keep </a:t>
            </a:r>
            <a:r>
              <a:rPr lang="en-US" sz="1200" b="1" i="0" kern="1200" dirty="0">
                <a:solidFill>
                  <a:schemeClr val="tx1"/>
                </a:solidFill>
                <a:effectLst/>
                <a:latin typeface="+mn-lt"/>
                <a:ea typeface="ＭＳ Ｐゴシック" pitchFamily="-72" charset="-128"/>
                <a:cs typeface="ＭＳ Ｐゴシック" pitchFamily="-72" charset="-128"/>
              </a:rPr>
              <a:t>view models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logic</a:t>
            </a:r>
            <a:r>
              <a:rPr lang="en-US" sz="1200" b="0" i="0" kern="1200" dirty="0">
                <a:solidFill>
                  <a:schemeClr val="tx1"/>
                </a:solidFill>
                <a:effectLst/>
                <a:latin typeface="+mn-lt"/>
                <a:ea typeface="ＭＳ Ｐゴシック" pitchFamily="-72" charset="-128"/>
                <a:cs typeface="ＭＳ Ｐゴシック" pitchFamily="-72" charset="-128"/>
              </a:rPr>
              <a:t> out of the UI layer; use binding and commands in both XAML and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err="1">
                <a:solidFill>
                  <a:schemeClr val="tx1"/>
                </a:solidFill>
                <a:effectLst/>
                <a:latin typeface="+mn-lt"/>
                <a:ea typeface="ＭＳ Ｐゴシック" pitchFamily="-72" charset="-128"/>
                <a:cs typeface="ＭＳ Ｐゴシック" pitchFamily="-72" charset="-128"/>
              </a:rPr>
              <a:t>ResourceDictionaries</a:t>
            </a:r>
            <a:r>
              <a:rPr lang="en-US" sz="1200" b="0" i="0" kern="1200" dirty="0">
                <a:solidFill>
                  <a:schemeClr val="tx1"/>
                </a:solidFill>
                <a:effectLst/>
                <a:latin typeface="+mn-lt"/>
                <a:ea typeface="ＭＳ Ｐゴシック" pitchFamily="-72" charset="-128"/>
                <a:cs typeface="ＭＳ Ｐゴシック" pitchFamily="-72" charset="-128"/>
              </a:rPr>
              <a:t> for shared styles and themes (works for both XAML and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Leverage the </a:t>
            </a:r>
            <a:r>
              <a:rPr lang="en-US" sz="1200" b="1" i="0" kern="1200" dirty="0">
                <a:solidFill>
                  <a:schemeClr val="tx1"/>
                </a:solidFill>
                <a:effectLst/>
                <a:latin typeface="+mn-lt"/>
                <a:ea typeface="ＭＳ Ｐゴシック" pitchFamily="-72" charset="-128"/>
                <a:cs typeface="ＭＳ Ｐゴシック" pitchFamily="-72" charset="-128"/>
              </a:rPr>
              <a:t>Community Toolkit</a:t>
            </a:r>
            <a:r>
              <a:rPr lang="en-US" sz="1200" b="0" i="0" kern="1200" dirty="0">
                <a:solidFill>
                  <a:schemeClr val="tx1"/>
                </a:solidFill>
                <a:effectLst/>
                <a:latin typeface="+mn-lt"/>
                <a:ea typeface="ＭＳ Ｐゴシック" pitchFamily="-72" charset="-128"/>
                <a:cs typeface="ＭＳ Ｐゴシック" pitchFamily="-72" charset="-128"/>
              </a:rPr>
              <a:t> for converters, behaviors, and the Markup helpers to reduce boilerplate.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couple of demos with some simple projects in Visual Studio and VS Code. (Not C# markup yet.)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3746703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&lt;&lt;&lt;</a:t>
            </a:r>
            <a:r>
              <a:rPr lang="en-US" sz="1200" b="0" i="0" kern="1200">
                <a:solidFill>
                  <a:schemeClr val="tx1"/>
                </a:solidFill>
                <a:effectLst/>
                <a:latin typeface="+mn-lt"/>
                <a:ea typeface="ＭＳ Ｐゴシック" pitchFamily="-72" charset="-128"/>
                <a:cs typeface="ＭＳ Ｐゴシック" pitchFamily="-72" charset="-128"/>
              </a:rPr>
              <a:t>Time check – 3:05pm&gt;&gt;&gt;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MAUI Community Toolkit</a:t>
            </a:r>
            <a:r>
              <a:rPr lang="en-US" sz="1200" b="0" i="0" kern="1200" dirty="0">
                <a:solidFill>
                  <a:schemeClr val="tx1"/>
                </a:solidFill>
                <a:effectLst/>
                <a:latin typeface="+mn-lt"/>
                <a:ea typeface="ＭＳ Ｐゴシック" pitchFamily="-72" charset="-128"/>
                <a:cs typeface="ＭＳ Ｐゴシック" pitchFamily="-72" charset="-128"/>
              </a:rPr>
              <a:t> is a collection of reusable building blocks—controls, behaviors, converters, and helpers—that speed up common tasks in MAUI apps and reduce boilerplate. It’s community‑driven and open source, with Microsoft engineers and contributors maintaining the docs and samples.</a:t>
            </a:r>
          </a:p>
          <a:p>
            <a:endParaRPr lang="en-US" dirty="0"/>
          </a:p>
          <a:p>
            <a:r>
              <a:rPr lang="en-US" dirty="0"/>
              <a:t>What’s in the Toolkit?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organized into logical areas: </a:t>
            </a:r>
            <a:r>
              <a:rPr lang="en-US" sz="1200" b="1" i="0" kern="1200" dirty="0">
                <a:solidFill>
                  <a:schemeClr val="tx1"/>
                </a:solidFill>
                <a:effectLst/>
                <a:latin typeface="+mn-lt"/>
                <a:ea typeface="ＭＳ Ｐゴシック" pitchFamily="-72" charset="-128"/>
                <a:cs typeface="ＭＳ Ｐゴシック" pitchFamily="-72" charset="-128"/>
              </a:rPr>
              <a:t>Animations, Behaviors, Converters, Extensions, Image Sources, Layouts, Views, and C# Markup</a:t>
            </a:r>
            <a:r>
              <a:rPr lang="en-US" sz="1200" b="0" i="0" kern="1200" dirty="0">
                <a:solidFill>
                  <a:schemeClr val="tx1"/>
                </a:solidFill>
                <a:effectLst/>
                <a:latin typeface="+mn-lt"/>
                <a:ea typeface="ＭＳ Ｐゴシック" pitchFamily="-72" charset="-128"/>
                <a:cs typeface="ＭＳ Ｐゴシック" pitchFamily="-72" charset="-128"/>
              </a:rPr>
              <a:t> helpers. You’ll also find essentials like popups, drawing, and clipboard helpers. These are ready‑to‑use and plug into your MAUI app with a NuGet package reference.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docs list each feature with usage examples and API references—handy when you’re deciding whether to build a small helper yourself or reuse a vetted component.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Toolkit frees you from reinventing common UI patterns, improves consistency across screens, and keeps your app codebase lean—especially useful when you’re targeting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from the same project.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dive back into demos. We’ll look at the Community Toolkit on GitHub and the docs for it on Learn. Then we’ll look at the sample app and a little sample that I created. You’ll see how easy it is to integrate.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look at the MVVM Toolkit, part of the .NET Community Toolkit.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2087241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Model-View-ViewModel or MVVM.</a:t>
            </a:r>
          </a:p>
          <a:p>
            <a:endParaRPr lang="en-US" dirty="0"/>
          </a:p>
          <a:p>
            <a:r>
              <a:rPr lang="en-US" dirty="0"/>
              <a:t>You may have used it in other XAML-based frameworks like WinUI or WPF. You can even leverage it in modern WinForms apps. How many people are already familiar with the pattern?</a:t>
            </a:r>
          </a:p>
          <a:p>
            <a:endParaRPr lang="en-US" dirty="0"/>
          </a:p>
          <a:p>
            <a:r>
              <a:rPr lang="en-US" dirty="0"/>
              <a:t>The core of MVVM is the separation of UI elements in the view from the presentation logic in the view models, and the data and business logic in the model.</a:t>
            </a:r>
          </a:p>
          <a:p>
            <a:endParaRPr lang="en-US" dirty="0"/>
          </a:p>
          <a:p>
            <a:r>
              <a:rPr lang="en-US" dirty="0"/>
              <a:t>The separation of concerns makes it possible to unit test the logic in your view model and model layers without any dependencies on the UI.</a:t>
            </a:r>
          </a:p>
          <a:p>
            <a:endParaRPr lang="en-US" dirty="0"/>
          </a:p>
          <a:p>
            <a:r>
              <a:rPr lang="en-US" dirty="0"/>
              <a:t>Model types are exposed and bound through the view model to the view. Property change and collection change notifications notify the view when it needs to refresh to display new or changed data. Actions are triggered in the view model through commands rather than event handlers.</a:t>
            </a:r>
          </a:p>
          <a:p>
            <a:endParaRPr lang="en-US" dirty="0"/>
          </a:p>
          <a:p>
            <a:r>
              <a:rPr lang="en-US" dirty="0"/>
              <a:t>Next, let’s see how the MVVM Toolkit simplifies MVVM for developers.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888448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traditional MVVM approaches, you either implement the </a:t>
            </a:r>
            <a:r>
              <a:rPr lang="en-US" dirty="0" err="1"/>
              <a:t>INotifyPropertyChanged</a:t>
            </a:r>
            <a:r>
              <a:rPr lang="en-US" dirty="0"/>
              <a:t> interface in each of your view models or more likely in a shared base class.</a:t>
            </a:r>
          </a:p>
          <a:p>
            <a:endParaRPr lang="en-US" dirty="0"/>
          </a:p>
          <a:p>
            <a:r>
              <a:rPr lang="en-US" dirty="0"/>
              <a:t>The MVVM Toolkit provides this base class for you. Not only that, but there are also helpers and source generators that allow you to decorate your private fields and methods with attributes, so you never have to write the corresponding public properties and commands that are bound in the view. They’re generated for you in a partial class. We’ll see how this works shortly.</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30407333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talk about the core concepts we use to scale .NET MAUI apps: </a:t>
            </a:r>
            <a:r>
              <a:rPr lang="en-US" sz="1200" b="1" i="0" kern="1200" dirty="0">
                <a:solidFill>
                  <a:schemeClr val="tx1"/>
                </a:solidFill>
                <a:effectLst/>
                <a:latin typeface="+mn-lt"/>
                <a:ea typeface="ＭＳ Ｐゴシック" pitchFamily="-72" charset="-128"/>
                <a:cs typeface="ＭＳ Ｐゴシック" pitchFamily="-72" charset="-128"/>
              </a:rPr>
              <a:t>data binding</a:t>
            </a:r>
            <a:r>
              <a:rPr lang="en-US" sz="1200" b="0" i="0" kern="1200" dirty="0">
                <a:solidFill>
                  <a:schemeClr val="tx1"/>
                </a:solidFill>
                <a:effectLst/>
                <a:latin typeface="+mn-lt"/>
                <a:ea typeface="ＭＳ Ｐゴシック" pitchFamily="-72" charset="-128"/>
                <a:cs typeface="ＭＳ Ｐゴシック" pitchFamily="-72" charset="-128"/>
              </a:rPr>
              <a:t>, </a:t>
            </a:r>
            <a:r>
              <a:rPr lang="en-US" sz="1200" b="1" i="0" kern="1200" dirty="0">
                <a:solidFill>
                  <a:schemeClr val="tx1"/>
                </a:solidFill>
                <a:effectLst/>
                <a:latin typeface="+mn-lt"/>
                <a:ea typeface="ＭＳ Ｐゴシック" pitchFamily="-72" charset="-128"/>
                <a:cs typeface="ＭＳ Ｐゴシック" pitchFamily="-72" charset="-128"/>
              </a:rPr>
              <a:t>commands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dependency injection</a:t>
            </a:r>
            <a:r>
              <a:rPr lang="en-US" sz="1200" b="0" i="0" kern="1200" dirty="0">
                <a:solidFill>
                  <a:schemeClr val="tx1"/>
                </a:solidFill>
                <a:effectLst/>
                <a:latin typeface="+mn-lt"/>
                <a:ea typeface="ＭＳ Ｐゴシック" pitchFamily="-72" charset="-128"/>
                <a:cs typeface="ＭＳ Ｐゴシック" pitchFamily="-72" charset="-128"/>
              </a:rPr>
              <a:t>. Together, they keep UI, logic, and services loosely coupled so the app stays manageable as it grows.</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Data binding connects UI properties to view‑model properties, so the UI updates automatically when data changes, without manual UI code. In XAML, you set the </a:t>
            </a:r>
            <a:r>
              <a:rPr lang="en-US" sz="1200" b="0" i="0" kern="1200" dirty="0" err="1">
                <a:solidFill>
                  <a:schemeClr val="tx1"/>
                </a:solidFill>
                <a:effectLst/>
                <a:latin typeface="+mn-lt"/>
                <a:ea typeface="ＭＳ Ｐゴシック" pitchFamily="-72" charset="-128"/>
                <a:cs typeface="ＭＳ Ｐゴシック" pitchFamily="-72" charset="-128"/>
              </a:rPr>
              <a:t>BindingContext</a:t>
            </a:r>
            <a:r>
              <a:rPr lang="en-US" sz="1200" b="0" i="0" kern="1200" dirty="0">
                <a:solidFill>
                  <a:schemeClr val="tx1"/>
                </a:solidFill>
                <a:effectLst/>
                <a:latin typeface="+mn-lt"/>
                <a:ea typeface="ＭＳ Ｐゴシック" pitchFamily="-72" charset="-128"/>
                <a:cs typeface="ＭＳ Ｐゴシック" pitchFamily="-72" charset="-128"/>
              </a:rPr>
              <a:t> and use binding expressions; in code, you call </a:t>
            </a:r>
            <a:r>
              <a:rPr lang="en-US" sz="1200" b="0" i="0" kern="1200" dirty="0" err="1">
                <a:solidFill>
                  <a:schemeClr val="tx1"/>
                </a:solidFill>
                <a:effectLst/>
                <a:latin typeface="+mn-lt"/>
                <a:ea typeface="ＭＳ Ｐゴシック" pitchFamily="-72" charset="-128"/>
                <a:cs typeface="ＭＳ Ｐゴシック" pitchFamily="-72" charset="-128"/>
              </a:rPr>
              <a:t>SetBinding</a:t>
            </a:r>
            <a:r>
              <a:rPr lang="en-US" sz="1200" b="0" i="0" kern="1200" dirty="0">
                <a:solidFill>
                  <a:schemeClr val="tx1"/>
                </a:solidFill>
                <a:effectLst/>
                <a:latin typeface="+mn-lt"/>
                <a:ea typeface="ＭＳ Ｐゴシック" pitchFamily="-72" charset="-128"/>
                <a:cs typeface="ＭＳ Ｐゴシック" pitchFamily="-72" charset="-128"/>
              </a:rPr>
              <a:t>. Compiled bindings (</a:t>
            </a:r>
            <a:r>
              <a:rPr lang="en-US" sz="1200" b="0" i="0" kern="1200" dirty="0" err="1">
                <a:solidFill>
                  <a:schemeClr val="tx1"/>
                </a:solidFill>
                <a:effectLst/>
                <a:latin typeface="+mn-lt"/>
                <a:ea typeface="ＭＳ Ｐゴシック" pitchFamily="-72" charset="-128"/>
                <a:cs typeface="ＭＳ Ｐゴシック" pitchFamily="-72" charset="-128"/>
              </a:rPr>
              <a:t>x:Bind</a:t>
            </a:r>
            <a:r>
              <a:rPr lang="en-US" sz="1200" b="0" i="0" kern="1200" dirty="0">
                <a:solidFill>
                  <a:schemeClr val="tx1"/>
                </a:solidFill>
                <a:effectLst/>
                <a:latin typeface="+mn-lt"/>
                <a:ea typeface="ＭＳ Ｐゴシック" pitchFamily="-72" charset="-128"/>
                <a:cs typeface="ＭＳ Ｐゴシック" pitchFamily="-72" charset="-128"/>
              </a:rPr>
              <a:t>) add type safety and performance.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This reduces boilerplate and keeps your views declarative, which is key for maintainability as screens multiply.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Commands move action logic out of event handlers in the code‑behind into the view model methods. Controls bind to </a:t>
            </a:r>
            <a:r>
              <a:rPr lang="en-US" sz="1200" b="0" i="0" kern="1200" dirty="0" err="1">
                <a:solidFill>
                  <a:schemeClr val="tx1"/>
                </a:solidFill>
                <a:effectLst/>
                <a:latin typeface="+mn-lt"/>
                <a:ea typeface="ＭＳ Ｐゴシック" pitchFamily="-72" charset="-128"/>
                <a:cs typeface="ＭＳ Ｐゴシック" pitchFamily="-72" charset="-128"/>
              </a:rPr>
              <a:t>ICommand</a:t>
            </a:r>
            <a:r>
              <a:rPr lang="en-US" sz="1200" b="0" i="0" kern="1200" dirty="0">
                <a:solidFill>
                  <a:schemeClr val="tx1"/>
                </a:solidFill>
                <a:effectLst/>
                <a:latin typeface="+mn-lt"/>
                <a:ea typeface="ＭＳ Ｐゴシック" pitchFamily="-72" charset="-128"/>
                <a:cs typeface="ＭＳ Ｐゴシック" pitchFamily="-72" charset="-128"/>
              </a:rPr>
              <a:t>, so button clicks, menu actions, and gestures invoke view‑model logic consistently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That makes behaviors easier to test and reuse, and it keeps UI layers thin—exactly what you want as your app grows.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Microsoft Dependency Injection container to register services, view models, and pages. DI removes the need for classes to locate their dependencies and manages lifetimes, which improves testability and maintainability. In a MAUI app, you typically register your services and view models in </a:t>
            </a:r>
            <a:r>
              <a:rPr lang="en-US" sz="1200" b="0" i="0" kern="1200" dirty="0" err="1">
                <a:solidFill>
                  <a:schemeClr val="tx1"/>
                </a:solidFill>
                <a:effectLst/>
                <a:latin typeface="+mn-lt"/>
                <a:ea typeface="ＭＳ Ｐゴシック" pitchFamily="-72" charset="-128"/>
                <a:cs typeface="ＭＳ Ｐゴシック" pitchFamily="-72" charset="-128"/>
              </a:rPr>
              <a:t>MauiProgram.CreateMauiApp</a:t>
            </a:r>
            <a:r>
              <a:rPr lang="en-US" sz="1200" b="0" i="0" kern="1200" dirty="0">
                <a:solidFill>
                  <a:schemeClr val="tx1"/>
                </a:solidFill>
                <a:effectLst/>
                <a:latin typeface="+mn-lt"/>
                <a:ea typeface="ＭＳ Ｐゴシック" pitchFamily="-72" charset="-128"/>
                <a:cs typeface="ＭＳ Ｐゴシック" pitchFamily="-72" charset="-128"/>
              </a:rPr>
              <a:t> with </a:t>
            </a:r>
            <a:r>
              <a:rPr lang="en-US" sz="1200" b="0" i="0" kern="1200" dirty="0" err="1">
                <a:solidFill>
                  <a:schemeClr val="tx1"/>
                </a:solidFill>
                <a:effectLst/>
                <a:latin typeface="+mn-lt"/>
                <a:ea typeface="ＭＳ Ｐゴシック" pitchFamily="-72" charset="-128"/>
                <a:cs typeface="ＭＳ Ｐゴシック" pitchFamily="-72" charset="-128"/>
              </a:rPr>
              <a:t>ConfigureServices</a:t>
            </a:r>
            <a:r>
              <a:rPr lang="en-US" sz="1200" b="0" i="0" kern="1200" dirty="0">
                <a:solidFill>
                  <a:schemeClr val="tx1"/>
                </a:solidFill>
                <a:effectLst/>
                <a:latin typeface="+mn-lt"/>
                <a:ea typeface="ＭＳ Ｐゴシック" pitchFamily="-72" charset="-128"/>
                <a:cs typeface="ＭＳ Ｐゴシック" pitchFamily="-72" charset="-128"/>
              </a:rPr>
              <a:t>, then inject them into constructors.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patterns let teams add features without tight coupling: views stay simple, presentation logic lives in view models, and services and models are faked or mocked easily for testing.</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app and how it uses the MVVM Toolkit.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40732716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part of the MAUI Community Toolkit. </a:t>
            </a:r>
          </a:p>
          <a:p>
            <a:endParaRPr lang="en-US" dirty="0"/>
          </a:p>
          <a:p>
            <a:r>
              <a:rPr lang="en-US" dirty="0"/>
              <a:t>If you or your team aren’t comfortable working with XAML, you can leverage C# Markup to declaratively build your UI entirely in C# with fluent helpers.</a:t>
            </a:r>
          </a:p>
          <a:p>
            <a:endParaRPr lang="en-US" dirty="0"/>
          </a:p>
          <a:p>
            <a:r>
              <a:rPr lang="en-US" dirty="0"/>
              <a:t>Let’s take a look at a simple C# Markup project.</a:t>
            </a:r>
          </a:p>
          <a:p>
            <a:endParaRPr lang="en-US" dirty="0"/>
          </a:p>
          <a:p>
            <a:r>
              <a:rPr lang="en-US" dirty="0"/>
              <a:t>If there’s time, we’ll also open a sample from the GitHub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2469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developer or designers are comfortable with CSS, there is some support for using those styles in your MAUI apps.</a:t>
            </a:r>
          </a:p>
          <a:p>
            <a:endParaRPr lang="en-US" dirty="0"/>
          </a:p>
          <a:p>
            <a:r>
              <a:rPr lang="en-US" dirty="0"/>
              <a:t>This can be a time saver if they aren’t comfortable with XAML styles and allows for sharing some style resources with your web apps.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995527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include the CSS file in your MAUI project and reference those styles in your app’s controls.</a:t>
            </a:r>
          </a:p>
          <a:p>
            <a:endParaRPr lang="en-US" dirty="0"/>
          </a:p>
          <a:p>
            <a:r>
              <a:rPr lang="en-US" dirty="0"/>
              <a:t>Let’s see how that’s done.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39565666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.NET MAUI, you get </a:t>
            </a:r>
            <a:r>
              <a:rPr lang="en-US" sz="1200" b="1" i="0" kern="1200" dirty="0">
                <a:solidFill>
                  <a:schemeClr val="tx1"/>
                </a:solidFill>
                <a:effectLst/>
                <a:latin typeface="+mn-lt"/>
                <a:ea typeface="ＭＳ Ｐゴシック" pitchFamily="-72" charset="-128"/>
                <a:cs typeface="ＭＳ Ｐゴシック" pitchFamily="-72" charset="-128"/>
              </a:rPr>
              <a:t>cross‑platform access to device features</a:t>
            </a:r>
            <a:r>
              <a:rPr lang="en-US" sz="1200" b="0" i="0" kern="1200" dirty="0">
                <a:solidFill>
                  <a:schemeClr val="tx1"/>
                </a:solidFill>
                <a:effectLst/>
                <a:latin typeface="+mn-lt"/>
                <a:ea typeface="ＭＳ Ｐゴシック" pitchFamily="-72" charset="-128"/>
                <a:cs typeface="ＭＳ Ｐゴシック" pitchFamily="-72" charset="-128"/>
              </a:rPr>
              <a:t> in a single shared project. That means the same code can read sensors, check battery/display info, pick files, and more across Windows, macOS, iOS, and Android—without rewriting per platform.</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a:t>
            </a:r>
            <a:r>
              <a:rPr lang="en-US" sz="1200" b="1" i="0" kern="1200" dirty="0" err="1">
                <a:solidFill>
                  <a:schemeClr val="tx1"/>
                </a:solidFill>
                <a:effectLst/>
                <a:latin typeface="+mn-lt"/>
                <a:ea typeface="ＭＳ Ｐゴシック" pitchFamily="-72" charset="-128"/>
                <a:cs typeface="ＭＳ Ｐゴシック" pitchFamily="-72" charset="-128"/>
              </a:rPr>
              <a:t>Microsoft.Maui.Devices.Sensors</a:t>
            </a:r>
            <a:r>
              <a:rPr lang="en-US" sz="1200" b="0" i="0" kern="1200" dirty="0">
                <a:solidFill>
                  <a:schemeClr val="tx1"/>
                </a:solidFill>
                <a:effectLst/>
                <a:latin typeface="+mn-lt"/>
                <a:ea typeface="ＭＳ Ｐゴシック" pitchFamily="-72" charset="-128"/>
                <a:cs typeface="ＭＳ Ｐゴシック" pitchFamily="-72" charset="-128"/>
              </a:rPr>
              <a:t> APIs to read motion and orientation, which is great for fitness, navigation, or context‑aware UI.</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Get the device’s location with </a:t>
            </a:r>
            <a:r>
              <a:rPr lang="en-US" sz="1200" b="1" i="0" kern="1200" dirty="0">
                <a:solidFill>
                  <a:schemeClr val="tx1"/>
                </a:solidFill>
                <a:effectLst/>
                <a:latin typeface="+mn-lt"/>
                <a:ea typeface="ＭＳ Ｐゴシック" pitchFamily="-72" charset="-128"/>
                <a:cs typeface="ＭＳ Ｐゴシック" pitchFamily="-72" charset="-128"/>
              </a:rPr>
              <a:t>Geolocation</a:t>
            </a:r>
            <a:r>
              <a:rPr lang="en-US" sz="1200" b="0" i="0" kern="1200" dirty="0">
                <a:solidFill>
                  <a:schemeClr val="tx1"/>
                </a:solidFill>
                <a:effectLst/>
                <a:latin typeface="+mn-lt"/>
                <a:ea typeface="ＭＳ Ｐゴシック" pitchFamily="-72" charset="-128"/>
                <a:cs typeface="ＭＳ Ｐゴシック" pitchFamily="-72" charset="-128"/>
              </a:rPr>
              <a:t> and translate between coordinates and addresses with </a:t>
            </a:r>
            <a:r>
              <a:rPr lang="en-US" sz="1200" b="1" i="0" kern="1200" dirty="0">
                <a:solidFill>
                  <a:schemeClr val="tx1"/>
                </a:solidFill>
                <a:effectLst/>
                <a:latin typeface="+mn-lt"/>
                <a:ea typeface="ＭＳ Ｐゴシック" pitchFamily="-72" charset="-128"/>
                <a:cs typeface="ＭＳ Ｐゴシック" pitchFamily="-72" charset="-128"/>
              </a:rPr>
              <a:t>Geocoding</a:t>
            </a:r>
            <a:r>
              <a:rPr lang="en-US" sz="1200" b="0" i="0" kern="1200" dirty="0">
                <a:solidFill>
                  <a:schemeClr val="tx1"/>
                </a:solidFill>
                <a:effectLst/>
                <a:latin typeface="+mn-lt"/>
                <a:ea typeface="ＭＳ Ｐゴシック" pitchFamily="-72" charset="-128"/>
                <a:cs typeface="ＭＳ Ｐゴシック" pitchFamily="-72" charset="-128"/>
              </a:rPr>
              <a:t>. These are the same APIs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Check </a:t>
            </a:r>
            <a:r>
              <a:rPr lang="en-US" sz="1200" b="1" i="0" kern="1200" dirty="0">
                <a:solidFill>
                  <a:schemeClr val="tx1"/>
                </a:solidFill>
                <a:effectLst/>
                <a:latin typeface="+mn-lt"/>
                <a:ea typeface="ＭＳ Ｐゴシック" pitchFamily="-72" charset="-128"/>
                <a:cs typeface="ＭＳ Ｐゴシック" pitchFamily="-72" charset="-128"/>
              </a:rPr>
              <a:t>Battery</a:t>
            </a:r>
            <a:r>
              <a:rPr lang="en-US" sz="1200" b="0" i="0" kern="1200" dirty="0">
                <a:solidFill>
                  <a:schemeClr val="tx1"/>
                </a:solidFill>
                <a:effectLst/>
                <a:latin typeface="+mn-lt"/>
                <a:ea typeface="ＭＳ Ｐゴシック" pitchFamily="-72" charset="-128"/>
                <a:cs typeface="ＭＳ Ｐゴシック" pitchFamily="-72" charset="-128"/>
              </a:rPr>
              <a:t> status, </a:t>
            </a:r>
            <a:r>
              <a:rPr lang="en-US" sz="1200" b="1" i="0" kern="1200" dirty="0" err="1">
                <a:solidFill>
                  <a:schemeClr val="tx1"/>
                </a:solidFill>
                <a:effectLst/>
                <a:latin typeface="+mn-lt"/>
                <a:ea typeface="ＭＳ Ｐゴシック" pitchFamily="-72" charset="-128"/>
                <a:cs typeface="ＭＳ Ｐゴシック" pitchFamily="-72" charset="-128"/>
              </a:rPr>
              <a:t>DeviceDisplay</a:t>
            </a:r>
            <a:r>
              <a:rPr lang="en-US" sz="1200" b="0" i="0" kern="1200" dirty="0">
                <a:solidFill>
                  <a:schemeClr val="tx1"/>
                </a:solidFill>
                <a:effectLst/>
                <a:latin typeface="+mn-lt"/>
                <a:ea typeface="ＭＳ Ｐゴシック" pitchFamily="-72" charset="-128"/>
                <a:cs typeface="ＭＳ Ｐゴシック" pitchFamily="-72" charset="-128"/>
              </a:rPr>
              <a:t> metrics (screen size/density), and </a:t>
            </a:r>
            <a:r>
              <a:rPr lang="en-US" sz="1200" b="1" i="0" kern="1200" dirty="0" err="1">
                <a:solidFill>
                  <a:schemeClr val="tx1"/>
                </a:solidFill>
                <a:effectLst/>
                <a:latin typeface="+mn-lt"/>
                <a:ea typeface="ＭＳ Ｐゴシック" pitchFamily="-72" charset="-128"/>
                <a:cs typeface="ＭＳ Ｐゴシック" pitchFamily="-72" charset="-128"/>
              </a:rPr>
              <a:t>DeviceInfo</a:t>
            </a:r>
            <a:r>
              <a:rPr lang="en-US" sz="1200" b="0" i="0" kern="1200" dirty="0">
                <a:solidFill>
                  <a:schemeClr val="tx1"/>
                </a:solidFill>
                <a:effectLst/>
                <a:latin typeface="+mn-lt"/>
                <a:ea typeface="ＭＳ Ｐゴシック" pitchFamily="-72" charset="-128"/>
                <a:cs typeface="ＭＳ Ｐゴシック" pitchFamily="-72" charset="-128"/>
              </a:rPr>
              <a:t> (model, platform, version) to tune layouts, throttling, or feature flags.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Trigger </a:t>
            </a:r>
            <a:r>
              <a:rPr lang="en-US" sz="1200" b="1" i="0" kern="1200" dirty="0" err="1">
                <a:solidFill>
                  <a:schemeClr val="tx1"/>
                </a:solidFill>
                <a:effectLst/>
                <a:latin typeface="+mn-lt"/>
                <a:ea typeface="ＭＳ Ｐゴシック" pitchFamily="-72" charset="-128"/>
                <a:cs typeface="ＭＳ Ｐゴシック" pitchFamily="-72" charset="-128"/>
              </a:rPr>
              <a:t>HapticFeedback</a:t>
            </a:r>
            <a:r>
              <a:rPr lang="en-US" sz="1200" b="0" i="0" kern="1200" dirty="0">
                <a:solidFill>
                  <a:schemeClr val="tx1"/>
                </a:solidFill>
                <a:effectLst/>
                <a:latin typeface="+mn-lt"/>
                <a:ea typeface="ＭＳ Ｐゴシック" pitchFamily="-72" charset="-128"/>
                <a:cs typeface="ＭＳ Ｐゴシック" pitchFamily="-72" charset="-128"/>
              </a:rPr>
              <a:t> or </a:t>
            </a:r>
            <a:r>
              <a:rPr lang="en-US" sz="1200" b="1" i="0" kern="1200" dirty="0">
                <a:solidFill>
                  <a:schemeClr val="tx1"/>
                </a:solidFill>
                <a:effectLst/>
                <a:latin typeface="+mn-lt"/>
                <a:ea typeface="ＭＳ Ｐゴシック" pitchFamily="-72" charset="-128"/>
                <a:cs typeface="ＭＳ Ｐゴシック" pitchFamily="-72" charset="-128"/>
              </a:rPr>
              <a:t>Vibration</a:t>
            </a:r>
            <a:r>
              <a:rPr lang="en-US" sz="1200" b="0" i="0" kern="1200" dirty="0">
                <a:solidFill>
                  <a:schemeClr val="tx1"/>
                </a:solidFill>
                <a:effectLst/>
                <a:latin typeface="+mn-lt"/>
                <a:ea typeface="ＭＳ Ｐゴシック" pitchFamily="-72" charset="-128"/>
                <a:cs typeface="ＭＳ Ｐゴシック" pitchFamily="-72" charset="-128"/>
              </a:rPr>
              <a:t> for tactile responses on supported devices—useful for confirmations or game‑like feedback.</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Control the flashlight with </a:t>
            </a:r>
            <a:r>
              <a:rPr lang="en-US" sz="1200" b="1" i="0" kern="1200" dirty="0">
                <a:solidFill>
                  <a:schemeClr val="tx1"/>
                </a:solidFill>
                <a:effectLst/>
                <a:latin typeface="+mn-lt"/>
                <a:ea typeface="ＭＳ Ｐゴシック" pitchFamily="-72" charset="-128"/>
                <a:cs typeface="ＭＳ Ｐゴシック" pitchFamily="-72" charset="-128"/>
              </a:rPr>
              <a:t>Flashlight</a:t>
            </a:r>
            <a:r>
              <a:rPr lang="en-US" sz="1200" b="0" i="0" kern="1200" dirty="0">
                <a:solidFill>
                  <a:schemeClr val="tx1"/>
                </a:solidFill>
                <a:effectLst/>
                <a:latin typeface="+mn-lt"/>
                <a:ea typeface="ＭＳ Ｐゴシック" pitchFamily="-72" charset="-128"/>
                <a:cs typeface="ＭＳ Ｐゴシック" pitchFamily="-72" charset="-128"/>
              </a:rPr>
              <a:t> and copy/paste with the </a:t>
            </a:r>
            <a:r>
              <a:rPr lang="en-US" sz="1200" b="1" i="0" kern="1200" dirty="0">
                <a:solidFill>
                  <a:schemeClr val="tx1"/>
                </a:solidFill>
                <a:effectLst/>
                <a:latin typeface="+mn-lt"/>
                <a:ea typeface="ＭＳ Ｐゴシック" pitchFamily="-72" charset="-128"/>
                <a:cs typeface="ＭＳ Ｐゴシック" pitchFamily="-72" charset="-128"/>
              </a:rPr>
              <a:t>Clipboard</a:t>
            </a:r>
            <a:r>
              <a:rPr lang="en-US" sz="1200" b="0" i="0" kern="1200" dirty="0">
                <a:solidFill>
                  <a:schemeClr val="tx1"/>
                </a:solidFill>
                <a:effectLst/>
                <a:latin typeface="+mn-lt"/>
                <a:ea typeface="ＭＳ Ｐゴシック" pitchFamily="-72" charset="-128"/>
                <a:cs typeface="ＭＳ Ｐゴシック" pitchFamily="-72" charset="-128"/>
              </a:rPr>
              <a:t> APIs; small but often essential UX pieces.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Pick files with the cross‑platform picker and store secrets with </a:t>
            </a:r>
            <a:r>
              <a:rPr lang="en-US" sz="1200" b="1" i="0" kern="1200" dirty="0" err="1">
                <a:solidFill>
                  <a:schemeClr val="tx1"/>
                </a:solidFill>
                <a:effectLst/>
                <a:latin typeface="+mn-lt"/>
                <a:ea typeface="ＭＳ Ｐゴシック" pitchFamily="-72" charset="-128"/>
                <a:cs typeface="ＭＳ Ｐゴシック" pitchFamily="-72" charset="-128"/>
              </a:rPr>
              <a:t>SecureStorage</a:t>
            </a:r>
            <a:r>
              <a:rPr lang="en-US" sz="1200" b="0" i="0" kern="1200" dirty="0">
                <a:solidFill>
                  <a:schemeClr val="tx1"/>
                </a:solidFill>
                <a:effectLst/>
                <a:latin typeface="+mn-lt"/>
                <a:ea typeface="ＭＳ Ｐゴシック" pitchFamily="-72" charset="-128"/>
                <a:cs typeface="ＭＳ Ｐゴシック" pitchFamily="-72" charset="-128"/>
              </a:rPr>
              <a:t>. You can also check </a:t>
            </a:r>
            <a:r>
              <a:rPr lang="en-US" sz="1200" b="1" i="0" kern="1200" dirty="0" err="1">
                <a:solidFill>
                  <a:schemeClr val="tx1"/>
                </a:solidFill>
                <a:effectLst/>
                <a:latin typeface="+mn-lt"/>
                <a:ea typeface="ＭＳ Ｐゴシック" pitchFamily="-72" charset="-128"/>
                <a:cs typeface="ＭＳ Ｐゴシック" pitchFamily="-72" charset="-128"/>
              </a:rPr>
              <a:t>NetworkAccess</a:t>
            </a:r>
            <a:r>
              <a:rPr lang="en-US" sz="1200" b="0" i="0" kern="1200" dirty="0">
                <a:solidFill>
                  <a:schemeClr val="tx1"/>
                </a:solidFill>
                <a:effectLst/>
                <a:latin typeface="+mn-lt"/>
                <a:ea typeface="ＭＳ Ｐゴシック" pitchFamily="-72" charset="-128"/>
                <a:cs typeface="ＭＳ Ｐゴシック" pitchFamily="-72" charset="-128"/>
              </a:rPr>
              <a:t> to adapt behavior when connectivity changes.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If you do need deeper platform integration, MAUI still lets you call native APIs or use dependency injection to abstract per‑platform services—while keeping your shared code clean.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These unified APIs let you </a:t>
            </a:r>
            <a:r>
              <a:rPr lang="en-US" sz="1200" b="1" i="0" kern="1200" dirty="0">
                <a:solidFill>
                  <a:schemeClr val="tx1"/>
                </a:solidFill>
                <a:effectLst/>
                <a:latin typeface="+mn-lt"/>
                <a:ea typeface="ＭＳ Ｐゴシック" pitchFamily="-72" charset="-128"/>
                <a:cs typeface="ＭＳ Ｐゴシック" pitchFamily="-72" charset="-128"/>
              </a:rPr>
              <a:t>build once, run everywhere</a:t>
            </a:r>
            <a:r>
              <a:rPr lang="en-US" sz="1200" b="0" i="0" kern="1200" dirty="0">
                <a:solidFill>
                  <a:schemeClr val="tx1"/>
                </a:solidFill>
                <a:effectLst/>
                <a:latin typeface="+mn-lt"/>
                <a:ea typeface="ＭＳ Ｐゴシック" pitchFamily="-72" charset="-128"/>
                <a:cs typeface="ＭＳ Ｐゴシック" pitchFamily="-72" charset="-128"/>
              </a:rPr>
              <a:t> while preserving native behavior and performance. You avoid fragmentation and get predictable, maintainable code across desktop and mobile.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project that uses some of these device APIs.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a:t>
            </a:r>
            <a:r>
              <a:rPr lang="en-US" sz="1200" b="1" i="0" kern="1200" dirty="0">
                <a:solidFill>
                  <a:schemeClr val="tx1"/>
                </a:solidFill>
                <a:effectLst/>
                <a:latin typeface="+mn-lt"/>
                <a:ea typeface="ＭＳ Ｐゴシック" pitchFamily="-72" charset="-128"/>
                <a:cs typeface="ＭＳ Ｐゴシック" pitchFamily="-72" charset="-128"/>
              </a:rPr>
              <a:t>Resources and do some Q&amp;A</a:t>
            </a:r>
            <a:r>
              <a:rPr lang="en-US" sz="1200" b="0" i="0" kern="1200" dirty="0">
                <a:solidFill>
                  <a:schemeClr val="tx1"/>
                </a:solidFill>
                <a:effectLst/>
                <a:latin typeface="+mn-lt"/>
                <a:ea typeface="ＭＳ Ｐゴシック" pitchFamily="-72" charset="-128"/>
                <a:cs typeface="ＭＳ Ｐゴシック" pitchFamily="-72" charset="-128"/>
              </a:rPr>
              <a:t>, and I’ll share links for the docs and samples for each of these APIs.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18398853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links you can check out later. All of these slides are up on the Live360 site and my GitHub speaking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14672698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Any questions?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42588093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don’t forget your session surveys.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287363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11/19/2025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11/19/2025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11/19/2025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11/19/2025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11/19/2025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11/19/2025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11/19/2025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11/19/2025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11/19/2025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11/19/2025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11/19/2025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11/19/2025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8" Type="http://schemas.openxmlformats.org/officeDocument/2006/relationships/hyperlink" Target="https://github.com/dotnet/maui-samples" TargetMode="External"/><Relationship Id="rId3" Type="http://schemas.openxmlformats.org/officeDocument/2006/relationships/hyperlink" Target="https://learn.microsoft.com/dotnet/maui/" TargetMode="External"/><Relationship Id="rId7" Type="http://schemas.openxmlformats.org/officeDocument/2006/relationships/hyperlink" Target="https://www.youtube.com/watch?v=SeRGpBR3-3M&amp;list=PLdo4fOcmZ0oX-sL7AFmygVw2A37Hbp8ZS"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hyperlink" Target="https://learn.microsoft.com/training/paths/build-apps-with-dotnet-maui/" TargetMode="External"/><Relationship Id="rId5" Type="http://schemas.openxmlformats.org/officeDocument/2006/relationships/hyperlink" Target="https://learn.microsoft.com/dotnet/maui/get-started/first-app" TargetMode="External"/><Relationship Id="rId4" Type="http://schemas.openxmlformats.org/officeDocument/2006/relationships/hyperlink" Target="https://learn.microsoft.com/dotnet/communitytoolkit/maui/"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259632" y="1144203"/>
            <a:ext cx="7416825"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200" b="1" dirty="0">
                <a:solidFill>
                  <a:schemeClr val="bg1"/>
                </a:solidFill>
                <a:latin typeface="Arial Bold" pitchFamily="-72" charset="0"/>
              </a:rPr>
              <a:t>Create Multi-Platform Apps with .NET MAUI &amp; the MAUI Community Toolkit</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Intermediate</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AB5F3CE1-4D26-D8A6-B21A-DBE9272C19E2}"/>
              </a:ext>
            </a:extLst>
          </p:cNvPr>
          <p:cNvSpPr>
            <a:spLocks noGrp="1"/>
          </p:cNvSpPr>
          <p:nvPr>
            <p:ph idx="1"/>
          </p:nvPr>
        </p:nvSpPr>
        <p:spPr/>
        <p:txBody>
          <a:bodyPr/>
          <a:lstStyle/>
          <a:p>
            <a:r>
              <a:rPr lang="en-US" sz="2000" dirty="0"/>
              <a:t>Software industry for nearly 30 years</a:t>
            </a:r>
          </a:p>
          <a:p>
            <a:pPr lvl="1"/>
            <a:r>
              <a:rPr lang="en-US" sz="1800" dirty="0"/>
              <a:t>Started programming in 1995 (VB 3 &amp; Microsoft Access)</a:t>
            </a:r>
          </a:p>
          <a:p>
            <a:pPr lvl="1"/>
            <a:r>
              <a:rPr lang="en-US" sz="1800" dirty="0"/>
              <a:t>Content developer at Microsoft since 2022</a:t>
            </a:r>
          </a:p>
          <a:p>
            <a:r>
              <a:rPr lang="en-US" sz="2000" dirty="0"/>
              <a:t>Morning Dew link blog</a:t>
            </a:r>
          </a:p>
          <a:p>
            <a:pPr lvl="1"/>
            <a:r>
              <a:rPr lang="en-US" sz="1800" dirty="0"/>
              <a:t>Daily links for .NET developers since 2007</a:t>
            </a:r>
          </a:p>
          <a:p>
            <a:r>
              <a:rPr lang="en-US" sz="2000" dirty="0"/>
              <a:t>Three books for </a:t>
            </a:r>
            <a:r>
              <a:rPr lang="en-US" sz="2000" dirty="0" err="1"/>
              <a:t>Packt</a:t>
            </a:r>
            <a:r>
              <a:rPr lang="en-US" sz="2000" dirty="0"/>
              <a:t> Publishing</a:t>
            </a:r>
          </a:p>
          <a:p>
            <a:pPr lvl="1"/>
            <a:r>
              <a:rPr lang="en-US" sz="1800" dirty="0"/>
              <a:t>Learn WinUI 3 (two editions)</a:t>
            </a:r>
          </a:p>
          <a:p>
            <a:pPr lvl="1"/>
            <a:r>
              <a:rPr lang="en-US" sz="1800" dirty="0"/>
              <a:t>Parallel Programming and Concurrency with C# and .NET</a:t>
            </a:r>
          </a:p>
          <a:p>
            <a:r>
              <a:rPr lang="en-US" sz="2000" dirty="0"/>
              <a:t>TechBash Dev Conference organizer since 2016</a:t>
            </a:r>
          </a:p>
          <a:p>
            <a:pPr lvl="1"/>
            <a:r>
              <a:rPr lang="en-US" sz="1600" dirty="0"/>
              <a:t>TechBash 2026: Oct 13-16 @ Kalahari Resort Poconos</a:t>
            </a:r>
          </a:p>
        </p:txBody>
      </p:sp>
    </p:spTree>
    <p:extLst>
      <p:ext uri="{BB962C8B-B14F-4D97-AF65-F5344CB8AC3E}">
        <p14:creationId xmlns:p14="http://schemas.microsoft.com/office/powerpoint/2010/main" val="1284179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Agenda</a:t>
            </a:r>
          </a:p>
        </p:txBody>
      </p:sp>
      <p:sp>
        <p:nvSpPr>
          <p:cNvPr id="3" name="Content Placeholder 2"/>
          <p:cNvSpPr>
            <a:spLocks noGrp="1"/>
          </p:cNvSpPr>
          <p:nvPr>
            <p:ph idx="1"/>
          </p:nvPr>
        </p:nvSpPr>
        <p:spPr>
          <a:xfrm>
            <a:off x="457200" y="1131590"/>
            <a:ext cx="8229600" cy="3394472"/>
          </a:xfrm>
        </p:spPr>
        <p:txBody>
          <a:bodyPr>
            <a:normAutofit fontScale="70000" lnSpcReduction="20000"/>
          </a:bodyPr>
          <a:lstStyle/>
          <a:p>
            <a:pPr>
              <a:lnSpc>
                <a:spcPct val="100000"/>
              </a:lnSpc>
            </a:pPr>
            <a:r>
              <a:rPr lang="en-US" dirty="0"/>
              <a:t>Introduction to .NET MAUI and Cross-Platform Apps</a:t>
            </a:r>
          </a:p>
          <a:p>
            <a:pPr>
              <a:lnSpc>
                <a:spcPct val="100000"/>
              </a:lnSpc>
            </a:pPr>
            <a:r>
              <a:rPr lang="en-US" dirty="0"/>
              <a:t>Develop on Windows and macOS</a:t>
            </a:r>
          </a:p>
          <a:p>
            <a:pPr>
              <a:lnSpc>
                <a:spcPct val="100000"/>
              </a:lnSpc>
            </a:pPr>
            <a:r>
              <a:rPr lang="en-US" dirty="0"/>
              <a:t>Rapid App Building with XAML, C# &amp; Visual Studio</a:t>
            </a:r>
          </a:p>
          <a:p>
            <a:pPr>
              <a:lnSpc>
                <a:spcPct val="100000"/>
              </a:lnSpc>
            </a:pPr>
            <a:r>
              <a:rPr lang="en-US" dirty="0"/>
              <a:t>Enhance Apps with the .NET MAUI Community Toolkit</a:t>
            </a:r>
          </a:p>
          <a:p>
            <a:pPr>
              <a:lnSpc>
                <a:spcPct val="100000"/>
              </a:lnSpc>
            </a:pPr>
            <a:r>
              <a:rPr lang="en-US" dirty="0"/>
              <a:t>Simplify Your MVVM Architecture with the MVVM Toolkit</a:t>
            </a:r>
          </a:p>
          <a:p>
            <a:pPr>
              <a:lnSpc>
                <a:spcPct val="100000"/>
              </a:lnSpc>
            </a:pPr>
            <a:r>
              <a:rPr lang="en-US" dirty="0"/>
              <a:t>Build your UI in code with C# Markup</a:t>
            </a:r>
          </a:p>
          <a:p>
            <a:pPr>
              <a:lnSpc>
                <a:spcPct val="100000"/>
              </a:lnSpc>
            </a:pPr>
            <a:r>
              <a:rPr lang="en-US" dirty="0"/>
              <a:t>Style Apps with CSS</a:t>
            </a:r>
          </a:p>
          <a:p>
            <a:pPr>
              <a:lnSpc>
                <a:spcPct val="100000"/>
              </a:lnSpc>
            </a:pPr>
            <a:r>
              <a:rPr lang="en-US" dirty="0"/>
              <a:t>Access Platform-Specific Features</a:t>
            </a:r>
          </a:p>
          <a:p>
            <a:pPr>
              <a:lnSpc>
                <a:spcPct val="100000"/>
              </a:lnSpc>
            </a:pPr>
            <a:r>
              <a:rPr lang="en-US" dirty="0"/>
              <a:t>Q&amp;A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p:txBody>
          <a:bodyPr/>
          <a:lstStyle/>
          <a:p>
            <a:r>
              <a:rPr lang="en-US" dirty="0"/>
              <a:t>Benefits of a Single Codebase</a:t>
            </a:r>
          </a:p>
        </p:txBody>
      </p: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p:txBody>
          <a:bodyPr/>
          <a:lstStyle/>
          <a:p>
            <a:r>
              <a:rPr lang="en-US" sz="2400" dirty="0"/>
              <a:t>Reduced maintenance</a:t>
            </a:r>
          </a:p>
          <a:p>
            <a:pPr lvl="1"/>
            <a:r>
              <a:rPr lang="en-US" sz="2000" dirty="0"/>
              <a:t>A single codebase simplifies updates and bug fixes, lowering the time and resources needed for maintenance.</a:t>
            </a:r>
          </a:p>
          <a:p>
            <a:r>
              <a:rPr lang="en-US" sz="2400" dirty="0"/>
              <a:t>Faster development</a:t>
            </a:r>
          </a:p>
          <a:p>
            <a:pPr lvl="1"/>
            <a:r>
              <a:rPr lang="en-US" sz="2000" dirty="0"/>
              <a:t>Developers can build and deploy features faster by writing code once for all platforms.</a:t>
            </a:r>
          </a:p>
          <a:p>
            <a:r>
              <a:rPr lang="en-US" sz="2400" dirty="0"/>
              <a:t>Consistent user experience</a:t>
            </a:r>
          </a:p>
          <a:p>
            <a:pPr lvl="1"/>
            <a:r>
              <a:rPr lang="en-US" sz="2000" dirty="0"/>
              <a:t>Using a unified codebase ensures users enjoy the same experience across devices and operating systems while still providing native performance and look &amp; feel.</a:t>
            </a:r>
          </a:p>
        </p:txBody>
      </p:sp>
    </p:spTree>
    <p:extLst>
      <p:ext uri="{BB962C8B-B14F-4D97-AF65-F5344CB8AC3E}">
        <p14:creationId xmlns:p14="http://schemas.microsoft.com/office/powerpoint/2010/main" val="14395713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p:txBody>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lstStyle/>
          <a:p>
            <a:r>
              <a:rPr lang="en-US" sz="1800" dirty="0"/>
              <a:t>Language</a:t>
            </a:r>
          </a:p>
          <a:p>
            <a:pPr lvl="1"/>
            <a:r>
              <a:rPr lang="en-US" sz="1600" dirty="0"/>
              <a:t>Ideal choice for .NET developers. Frameworks like Flutter and React Native require other technical expertise.</a:t>
            </a:r>
          </a:p>
          <a:p>
            <a:r>
              <a:rPr lang="en-US" sz="1800" dirty="0"/>
              <a:t>Enhanced Performance</a:t>
            </a:r>
          </a:p>
          <a:p>
            <a:pPr lvl="1"/>
            <a:r>
              <a:rPr lang="en-US" sz="1600" dirty="0"/>
              <a:t>Enables faster and more efficient app execution compared to PWAs or React Native.</a:t>
            </a:r>
          </a:p>
          <a:p>
            <a:r>
              <a:rPr lang="en-US" sz="1800" dirty="0"/>
              <a:t>Community and Ecosystem</a:t>
            </a:r>
          </a:p>
          <a:p>
            <a:pPr lvl="1"/>
            <a:r>
              <a:rPr lang="en-US" sz="1600" dirty="0"/>
              <a:t>Puts Microsoft in your corner.</a:t>
            </a:r>
          </a:p>
          <a:p>
            <a:pPr lvl="1"/>
            <a:r>
              <a:rPr lang="en-US" sz="1600" dirty="0"/>
              <a:t>3</a:t>
            </a:r>
            <a:r>
              <a:rPr lang="en-US" sz="1600" baseline="30000" dirty="0"/>
              <a:t>rd </a:t>
            </a:r>
            <a:r>
              <a:rPr lang="en-US" sz="1600" dirty="0"/>
              <a:t>party libraries &amp; controls are available but not required for building rich, performant apps.</a:t>
            </a:r>
          </a:p>
          <a:p>
            <a:pPr lvl="1"/>
            <a:r>
              <a:rPr lang="en-US" sz="1600" dirty="0"/>
              <a:t>.NET MAUI Community Toolkit &amp;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p:txBody>
          <a:bodyPr/>
          <a:lstStyle/>
          <a:p>
            <a:r>
              <a:rPr lang="en-US" dirty="0"/>
              <a:t>IDEs and Tools</a:t>
            </a:r>
          </a:p>
        </p:txBody>
      </p: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a:xfrm>
            <a:off x="457200" y="1200150"/>
            <a:ext cx="8229600" cy="3603847"/>
          </a:xfrm>
        </p:spPr>
        <p:txBody>
          <a:bodyPr/>
          <a:lstStyle/>
          <a:p>
            <a:r>
              <a:rPr lang="en-US" sz="2000" dirty="0"/>
              <a:t>Primary IDEs</a:t>
            </a:r>
          </a:p>
          <a:p>
            <a:pPr lvl="1"/>
            <a:r>
              <a:rPr lang="en-US" sz="1800" dirty="0"/>
              <a:t>Visual Studio on Windows</a:t>
            </a:r>
          </a:p>
          <a:p>
            <a:pPr lvl="1"/>
            <a:r>
              <a:rPr lang="en-US" sz="1800" dirty="0"/>
              <a:t>VS Code on Windows and macOS</a:t>
            </a:r>
          </a:p>
          <a:p>
            <a:r>
              <a:rPr lang="en-US" sz="2000" dirty="0"/>
              <a:t>Supporting Tools &amp; Libraries</a:t>
            </a:r>
          </a:p>
          <a:p>
            <a:pPr lvl="1"/>
            <a:r>
              <a:rPr lang="en-US" sz="1800" dirty="0"/>
              <a:t>Assistants like GitHub Copilot and CLI tools complement the primary IDEs.</a:t>
            </a:r>
          </a:p>
          <a:p>
            <a:pPr lvl="1"/>
            <a:r>
              <a:rPr lang="en-US" sz="1800" dirty="0"/>
              <a:t>.NET MAUI Community Toolkit - open-source controls &amp; helpers.</a:t>
            </a:r>
          </a:p>
          <a:p>
            <a:r>
              <a:rPr lang="en-US" sz="2000" dirty="0"/>
              <a:t>3</a:t>
            </a:r>
            <a:r>
              <a:rPr lang="en-US" sz="2000" baseline="30000" dirty="0"/>
              <a:t>rd</a:t>
            </a:r>
            <a:r>
              <a:rPr lang="en-US" sz="2000" dirty="0"/>
              <a:t> Party Options</a:t>
            </a:r>
          </a:p>
          <a:p>
            <a:pPr lvl="1"/>
            <a:r>
              <a:rPr lang="en-US" sz="1800" dirty="0"/>
              <a:t>JetBrains Rider – Powerful IDE on both Windows and macOS.</a:t>
            </a:r>
          </a:p>
          <a:p>
            <a:pPr lvl="1"/>
            <a:r>
              <a:rPr lang="en-US" sz="1800" dirty="0"/>
              <a:t>Rich control sets from Progress, </a:t>
            </a:r>
            <a:r>
              <a:rPr lang="en-US" sz="1800" dirty="0" err="1"/>
              <a:t>Syncfusion</a:t>
            </a:r>
            <a:r>
              <a:rPr lang="en-US" sz="1800" dirty="0"/>
              <a:t>, and others.</a:t>
            </a:r>
          </a:p>
        </p:txBody>
      </p:sp>
    </p:spTree>
    <p:extLst>
      <p:ext uri="{BB962C8B-B14F-4D97-AF65-F5344CB8AC3E}">
        <p14:creationId xmlns:p14="http://schemas.microsoft.com/office/powerpoint/2010/main" val="2352557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p:txBody>
          <a:bodyPr/>
          <a:lstStyle/>
          <a:p>
            <a:r>
              <a:rPr lang="en-US" sz="4000" dirty="0"/>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a:xfrm>
            <a:off x="457200" y="1200150"/>
            <a:ext cx="8229600" cy="3531839"/>
          </a:xfrm>
        </p:spPr>
        <p:txBody>
          <a:bodyPr/>
          <a:lstStyle/>
          <a:p>
            <a:r>
              <a:rPr lang="en-US" sz="2400" dirty="0"/>
              <a:t>Debugging Tools</a:t>
            </a:r>
          </a:p>
          <a:p>
            <a:pPr lvl="1"/>
            <a:r>
              <a:rPr lang="en-US" sz="2000" dirty="0"/>
              <a:t>Use debugging tools like XAML Hot Reload, Live Visual Tree, and Visual Studio’s Binding Failures window to identify and fix issues effectively during development across platforms.</a:t>
            </a:r>
          </a:p>
          <a:p>
            <a:r>
              <a:rPr lang="en-US" sz="2400" dirty="0"/>
              <a:t>Simulators and Emulators</a:t>
            </a:r>
          </a:p>
          <a:p>
            <a:pPr lvl="1"/>
            <a:r>
              <a:rPr lang="en-US" sz="2000" dirty="0"/>
              <a:t>Emulators for Android and iOS simulators replicate supported platforms, enabling real-time testing without physical devices.</a:t>
            </a:r>
          </a:p>
          <a:p>
            <a:pPr lvl="2"/>
            <a:r>
              <a:rPr lang="en-US" sz="1600" dirty="0"/>
              <a:t>Connect to a Mac from Visual Studio on Windows to debug iOS apps from your favorite IDE.</a:t>
            </a:r>
          </a:p>
          <a:p>
            <a:r>
              <a:rPr lang="en-US" sz="2400" dirty="0"/>
              <a:t>Debug on your iOS &amp; Android devices</a:t>
            </a:r>
          </a:p>
        </p:txBody>
      </p:sp>
    </p:spTree>
    <p:extLst>
      <p:ext uri="{BB962C8B-B14F-4D97-AF65-F5344CB8AC3E}">
        <p14:creationId xmlns:p14="http://schemas.microsoft.com/office/powerpoint/2010/main" val="42189317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p:txBody>
          <a:bodyPr/>
          <a:lstStyle/>
          <a:p>
            <a:r>
              <a:rPr lang="en-US" dirty="0"/>
              <a:t>Productivity Tips</a:t>
            </a:r>
          </a:p>
        </p:txBody>
      </p: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p:txBody>
          <a:bodyPr/>
          <a:lstStyle/>
          <a:p>
            <a:r>
              <a:rPr lang="en-US" sz="2400" dirty="0"/>
              <a:t>Hot Reload Feature</a:t>
            </a:r>
          </a:p>
          <a:p>
            <a:pPr lvl="1"/>
            <a:r>
              <a:rPr lang="en-US" sz="2000" dirty="0"/>
              <a:t>XAML Hot Reload &amp; .NET Hot Reload enable instant code and markup changes, speeding up development &amp; reducing testing time.</a:t>
            </a:r>
          </a:p>
          <a:p>
            <a:r>
              <a:rPr lang="en-US" sz="2400" dirty="0"/>
              <a:t>Use of Templates</a:t>
            </a:r>
          </a:p>
          <a:p>
            <a:pPr lvl="1"/>
            <a:r>
              <a:rPr lang="en-US" sz="2000" dirty="0"/>
              <a:t>Project and file templates provide reusable structures, enhancing consistency &amp; saving time coding.</a:t>
            </a:r>
          </a:p>
          <a:p>
            <a:r>
              <a:rPr lang="en-US" sz="2400" dirty="0"/>
              <a:t>Extensions for Quality</a:t>
            </a:r>
          </a:p>
          <a:p>
            <a:pPr lvl="1"/>
            <a:r>
              <a:rPr lang="en-US" sz="2000" dirty="0"/>
              <a:t>Visual Studio &amp; VS Code extensions add functionality &amp; help maintain high code quality.</a:t>
            </a:r>
          </a:p>
        </p:txBody>
      </p:sp>
    </p:spTree>
    <p:extLst>
      <p:ext uri="{BB962C8B-B14F-4D97-AF65-F5344CB8AC3E}">
        <p14:creationId xmlns:p14="http://schemas.microsoft.com/office/powerpoint/2010/main" val="2695737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106314"/>
            <a:ext cx="4038600" cy="2905596"/>
          </a:xfrm>
        </p:spPr>
        <p:txBody>
          <a:bodyPr/>
          <a:lstStyle/>
          <a:p>
            <a:r>
              <a:rPr lang="en-US" sz="2400" dirty="0"/>
              <a:t>XAML markup for clear &amp; declarative UI design when building responsive UIs.</a:t>
            </a:r>
          </a:p>
          <a:p>
            <a:r>
              <a:rPr lang="en-US" sz="2400" dirty="0"/>
              <a:t>Code behind in C#</a:t>
            </a:r>
          </a:p>
          <a:p>
            <a:r>
              <a:rPr lang="en-US" sz="2400" dirty="0"/>
              <a:t>Separation of concerns with MVVM</a:t>
            </a:r>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106314"/>
            <a:ext cx="4038600" cy="2545556"/>
          </a:xfrm>
        </p:spPr>
        <p:txBody>
          <a:bodyPr/>
          <a:lstStyle/>
          <a:p>
            <a:r>
              <a:rPr lang="en-US" sz="2400" dirty="0"/>
              <a:t>Create UI in code with C# Markup</a:t>
            </a:r>
          </a:p>
          <a:p>
            <a:r>
              <a:rPr lang="en-US" sz="2400" dirty="0"/>
              <a:t>MVU pattern for robust apps</a:t>
            </a:r>
          </a:p>
          <a:p>
            <a:r>
              <a:rPr lang="en-US" sz="2400" dirty="0"/>
              <a:t>No XAML learning curve</a:t>
            </a:r>
          </a:p>
        </p:txBody>
      </p:sp>
      <p:sp>
        <p:nvSpPr>
          <p:cNvPr id="5" name="TextBox 4">
            <a:extLst>
              <a:ext uri="{FF2B5EF4-FFF2-40B4-BE49-F238E27FC236}">
                <a16:creationId xmlns:a16="http://schemas.microsoft.com/office/drawing/2014/main" id="{292D282D-D94A-E098-3A0D-BD10A5374527}"/>
              </a:ext>
            </a:extLst>
          </p:cNvPr>
          <p:cNvSpPr txBox="1"/>
          <p:nvPr/>
        </p:nvSpPr>
        <p:spPr>
          <a:xfrm>
            <a:off x="457200" y="4054995"/>
            <a:ext cx="6842771" cy="461665"/>
          </a:xfrm>
          <a:prstGeom prst="rect">
            <a:avLst/>
          </a:prstGeom>
          <a:noFill/>
        </p:spPr>
        <p:txBody>
          <a:bodyPr wrap="none" rtlCol="0">
            <a:spAutoFit/>
          </a:bodyPr>
          <a:lstStyle/>
          <a:p>
            <a:pPr marL="342900" indent="-342900">
              <a:buFont typeface="Arial" panose="020B0604020202020204" pitchFamily="34" charset="0"/>
              <a:buChar char="•"/>
            </a:pPr>
            <a:r>
              <a:rPr lang="en-US" sz="2400" dirty="0"/>
              <a:t>Demo: Build apps in Visual Studio or VS Code</a:t>
            </a:r>
          </a:p>
        </p:txBody>
      </p:sp>
    </p:spTree>
    <p:extLst>
      <p:ext uri="{BB962C8B-B14F-4D97-AF65-F5344CB8AC3E}">
        <p14:creationId xmlns:p14="http://schemas.microsoft.com/office/powerpoint/2010/main" val="38413706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p:txBody>
          <a:bodyPr/>
          <a:lstStyle/>
          <a:p>
            <a:r>
              <a:rPr lang="en-US" dirty="0"/>
              <a:t>MAUI Toolkit Overview</a:t>
            </a:r>
          </a:p>
        </p:txBody>
      </p: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p:txBody>
          <a:bodyPr/>
          <a:lstStyle/>
          <a:p>
            <a:r>
              <a:rPr lang="en-US" sz="2000" dirty="0"/>
              <a:t>Reusable UI Components</a:t>
            </a:r>
          </a:p>
          <a:p>
            <a:pPr lvl="1"/>
            <a:r>
              <a:rPr lang="en-US" sz="1600" dirty="0"/>
              <a:t>Microsoft’s Community Toolkits provide reusable components that speed up UI development and maintain consistency.</a:t>
            </a:r>
          </a:p>
          <a:p>
            <a:r>
              <a:rPr lang="en-US" sz="2000" dirty="0"/>
              <a:t>Functionality Enhancements</a:t>
            </a:r>
          </a:p>
          <a:p>
            <a:pPr lvl="1"/>
            <a:r>
              <a:rPr lang="en-US" sz="1600" dirty="0"/>
              <a:t>Extensions, converters &amp; animations add new features that extend the capabilities of existing UI elements.</a:t>
            </a:r>
          </a:p>
          <a:p>
            <a:r>
              <a:rPr lang="en-US" sz="2000" dirty="0"/>
              <a:t>Improved Responsiveness</a:t>
            </a:r>
          </a:p>
          <a:p>
            <a:pPr lvl="1"/>
            <a:r>
              <a:rPr lang="en-US" sz="1600" dirty="0"/>
              <a:t>Behaviors improve app responsiveness by managing user interactions smoothly.</a:t>
            </a:r>
          </a:p>
          <a:p>
            <a:r>
              <a:rPr lang="en-US" sz="2000" dirty="0"/>
              <a:t>Demo</a:t>
            </a:r>
          </a:p>
          <a:p>
            <a:pPr lvl="1"/>
            <a:r>
              <a:rPr lang="en-US" sz="1600" dirty="0"/>
              <a:t>Toolkit docs on Microsoft Learn &amp; GitHub samples</a:t>
            </a:r>
          </a:p>
          <a:p>
            <a:pPr lvl="1"/>
            <a:r>
              <a:rPr lang="en-US" sz="1600" dirty="0"/>
              <a:t>Using the Community Toolkit in your apps</a:t>
            </a:r>
          </a:p>
        </p:txBody>
      </p:sp>
    </p:spTree>
    <p:extLst>
      <p:ext uri="{BB962C8B-B14F-4D97-AF65-F5344CB8AC3E}">
        <p14:creationId xmlns:p14="http://schemas.microsoft.com/office/powerpoint/2010/main" val="27022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457200" y="205979"/>
            <a:ext cx="8229600" cy="857250"/>
          </a:xfrm>
        </p:spPr>
        <p:txBody>
          <a:bodyPr wrap="square" anchor="ctr">
            <a:normAutofit/>
          </a:bodyPr>
          <a:lstStyle/>
          <a:p>
            <a:r>
              <a:rPr lang="en-US" dirty="0"/>
              <a:t>MVVM in MAUI Apps</a:t>
            </a:r>
          </a:p>
        </p:txBody>
      </p:sp>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457200" y="961629"/>
            <a:ext cx="4038600" cy="3975892"/>
          </a:xfrm>
        </p:spPr>
        <p:txBody>
          <a:bodyPr/>
          <a:lstStyle/>
          <a:p>
            <a:r>
              <a:rPr lang="en-US" sz="2000" dirty="0"/>
              <a:t>Separation of Concerns</a:t>
            </a:r>
          </a:p>
          <a:p>
            <a:pPr lvl="1"/>
            <a:r>
              <a:rPr lang="en-US" sz="1800" dirty="0"/>
              <a:t>MVVM separates UI from business logic for cleaner &amp; modular code design.</a:t>
            </a:r>
          </a:p>
          <a:p>
            <a:r>
              <a:rPr lang="en-US" sz="2000" dirty="0"/>
              <a:t>Improved Code Organization</a:t>
            </a:r>
          </a:p>
          <a:p>
            <a:pPr lvl="1"/>
            <a:r>
              <a:rPr lang="en-US" sz="1800" dirty="0"/>
              <a:t>Using MVVM enhances code maintainability and organization in .NET MAUI applications.</a:t>
            </a:r>
          </a:p>
          <a:p>
            <a:r>
              <a:rPr lang="en-US" sz="2000" dirty="0"/>
              <a:t>Easier Testing</a:t>
            </a:r>
          </a:p>
          <a:p>
            <a:pPr lvl="1"/>
            <a:r>
              <a:rPr lang="en-US" sz="1800" dirty="0"/>
              <a:t>MVVM facilitates unit testing by isolating business logic from UI elements.</a:t>
            </a:r>
          </a:p>
        </p:txBody>
      </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p:blipFill>
        <p:spPr>
          <a:xfrm>
            <a:off x="5094514" y="900114"/>
            <a:ext cx="3570163" cy="3570163"/>
          </a:xfrm>
          <a:prstGeom prst="rect">
            <a:avLst/>
          </a:prstGeom>
          <a:noFill/>
        </p:spPr>
      </p:pic>
    </p:spTree>
    <p:extLst>
      <p:ext uri="{BB962C8B-B14F-4D97-AF65-F5344CB8AC3E}">
        <p14:creationId xmlns:p14="http://schemas.microsoft.com/office/powerpoint/2010/main" val="1977826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p:txBody>
          <a:bodyPr/>
          <a:lstStyle/>
          <a:p>
            <a:r>
              <a:rPr lang="en-US" sz="3200" dirty="0"/>
              <a:t>Reduce Boilerplate with MVVM Toolkit</a:t>
            </a:r>
          </a:p>
        </p:txBody>
      </p:sp>
      <p:sp>
        <p:nvSpPr>
          <p:cNvPr id="3" name="Content Placeholder 2">
            <a:extLst>
              <a:ext uri="{FF2B5EF4-FFF2-40B4-BE49-F238E27FC236}">
                <a16:creationId xmlns:a16="http://schemas.microsoft.com/office/drawing/2014/main" id="{8783D2A2-698A-90EF-56DD-A6901B6D9F64}"/>
              </a:ext>
            </a:extLst>
          </p:cNvPr>
          <p:cNvSpPr>
            <a:spLocks noGrp="1"/>
          </p:cNvSpPr>
          <p:nvPr>
            <p:ph idx="1"/>
          </p:nvPr>
        </p:nvSpPr>
        <p:spPr/>
        <p:txBody>
          <a:bodyPr/>
          <a:lstStyle/>
          <a:p>
            <a:r>
              <a:rPr lang="en-US" dirty="0"/>
              <a:t>Minimizing Repetitive Code</a:t>
            </a:r>
          </a:p>
          <a:p>
            <a:pPr lvl="1"/>
            <a:r>
              <a:rPr lang="en-US" dirty="0"/>
              <a:t>Base classes designed to reduce repetitive coding tasks efficiently.</a:t>
            </a:r>
          </a:p>
          <a:p>
            <a:r>
              <a:rPr lang="en-US" dirty="0"/>
              <a:t>Streamlining Development</a:t>
            </a:r>
          </a:p>
          <a:p>
            <a:pPr lvl="1"/>
            <a:r>
              <a:rPr lang="en-US" dirty="0"/>
              <a:t>Helpers in the toolkit streamline the development process, enhancing productivity &amp; maintainability.</a:t>
            </a:r>
          </a:p>
        </p:txBody>
      </p:sp>
    </p:spTree>
    <p:extLst>
      <p:ext uri="{BB962C8B-B14F-4D97-AF65-F5344CB8AC3E}">
        <p14:creationId xmlns:p14="http://schemas.microsoft.com/office/powerpoint/2010/main" val="2671546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p:txBody>
          <a:bodyPr/>
          <a:lstStyle/>
          <a:p>
            <a:r>
              <a:rPr lang="en-US" dirty="0"/>
              <a:t>Build Scalable Apps</a:t>
            </a:r>
          </a:p>
        </p:txBody>
      </p: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p:txBody>
          <a:bodyPr/>
          <a:lstStyle/>
          <a:p>
            <a:r>
              <a:rPr lang="en-US" sz="2400" dirty="0"/>
              <a:t>Data Binding</a:t>
            </a:r>
          </a:p>
          <a:p>
            <a:pPr lvl="1"/>
            <a:r>
              <a:rPr lang="en-US" sz="2000" dirty="0"/>
              <a:t>Use data binding to synchronize UI and data models efficiently, enhancing app responsiveness and maintainability.</a:t>
            </a:r>
          </a:p>
          <a:p>
            <a:r>
              <a:rPr lang="en-US" sz="2400" dirty="0"/>
              <a:t>Commands</a:t>
            </a:r>
          </a:p>
          <a:p>
            <a:pPr lvl="1"/>
            <a:r>
              <a:rPr lang="en-US" sz="2000" dirty="0"/>
              <a:t>Apply command patterns to encapsulate requests as objects, facilitating flexible and reusable code.</a:t>
            </a:r>
          </a:p>
          <a:p>
            <a:r>
              <a:rPr lang="en-US" sz="2400" dirty="0"/>
              <a:t>Dependency Injection</a:t>
            </a:r>
          </a:p>
          <a:p>
            <a:pPr lvl="1"/>
            <a:r>
              <a:rPr lang="en-US" sz="2000" dirty="0"/>
              <a:t>Use dependency injection to manage component dependencies, promoting modular and testable code architecture.</a:t>
            </a:r>
          </a:p>
          <a:p>
            <a:r>
              <a:rPr lang="en-US" sz="2400" dirty="0"/>
              <a:t>Demo – Use the MVVM Toolkit in Your Project</a:t>
            </a:r>
          </a:p>
        </p:txBody>
      </p:sp>
    </p:spTree>
    <p:extLst>
      <p:ext uri="{BB962C8B-B14F-4D97-AF65-F5344CB8AC3E}">
        <p14:creationId xmlns:p14="http://schemas.microsoft.com/office/powerpoint/2010/main" val="24017194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C# Markup</a:t>
            </a:r>
          </a:p>
        </p:txBody>
      </p:sp>
      <p:sp>
        <p:nvSpPr>
          <p:cNvPr id="3" name="Content Placeholder 2">
            <a:extLst>
              <a:ext uri="{FF2B5EF4-FFF2-40B4-BE49-F238E27FC236}">
                <a16:creationId xmlns:a16="http://schemas.microsoft.com/office/drawing/2014/main" id="{4A8EBCF9-1D7C-D137-565C-8432953AC8E0}"/>
              </a:ext>
            </a:extLst>
          </p:cNvPr>
          <p:cNvSpPr>
            <a:spLocks noGrp="1"/>
          </p:cNvSpPr>
          <p:nvPr>
            <p:ph idx="1"/>
          </p:nvPr>
        </p:nvSpPr>
        <p:spPr/>
        <p:txBody>
          <a:bodyPr/>
          <a:lstStyle/>
          <a:p>
            <a:r>
              <a:rPr lang="en-US" sz="2400" dirty="0"/>
              <a:t>Programmatic UI Creation</a:t>
            </a:r>
          </a:p>
          <a:p>
            <a:pPr lvl="1"/>
            <a:r>
              <a:rPr lang="en-US" sz="2000" dirty="0"/>
              <a:t>Create and modify user interface elements using C# markup programmatically.</a:t>
            </a:r>
          </a:p>
          <a:p>
            <a:r>
              <a:rPr lang="en-US" sz="2400" dirty="0"/>
              <a:t>Improved Code Reuse</a:t>
            </a:r>
          </a:p>
          <a:p>
            <a:pPr lvl="1"/>
            <a:r>
              <a:rPr lang="en-US" sz="2000" dirty="0"/>
              <a:t>Enhance code reuse by allowing modular UI components to be managed efficiently.</a:t>
            </a:r>
          </a:p>
          <a:p>
            <a:r>
              <a:rPr lang="en-US" sz="2400" dirty="0"/>
              <a:t>Reduced Context Switching</a:t>
            </a:r>
          </a:p>
          <a:p>
            <a:pPr lvl="1"/>
            <a:r>
              <a:rPr lang="en-US" sz="2000" dirty="0"/>
              <a:t>Using C# markup reduces context switching between design and code environments for developers.</a:t>
            </a:r>
          </a:p>
          <a:p>
            <a:r>
              <a:rPr lang="en-US" sz="2400" dirty="0"/>
              <a:t>Demo – Create a Project w/ C# Markup</a:t>
            </a:r>
          </a:p>
        </p:txBody>
      </p:sp>
    </p:spTree>
    <p:extLst>
      <p:ext uri="{BB962C8B-B14F-4D97-AF65-F5344CB8AC3E}">
        <p14:creationId xmlns:p14="http://schemas.microsoft.com/office/powerpoint/2010/main" val="395753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 with CSS</a:t>
            </a:r>
          </a:p>
        </p:txBody>
      </p:sp>
      <p:sp>
        <p:nvSpPr>
          <p:cNvPr id="3" name="Content Placeholder 2">
            <a:extLst>
              <a:ext uri="{FF2B5EF4-FFF2-40B4-BE49-F238E27FC236}">
                <a16:creationId xmlns:a16="http://schemas.microsoft.com/office/drawing/2014/main" id="{79D1EBE5-468E-9B83-5271-27054A5B7892}"/>
              </a:ext>
            </a:extLst>
          </p:cNvPr>
          <p:cNvSpPr>
            <a:spLocks noGrp="1"/>
          </p:cNvSpPr>
          <p:nvPr>
            <p:ph idx="1"/>
          </p:nvPr>
        </p:nvSpPr>
        <p:spPr/>
        <p:txBody>
          <a:bodyPr/>
          <a:lstStyle/>
          <a:p>
            <a:r>
              <a:rPr lang="en-US" sz="2400" dirty="0"/>
              <a:t>Leverage Web Development Skills</a:t>
            </a:r>
          </a:p>
          <a:p>
            <a:pPr lvl="1"/>
            <a:r>
              <a:rPr lang="en-US" sz="2000" dirty="0"/>
              <a:t>Utilize your existing web dev knowledge to efficiently style MAUI applications.</a:t>
            </a:r>
          </a:p>
          <a:p>
            <a:r>
              <a:rPr lang="en-US" sz="2400" dirty="0"/>
              <a:t>Save Development Time</a:t>
            </a:r>
          </a:p>
          <a:p>
            <a:pPr lvl="1"/>
            <a:r>
              <a:rPr lang="en-US" sz="2000" dirty="0"/>
              <a:t>Reusing web assets reduces styling time, accelerating app development &amp; deployment.</a:t>
            </a:r>
          </a:p>
          <a:p>
            <a:r>
              <a:rPr lang="en-US" sz="2400" dirty="0"/>
              <a:t>Maintain Brand Consistency</a:t>
            </a:r>
          </a:p>
          <a:p>
            <a:pPr lvl="1"/>
            <a:r>
              <a:rPr lang="en-US" sz="2000" dirty="0"/>
              <a:t>Consistent styling across web &amp; MAUI apps ensures strong &amp; uniform brand identity.</a:t>
            </a:r>
          </a:p>
        </p:txBody>
      </p:sp>
    </p:spTree>
    <p:extLst>
      <p:ext uri="{BB962C8B-B14F-4D97-AF65-F5344CB8AC3E}">
        <p14:creationId xmlns:p14="http://schemas.microsoft.com/office/powerpoint/2010/main" val="6644510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p:txBody>
          <a:bodyPr/>
          <a:lstStyle/>
          <a:p>
            <a:r>
              <a:rPr lang="en-US" dirty="0"/>
              <a:t>Using CSS in MAUI Projects</a:t>
            </a:r>
          </a:p>
        </p:txBody>
      </p: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p:txBody>
          <a:bodyPr/>
          <a:lstStyle/>
          <a:p>
            <a:r>
              <a:rPr lang="en-US" sz="2800" dirty="0"/>
              <a:t>Including CSS Files</a:t>
            </a:r>
          </a:p>
          <a:p>
            <a:pPr lvl="1"/>
            <a:r>
              <a:rPr lang="en-US" sz="2400" dirty="0"/>
              <a:t>Add CSS files to a MAUI project to manage styles separately from code and XAML.</a:t>
            </a:r>
          </a:p>
          <a:p>
            <a:r>
              <a:rPr lang="en-US" sz="2800" dirty="0"/>
              <a:t>Applying Styles to Controls</a:t>
            </a:r>
          </a:p>
          <a:p>
            <a:pPr lvl="1"/>
            <a:r>
              <a:rPr lang="en-US" sz="2400" dirty="0"/>
              <a:t>Apply CSS styles to UI controls for a clear separation between design &amp; app logic.</a:t>
            </a:r>
          </a:p>
          <a:p>
            <a:r>
              <a:rPr lang="en-US" sz="2800" dirty="0"/>
              <a:t>Demo – CSS in .NET MAUI projects</a:t>
            </a:r>
          </a:p>
        </p:txBody>
      </p:sp>
    </p:spTree>
    <p:extLst>
      <p:ext uri="{BB962C8B-B14F-4D97-AF65-F5344CB8AC3E}">
        <p14:creationId xmlns:p14="http://schemas.microsoft.com/office/powerpoint/2010/main" val="408002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Device-Specific Features</a:t>
            </a:r>
          </a:p>
        </p:txBody>
      </p:sp>
      <p:sp>
        <p:nvSpPr>
          <p:cNvPr id="3" name="Content Placeholder 2">
            <a:extLst>
              <a:ext uri="{FF2B5EF4-FFF2-40B4-BE49-F238E27FC236}">
                <a16:creationId xmlns:a16="http://schemas.microsoft.com/office/drawing/2014/main" id="{E2E327F2-1877-58ED-96AD-EB72AA06A008}"/>
              </a:ext>
            </a:extLst>
          </p:cNvPr>
          <p:cNvSpPr>
            <a:spLocks noGrp="1"/>
          </p:cNvSpPr>
          <p:nvPr>
            <p:ph idx="1"/>
          </p:nvPr>
        </p:nvSpPr>
        <p:spPr/>
        <p:txBody>
          <a:bodyPr/>
          <a:lstStyle/>
          <a:p>
            <a:r>
              <a:rPr lang="en-US" sz="2000" dirty="0"/>
              <a:t>Unified API Access</a:t>
            </a:r>
          </a:p>
          <a:p>
            <a:pPr lvl="1"/>
            <a:r>
              <a:rPr lang="en-US" sz="1800" dirty="0"/>
              <a:t>Unified APIs simplify device feature access across multiple device platforms.</a:t>
            </a:r>
          </a:p>
          <a:p>
            <a:r>
              <a:rPr lang="en-US" sz="2000" dirty="0"/>
              <a:t>Sensors Integration</a:t>
            </a:r>
          </a:p>
          <a:p>
            <a:pPr lvl="1"/>
            <a:r>
              <a:rPr lang="en-US" sz="1800" dirty="0"/>
              <a:t>APIs enable consistent access to device sensors like accelerometers &amp; gyroscopes.</a:t>
            </a:r>
          </a:p>
          <a:p>
            <a:r>
              <a:rPr lang="en-US" sz="2000" dirty="0"/>
              <a:t>Camera and Storage</a:t>
            </a:r>
          </a:p>
          <a:p>
            <a:pPr lvl="1"/>
            <a:r>
              <a:rPr lang="en-US" sz="1800" dirty="0"/>
              <a:t>Support for camera use &amp; file management is streamlined via unified APIs.</a:t>
            </a:r>
          </a:p>
          <a:p>
            <a:r>
              <a:rPr lang="en-US" sz="2000" dirty="0"/>
              <a:t>Demo – View the Device Platform docs and sample project</a:t>
            </a:r>
          </a:p>
        </p:txBody>
      </p:sp>
    </p:spTree>
    <p:extLst>
      <p:ext uri="{BB962C8B-B14F-4D97-AF65-F5344CB8AC3E}">
        <p14:creationId xmlns:p14="http://schemas.microsoft.com/office/powerpoint/2010/main" val="3237632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p:txBody>
          <a:bodyPr/>
          <a:lstStyle/>
          <a:p>
            <a:r>
              <a:rPr lang="en-US" dirty="0"/>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p:txBody>
          <a:bodyPr/>
          <a:lstStyle/>
          <a:p>
            <a:r>
              <a:rPr lang="en-US" sz="1600" dirty="0"/>
              <a:t>Documentation Access</a:t>
            </a:r>
          </a:p>
          <a:p>
            <a:pPr lvl="1"/>
            <a:r>
              <a:rPr lang="en-US" sz="1400" dirty="0"/>
              <a:t>.NET MAUI docs home: </a:t>
            </a:r>
            <a:r>
              <a:rPr lang="en-US" sz="1400" dirty="0">
                <a:hlinkClick r:id="rId3"/>
              </a:rPr>
              <a:t>https://learn.microsoft.com/dotnet/maui/</a:t>
            </a:r>
            <a:r>
              <a:rPr lang="en-US" sz="1400" dirty="0"/>
              <a:t> </a:t>
            </a:r>
          </a:p>
          <a:p>
            <a:pPr lvl="1"/>
            <a:r>
              <a:rPr lang="en-US" sz="1400" dirty="0"/>
              <a:t>MAUI Toolkit docs: </a:t>
            </a:r>
            <a:r>
              <a:rPr lang="en-US" sz="1400" dirty="0">
                <a:hlinkClick r:id="rId4"/>
              </a:rPr>
              <a:t>https://learn.microsoft.com/dotnet/communitytoolkit/maui/</a:t>
            </a:r>
            <a:r>
              <a:rPr lang="en-US" sz="1400" dirty="0"/>
              <a:t> </a:t>
            </a:r>
          </a:p>
          <a:p>
            <a:r>
              <a:rPr lang="en-US" sz="1600" dirty="0"/>
              <a:t>Tutorials and Guides</a:t>
            </a:r>
          </a:p>
          <a:p>
            <a:pPr lvl="1"/>
            <a:r>
              <a:rPr lang="en-US" sz="1400" dirty="0"/>
              <a:t>Get started in docs: </a:t>
            </a:r>
            <a:r>
              <a:rPr lang="en-US" sz="1400" dirty="0">
                <a:hlinkClick r:id="rId5"/>
              </a:rPr>
              <a:t>https://learn.microsoft.com/dotnet/maui/get-started/first-app</a:t>
            </a:r>
            <a:r>
              <a:rPr lang="en-US" sz="1400" dirty="0"/>
              <a:t> </a:t>
            </a:r>
          </a:p>
          <a:p>
            <a:pPr lvl="1"/>
            <a:r>
              <a:rPr lang="en-US" sz="1400" dirty="0"/>
              <a:t>.NET MAUI learning path: </a:t>
            </a:r>
            <a:r>
              <a:rPr lang="en-US" sz="1400" dirty="0">
                <a:hlinkClick r:id="rId6"/>
              </a:rPr>
              <a:t>https://learn.microsoft.com/training/paths/build-apps-with-dotnet-maui/</a:t>
            </a:r>
            <a:r>
              <a:rPr lang="en-US" sz="1400" dirty="0"/>
              <a:t> </a:t>
            </a:r>
          </a:p>
          <a:p>
            <a:r>
              <a:rPr lang="en-US" sz="1600" dirty="0"/>
              <a:t>Community Groups</a:t>
            </a:r>
          </a:p>
          <a:p>
            <a:pPr lvl="1"/>
            <a:r>
              <a:rPr lang="en-US" sz="1400" dirty="0"/>
              <a:t>.NET MAUI Community Standup: </a:t>
            </a:r>
            <a:r>
              <a:rPr lang="en-US" sz="1400" dirty="0">
                <a:hlinkClick r:id="rId7"/>
              </a:rPr>
              <a:t>https://www.youtube.com/watch?v=SeRGpBR3-3M&amp;list=PLdo4fOcmZ0oX-sL7AFmygVw2A37Hbp8ZS</a:t>
            </a:r>
            <a:r>
              <a:rPr lang="en-US" sz="1400" dirty="0"/>
              <a:t> </a:t>
            </a:r>
          </a:p>
          <a:p>
            <a:r>
              <a:rPr lang="en-US" sz="1600" dirty="0"/>
              <a:t>Sample Projects</a:t>
            </a:r>
          </a:p>
          <a:p>
            <a:pPr lvl="1"/>
            <a:r>
              <a:rPr lang="en-US" sz="1400" dirty="0"/>
              <a:t>Access sample projects to practice and apply new skills in real-world scenarios: </a:t>
            </a:r>
            <a:r>
              <a:rPr lang="en-US" sz="1400" dirty="0">
                <a:hlinkClick r:id="rId8"/>
              </a:rPr>
              <a:t>https://github.com/dotnet/maui-samples</a:t>
            </a:r>
            <a:r>
              <a:rPr lang="en-US" sz="1400" dirty="0"/>
              <a:t> </a:t>
            </a:r>
          </a:p>
        </p:txBody>
      </p:sp>
    </p:spTree>
    <p:extLst>
      <p:ext uri="{BB962C8B-B14F-4D97-AF65-F5344CB8AC3E}">
        <p14:creationId xmlns:p14="http://schemas.microsoft.com/office/powerpoint/2010/main" val="149669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p:txBody>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p:txBody>
          <a:bodyPr/>
          <a:lstStyle/>
          <a:p>
            <a:r>
              <a:rPr lang="en-US" sz="2800" dirty="0"/>
              <a:t>Questions about .NET MAUI &amp; the Community Toolkits?</a:t>
            </a:r>
          </a:p>
          <a:p>
            <a:r>
              <a:rPr lang="en-US" sz="2800" dirty="0"/>
              <a:t>General Cross-Platform Dev Questions?</a:t>
            </a:r>
          </a:p>
          <a:p>
            <a:r>
              <a:rPr lang="en-US" sz="2800" dirty="0"/>
              <a:t>Follow up later:</a:t>
            </a:r>
          </a:p>
          <a:p>
            <a:pPr lvl="1"/>
            <a:r>
              <a:rPr lang="en-US" sz="2400" dirty="0">
                <a:hlinkClick r:id="rId3"/>
              </a:rPr>
              <a:t>alashcraft@gmail.com</a:t>
            </a:r>
            <a:endParaRPr lang="en-US" sz="2400" dirty="0"/>
          </a:p>
          <a:p>
            <a:pPr lvl="1"/>
            <a:r>
              <a:rPr lang="en-US" sz="2400" dirty="0"/>
              <a:t>Find me on BlueSky and LinkedIn</a:t>
            </a:r>
          </a:p>
          <a:p>
            <a:r>
              <a:rPr lang="en-US" sz="2800" dirty="0"/>
              <a:t>Thank you!</a:t>
            </a:r>
          </a:p>
        </p:txBody>
      </p:sp>
    </p:spTree>
    <p:extLst>
      <p:ext uri="{BB962C8B-B14F-4D97-AF65-F5344CB8AC3E}">
        <p14:creationId xmlns:p14="http://schemas.microsoft.com/office/powerpoint/2010/main" val="2220436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3430</TotalTime>
  <Words>4693</Words>
  <Application>Microsoft Office PowerPoint</Application>
  <PresentationFormat>On-screen Show (16:9)</PresentationFormat>
  <Paragraphs>379</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ＭＳ Ｐゴシック</vt:lpstr>
      <vt:lpstr>Arial</vt:lpstr>
      <vt:lpstr>Arial Bold</vt:lpstr>
      <vt:lpstr>Calibri</vt:lpstr>
      <vt:lpstr>Times New Roman</vt:lpstr>
      <vt:lpstr>Visual Studio Live! New York 2015</vt:lpstr>
      <vt:lpstr>Live! 360 2018</vt:lpstr>
      <vt:lpstr>PowerPoint Presentation</vt:lpstr>
      <vt:lpstr>Session Survey</vt:lpstr>
      <vt:lpstr>About Me</vt:lpstr>
      <vt:lpstr>Agenda</vt:lpstr>
      <vt:lpstr>Overview of .NET MAUI &amp; Supported Platforms</vt:lpstr>
      <vt:lpstr>Benefits of a Single Codebase</vt:lpstr>
      <vt:lpstr>MAUI vs Other X-Plat Frameworks</vt:lpstr>
      <vt:lpstr>IDEs and Tools</vt:lpstr>
      <vt:lpstr>Debug &amp; Build Across Platforms</vt:lpstr>
      <vt:lpstr>Productivity Tips</vt:lpstr>
      <vt:lpstr>Build UIs with XAML or C#</vt:lpstr>
      <vt:lpstr>MAUI Toolkit Overview</vt:lpstr>
      <vt:lpstr>MVVM in MAUI Apps</vt:lpstr>
      <vt:lpstr>Reduce Boilerplate with MVVM Toolkit</vt:lpstr>
      <vt:lpstr>Build Scalable Apps</vt:lpstr>
      <vt:lpstr>C# Markup</vt:lpstr>
      <vt:lpstr>Reuse Web Skills with CSS</vt:lpstr>
      <vt:lpstr>Using CSS in MAUI Projects</vt:lpstr>
      <vt:lpstr>Device-Specific Features</vt:lpstr>
      <vt:lpstr>Additional Resources</vt:lpstr>
      <vt:lpstr>Q&amp;A and Thank You!</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211</cp:revision>
  <dcterms:created xsi:type="dcterms:W3CDTF">2012-12-07T00:48:42Z</dcterms:created>
  <dcterms:modified xsi:type="dcterms:W3CDTF">2025-11-19T16:50:25Z</dcterms:modified>
</cp:coreProperties>
</file>