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37"/>
  </p:notesMasterIdLst>
  <p:handoutMasterIdLst>
    <p:handoutMasterId r:id="rId38"/>
  </p:handoutMasterIdLst>
  <p:sldIdLst>
    <p:sldId id="258" r:id="rId3"/>
    <p:sldId id="260" r:id="rId4"/>
    <p:sldId id="259" r:id="rId5"/>
    <p:sldId id="262" r:id="rId6"/>
    <p:sldId id="263" r:id="rId7"/>
    <p:sldId id="264" r:id="rId8"/>
    <p:sldId id="265" r:id="rId9"/>
    <p:sldId id="266" r:id="rId10"/>
    <p:sldId id="268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8" r:id="rId31"/>
    <p:sldId id="287" r:id="rId32"/>
    <p:sldId id="289" r:id="rId33"/>
    <p:sldId id="290" r:id="rId34"/>
    <p:sldId id="291" r:id="rId35"/>
    <p:sldId id="261" r:id="rId36"/>
  </p:sldIdLst>
  <p:sldSz cx="9144000" cy="5143500" type="screen16x9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5B26"/>
    <a:srgbClr val="0073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6" autoAdjust="0"/>
    <p:restoredTop sz="82527" autoAdjust="0"/>
  </p:normalViewPr>
  <p:slideViewPr>
    <p:cSldViewPr>
      <p:cViewPr varScale="1">
        <p:scale>
          <a:sx n="95" d="100"/>
          <a:sy n="95" d="100"/>
        </p:scale>
        <p:origin x="996" y="28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2155" y="8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presProps" Target="pres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57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300" b="1" dirty="0" smtClean="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r>
              <a:rPr lang="en-US" dirty="0"/>
              <a:t>Live! 360 Orlando 2025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5626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9489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4D1145D-0C6A-427A-BFFB-BA49C7DEF5D3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BE5AA1C-3A4A-4E86-88DD-FDD0A0056FE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42828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ＭＳ Ｐゴシック" pitchFamily="-72" charset="-128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dirty="0"/>
              <a:t>Welcome, folks! I hope you’re having a great week at Live! 360 and </a:t>
            </a:r>
            <a:r>
              <a:rPr lang="en-US" dirty="0" err="1"/>
              <a:t>VSLive</a:t>
            </a:r>
            <a:r>
              <a:rPr lang="en-US" dirty="0"/>
              <a:t>! In this session, we’ll be looking at .NET MAUI and the Community Toolkits.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46988B0C-D0FA-4593-BF38-A7BA3E9A5D69}" type="slidenum">
              <a:rPr lang="en-US">
                <a:ea typeface="ＭＳ Ｐゴシック" pitchFamily="-72" charset="-128"/>
                <a:cs typeface="ＭＳ Ｐゴシック" pitchFamily="-72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ea typeface="ＭＳ Ｐゴシック" pitchFamily="-72" charset="-128"/>
              <a:cs typeface="ＭＳ Ｐゴシック" pitchFamily="-72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forget to complete your session survey. We love to read your feedback. It helps to shape future events, and it helps me improve my 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906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will cover an introduction to .NET MAUI, development tools, rapid app building techniques, enhancing apps with the MAUI Community Toolkit, architectural patterns like MVVM, styling options, platform-specific features, and conclude with a Q&amp;A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4843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little background about me…</a:t>
            </a:r>
          </a:p>
          <a:p>
            <a:endParaRPr lang="en-US" dirty="0"/>
          </a:p>
          <a:p>
            <a:r>
              <a:rPr lang="en-US" dirty="0"/>
              <a:t>For those who don’t know me, I’ve been in the software industry since 1995, with most of that time (over 25) years spent as a developer and architect using various Microsoft technologies.</a:t>
            </a:r>
          </a:p>
          <a:p>
            <a:endParaRPr lang="en-US" dirty="0"/>
          </a:p>
          <a:p>
            <a:r>
              <a:rPr lang="en-US" dirty="0"/>
              <a:t>Some of you may also be familiar with my blog, the Morning Dew, where I’ve been posting daily links for .NET developers since 2007.</a:t>
            </a:r>
          </a:p>
          <a:p>
            <a:endParaRPr lang="en-US" dirty="0"/>
          </a:p>
          <a:p>
            <a:r>
              <a:rPr lang="en-US" dirty="0"/>
              <a:t>I also have three books from </a:t>
            </a:r>
            <a:r>
              <a:rPr lang="en-US" dirty="0" err="1"/>
              <a:t>Packt</a:t>
            </a:r>
            <a:r>
              <a:rPr lang="en-US" dirty="0"/>
              <a:t> Publishing and I’m co-authoring a new book on Model Context Protocol for .NET developers. You can check those out on </a:t>
            </a:r>
            <a:r>
              <a:rPr lang="en-US" dirty="0" err="1"/>
              <a:t>Packt’s</a:t>
            </a:r>
            <a:r>
              <a:rPr lang="en-US" dirty="0"/>
              <a:t> website or on Amazon. Just search for my name.</a:t>
            </a:r>
          </a:p>
          <a:p>
            <a:endParaRPr lang="en-US" dirty="0"/>
          </a:p>
          <a:p>
            <a:r>
              <a:rPr lang="en-US" dirty="0"/>
              <a:t>Writing those books led me to pivot my career to technical writing. I joined Microsoft two years ago as a content developer. I write documentation, training modules, and code samples on Microsoft Learn. I work on the Windows developer docs team, helping to maintain the docs for client apps and APIs. I have another talk I give about my work as a content developer and how anyone can contribute to content on Learn through GitHub issues and PRs.</a:t>
            </a:r>
          </a:p>
          <a:p>
            <a:endParaRPr lang="en-US" dirty="0"/>
          </a:p>
          <a:p>
            <a:r>
              <a:rPr lang="en-US" dirty="0"/>
              <a:t>Finally, I’m one of the founding organizers of the TechBash developer conference. We’ve been running the event in the Poconos since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2450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section introduces .NET MAUI, the platforms it supports, and why using a single codebase simplifies development for iOS, Android, macOS, and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8098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.NET MAUI stands for Multi-platform App UI, enabling developers to build apps across major desktop and mobile platforms with one framework and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951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unified codebase reduces maintenance effort, speeds up development, and allows code reuse, making it easier to deliver consistent experiences across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7818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.NET MAUI improves upon </a:t>
            </a:r>
            <a:r>
              <a:rPr lang="en-US" dirty="0" err="1"/>
              <a:t>Xamarin.Forms</a:t>
            </a:r>
            <a:r>
              <a:rPr lang="en-US" dirty="0"/>
              <a:t> with better architecture, enhanced performance, and streamlined project structure, offering a more modern development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1176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Explore the integrated development environments and tools available on Windows and macOS to build, debug, and deploy .NET MAUI applications efficiently.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7879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Studio on Windows and macOS are primary IDEs, complemented by VS Code and command-line tools that support .NET MAUI development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02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how to leverage debugging tools, simulators, and emulators to test applications on different platforms directly from your development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849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Utilize features like hot reload, templates, and extensions to speed up development and maintain high code quality across platforms.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200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Explore the powerful controls, extensions, and behaviors provided by the Community Toolkit to accelerate development and enhance app capabilities.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332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sual Studio Live! Redmond 20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1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63CDA3-A2DE-473C-A81C-F73D2A1BFF69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sual Studio Live! Washington, D.C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173A4F-54E2-42AD-AEE7-525DC08E7D5E}" type="datetimeFigureOut">
              <a:rPr lang="en-US"/>
              <a:pPr>
                <a:defRPr/>
              </a:pPr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7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4562E-E191-4140-8CA7-D81566904FD6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86AD8-D031-4E57-A880-97BEE7625BF5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46D33-8E80-4809-BCCA-EEFDCA7877C6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75E31E-3DDB-4319-BC51-F5022B7F3C8D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6638B8-B788-4682-A596-85CF4ED65A7B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04789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9C0D6F-86BC-4F0A-A9FD-A71A70874F57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CF2FE-3FA7-4ABC-8D10-AB106564C9F6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2"/>
            <a:ext cx="2057400" cy="3290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2"/>
            <a:ext cx="6019800" cy="3290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D803F9-FDAA-4AD8-AB1F-AC9EA3FA17D9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sual Studio Live! Redmond 20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1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63CDA3-A2DE-473C-A81C-F73D2A1BFF69}" type="datetimeFigureOut">
              <a:rPr lang="en-US" smtClean="0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sual Studio Live! Washington, D.C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173A4F-54E2-42AD-AEE7-525DC08E7D5E}" type="datetimeFigureOut">
              <a:rPr lang="en-US" smtClean="0"/>
              <a:pPr>
                <a:defRPr/>
              </a:pPr>
              <a:t>11/9/2025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7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4562E-E191-4140-8CA7-D81566904FD6}" type="datetimeFigureOut">
              <a:rPr lang="en-US" smtClean="0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86AD8-D031-4E57-A880-97BEE7625BF5}" type="datetimeFigureOut">
              <a:rPr lang="en-US" smtClean="0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46D33-8E80-4809-BCCA-EEFDCA7877C6}" type="datetimeFigureOut">
              <a:rPr lang="en-US" smtClean="0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75E31E-3DDB-4319-BC51-F5022B7F3C8D}" type="datetimeFigureOut">
              <a:rPr lang="en-US" smtClean="0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6638B8-B788-4682-A596-85CF4ED65A7B}" type="datetimeFigureOut">
              <a:rPr lang="en-US" smtClean="0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04789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9C0D6F-86BC-4F0A-A9FD-A71A70874F57}" type="datetimeFigureOut">
              <a:rPr lang="en-US" smtClean="0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 smtClean="0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CF2FE-3FA7-4ABC-8D10-AB106564C9F6}" type="datetimeFigureOut">
              <a:rPr lang="en-US" smtClean="0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2"/>
            <a:ext cx="2057400" cy="3290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2"/>
            <a:ext cx="6019800" cy="3290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D803F9-FDAA-4AD8-AB1F-AC9EA3FA17D9}" type="datetimeFigureOut">
              <a:rPr lang="en-US" smtClean="0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05979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1"/>
            <a:ext cx="8229600" cy="3394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9" r:id="rId2"/>
    <p:sldLayoutId id="2147483658" r:id="rId3"/>
    <p:sldLayoutId id="2147483657" r:id="rId4"/>
    <p:sldLayoutId id="2147483656" r:id="rId5"/>
    <p:sldLayoutId id="2147483655" r:id="rId6"/>
    <p:sldLayoutId id="2147483654" r:id="rId7"/>
    <p:sldLayoutId id="2147483653" r:id="rId8"/>
    <p:sldLayoutId id="2147483652" r:id="rId9"/>
    <p:sldLayoutId id="2147483651" r:id="rId10"/>
    <p:sldLayoutId id="2147483650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4400" kern="1200">
          <a:solidFill>
            <a:srgbClr val="002060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1pPr>
      <a:lvl2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2pPr>
      <a:lvl3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3pPr>
      <a:lvl4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4pPr>
      <a:lvl5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•"/>
        <a:defRPr sz="32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–"/>
        <a:defRPr sz="28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Arial" pitchFamily="-72" charset="0"/>
        <a:buChar char="•"/>
        <a:defRPr sz="24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–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»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05979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1"/>
            <a:ext cx="8229600" cy="3394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 kern="1200">
          <a:solidFill>
            <a:srgbClr val="002060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•"/>
        <a:defRPr sz="32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–"/>
        <a:defRPr sz="28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Arial" pitchFamily="-72" charset="0"/>
        <a:buChar char="•"/>
        <a:defRPr sz="24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–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»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dotnet/communitytoolkit/maui/" TargetMode="External"/><Relationship Id="rId7" Type="http://schemas.openxmlformats.org/officeDocument/2006/relationships/hyperlink" Target="https://github.com/dotnet/maui-samples" TargetMode="External"/><Relationship Id="rId2" Type="http://schemas.openxmlformats.org/officeDocument/2006/relationships/hyperlink" Target="https://learn.microsoft.com/dotnet/maui/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www.youtube.com/watch?v=SeRGpBR3-3M&amp;list=PLdo4fOcmZ0oX-sL7AFmygVw2A37Hbp8ZS" TargetMode="External"/><Relationship Id="rId5" Type="http://schemas.openxmlformats.org/officeDocument/2006/relationships/hyperlink" Target="https://learn.microsoft.com/training/paths/build-apps-with-dotnet-maui/" TargetMode="External"/><Relationship Id="rId4" Type="http://schemas.openxmlformats.org/officeDocument/2006/relationships/hyperlink" Target="https://learn.microsoft.com/dotnet/maui/get-started/first-app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mailto:alashcraft@gmail.com" TargetMode="Externa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1259632" y="1144203"/>
            <a:ext cx="7416825" cy="1028700"/>
          </a:xfrm>
          <a:prstGeom prst="rect">
            <a:avLst/>
          </a:prstGeom>
          <a:noFill/>
          <a:ln>
            <a:noFill/>
          </a:ln>
          <a:effectLst/>
        </p:spPr>
        <p:txBody>
          <a:bodyPr lIns="90379" tIns="44448" rIns="90379" bIns="44448" anchor="b">
            <a:prstTxWarp prst="textNoShape">
              <a:avLst/>
            </a:prstTxWarp>
          </a:bodyPr>
          <a:lstStyle/>
          <a:p>
            <a:pPr algn="r" defTabSz="896938" eaLnBrk="0" hangingPunct="0"/>
            <a:r>
              <a:rPr lang="en-US" sz="3200" b="1" dirty="0">
                <a:solidFill>
                  <a:schemeClr val="bg1"/>
                </a:solidFill>
                <a:latin typeface="Arial Bold" pitchFamily="-72" charset="0"/>
              </a:rPr>
              <a:t>Create Multi-Platform Apps with .NET MAUI &amp; the MAUI Community Toolkit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661897" y="2355726"/>
            <a:ext cx="3987800" cy="1002506"/>
          </a:xfrm>
          <a:prstGeom prst="rect">
            <a:avLst/>
          </a:prstGeom>
          <a:noFill/>
          <a:ln>
            <a:noFill/>
          </a:ln>
          <a:effectLst/>
        </p:spPr>
        <p:txBody>
          <a:bodyPr lIns="85923" tIns="42962" rIns="85923" bIns="42962">
            <a:prstTxWarp prst="textNoShape">
              <a:avLst/>
            </a:prstTxWarp>
          </a:bodyPr>
          <a:lstStyle/>
          <a:p>
            <a:pPr algn="r"/>
            <a:r>
              <a:rPr lang="en-US" sz="2800" b="1" dirty="0">
                <a:solidFill>
                  <a:srgbClr val="FFC000"/>
                </a:solidFill>
              </a:rPr>
              <a:t>Alvin Ashcraft</a:t>
            </a:r>
          </a:p>
          <a:p>
            <a:pPr algn="r"/>
            <a:r>
              <a:rPr lang="en-US" sz="2400" b="1" dirty="0">
                <a:solidFill>
                  <a:srgbClr val="FFC000"/>
                </a:solidFill>
              </a:rPr>
              <a:t>Sr. Content Developer, </a:t>
            </a:r>
          </a:p>
          <a:p>
            <a:pPr algn="r"/>
            <a:r>
              <a:rPr lang="en-US" sz="2400" b="1" dirty="0">
                <a:solidFill>
                  <a:srgbClr val="FFC000"/>
                </a:solidFill>
              </a:rPr>
              <a:t>Microsoft</a:t>
            </a:r>
          </a:p>
          <a:p>
            <a:endParaRPr lang="en-US" b="1" dirty="0">
              <a:solidFill>
                <a:srgbClr val="C00000"/>
              </a:solidFill>
            </a:endParaRPr>
          </a:p>
          <a:p>
            <a:endParaRPr lang="en-US" sz="1400" dirty="0">
              <a:solidFill>
                <a:srgbClr val="C00000"/>
              </a:solidFill>
              <a:latin typeface="Times New Roman" pitchFamily="-72" charset="0"/>
            </a:endParaRPr>
          </a:p>
        </p:txBody>
      </p:sp>
      <p:sp>
        <p:nvSpPr>
          <p:cNvPr id="15364" name="Text Box 7"/>
          <p:cNvSpPr txBox="1">
            <a:spLocks noChangeArrowheads="1"/>
          </p:cNvSpPr>
          <p:nvPr/>
        </p:nvSpPr>
        <p:spPr bwMode="auto">
          <a:xfrm>
            <a:off x="6304960" y="3723878"/>
            <a:ext cx="2344737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algn="r"/>
            <a:r>
              <a:rPr lang="en-US" sz="2000" dirty="0">
                <a:solidFill>
                  <a:srgbClr val="FFC000"/>
                </a:solidFill>
                <a:ea typeface="Arial" pitchFamily="-72" charset="0"/>
                <a:cs typeface="Arial" pitchFamily="-72" charset="0"/>
              </a:rPr>
              <a:t>Level: Intermediate</a:t>
            </a:r>
          </a:p>
          <a:p>
            <a:pPr algn="r"/>
            <a:endParaRPr lang="en-US" sz="1600" b="1" dirty="0">
              <a:ea typeface="Arial" pitchFamily="-72" charset="0"/>
              <a:cs typeface="Arial" pitchFamily="-72" charset="0"/>
            </a:endParaRPr>
          </a:p>
        </p:txBody>
      </p:sp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31590"/>
            <a:ext cx="8229600" cy="3394472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/>
              <a:t>Your feedback is very important to us</a:t>
            </a:r>
          </a:p>
          <a:p>
            <a:r>
              <a:rPr lang="en-US" sz="2800" dirty="0"/>
              <a:t>Please take a moment to complete the session survey found in the mobile app</a:t>
            </a:r>
          </a:p>
          <a:p>
            <a:r>
              <a:rPr lang="en-US" sz="2800" dirty="0"/>
              <a:t>Use the QR code or search for “Converge360 Events” in your app store</a:t>
            </a:r>
          </a:p>
          <a:p>
            <a:r>
              <a:rPr lang="en-US" sz="2800" dirty="0"/>
              <a:t>Find this session on the Agenda tab</a:t>
            </a:r>
          </a:p>
          <a:p>
            <a:r>
              <a:rPr lang="en-US" sz="2800" dirty="0"/>
              <a:t>Click “Session Evaluation”</a:t>
            </a:r>
          </a:p>
          <a:p>
            <a:r>
              <a:rPr lang="en-US" sz="2800" dirty="0"/>
              <a:t>Thank you! </a:t>
            </a:r>
          </a:p>
          <a:p>
            <a:endParaRPr lang="en-US" sz="3000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Session Survey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04985" y="2852732"/>
            <a:ext cx="1427276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9608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31590"/>
            <a:ext cx="8229600" cy="3394472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About Me</a:t>
            </a:r>
          </a:p>
          <a:p>
            <a:pPr>
              <a:lnSpc>
                <a:spcPct val="100000"/>
              </a:lnSpc>
            </a:pPr>
            <a:r>
              <a:rPr lang="en-US" dirty="0"/>
              <a:t>Introduction to .NET MAUI and Cross-Platform Apps</a:t>
            </a:r>
          </a:p>
          <a:p>
            <a:pPr>
              <a:lnSpc>
                <a:spcPct val="100000"/>
              </a:lnSpc>
            </a:pPr>
            <a:r>
              <a:rPr lang="en-US" dirty="0"/>
              <a:t>Develop on Windows and macOS</a:t>
            </a:r>
          </a:p>
          <a:p>
            <a:pPr>
              <a:lnSpc>
                <a:spcPct val="100000"/>
              </a:lnSpc>
            </a:pPr>
            <a:r>
              <a:rPr lang="en-US" dirty="0"/>
              <a:t>Rapid App Building with XAML, C# &amp; Visual Studio</a:t>
            </a:r>
          </a:p>
          <a:p>
            <a:pPr>
              <a:lnSpc>
                <a:spcPct val="100000"/>
              </a:lnSpc>
            </a:pPr>
            <a:r>
              <a:rPr lang="en-US" dirty="0"/>
              <a:t>Enhance Apps with the .NET MAUI Community Toolkit</a:t>
            </a:r>
          </a:p>
          <a:p>
            <a:pPr>
              <a:lnSpc>
                <a:spcPct val="100000"/>
              </a:lnSpc>
            </a:pPr>
            <a:r>
              <a:rPr lang="en-US" dirty="0"/>
              <a:t>Simplify Your MVVM Architecture with the MVVM Toolkit</a:t>
            </a:r>
          </a:p>
          <a:p>
            <a:pPr>
              <a:lnSpc>
                <a:spcPct val="100000"/>
              </a:lnSpc>
            </a:pPr>
            <a:r>
              <a:rPr lang="en-US" dirty="0"/>
              <a:t>Build Apps with C# Markup in VS Code: No XAML Required</a:t>
            </a:r>
          </a:p>
          <a:p>
            <a:pPr>
              <a:lnSpc>
                <a:spcPct val="100000"/>
              </a:lnSpc>
            </a:pPr>
            <a:r>
              <a:rPr lang="en-US" dirty="0"/>
              <a:t>Style Apps with CSS</a:t>
            </a:r>
          </a:p>
          <a:p>
            <a:pPr>
              <a:lnSpc>
                <a:spcPct val="100000"/>
              </a:lnSpc>
            </a:pPr>
            <a:r>
              <a:rPr lang="en-US" dirty="0"/>
              <a:t>Access Platform-Specific Features</a:t>
            </a:r>
          </a:p>
          <a:p>
            <a:pPr>
              <a:lnSpc>
                <a:spcPct val="100000"/>
              </a:lnSpc>
            </a:pPr>
            <a:r>
              <a:rPr lang="en-US" dirty="0"/>
              <a:t>Q&amp;A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8E94B-E27E-50F8-12A8-F260EF3CF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F3CE1-4D26-D8A6-B21A-DBE9272C1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Software industry for nearly 30 years</a:t>
            </a:r>
          </a:p>
          <a:p>
            <a:pPr lvl="1"/>
            <a:r>
              <a:rPr lang="en-US" sz="1800" dirty="0"/>
              <a:t>Started programming in 1995 (VB 3 &amp; Microsoft Access)</a:t>
            </a:r>
          </a:p>
          <a:p>
            <a:pPr lvl="1"/>
            <a:r>
              <a:rPr lang="en-US" sz="1800" dirty="0"/>
              <a:t>Content developer at Microsoft since 2022</a:t>
            </a:r>
          </a:p>
          <a:p>
            <a:r>
              <a:rPr lang="en-US" sz="2000" dirty="0"/>
              <a:t>Morning Dew link blog</a:t>
            </a:r>
          </a:p>
          <a:p>
            <a:pPr lvl="1"/>
            <a:r>
              <a:rPr lang="en-US" sz="1800" dirty="0"/>
              <a:t>Daily links for .NET developers since 2007</a:t>
            </a:r>
          </a:p>
          <a:p>
            <a:r>
              <a:rPr lang="en-US" sz="2000" dirty="0"/>
              <a:t>Three (soon to be four) books for </a:t>
            </a:r>
            <a:r>
              <a:rPr lang="en-US" sz="2000" dirty="0" err="1"/>
              <a:t>Packt</a:t>
            </a:r>
            <a:r>
              <a:rPr lang="en-US" sz="2000" dirty="0"/>
              <a:t> Publishing</a:t>
            </a:r>
          </a:p>
          <a:p>
            <a:pPr lvl="1"/>
            <a:r>
              <a:rPr lang="en-US" sz="1800" dirty="0"/>
              <a:t>Learn WinUI 3 (two editions)</a:t>
            </a:r>
          </a:p>
          <a:p>
            <a:pPr lvl="1"/>
            <a:r>
              <a:rPr lang="en-US" sz="1800" dirty="0"/>
              <a:t>Parallel Programming and Concurrency with C# and .NET</a:t>
            </a:r>
          </a:p>
          <a:p>
            <a:pPr lvl="1"/>
            <a:r>
              <a:rPr lang="en-US" sz="1800" dirty="0"/>
              <a:t>MCP for .NET Developers (coming March 2026 - co-author)</a:t>
            </a:r>
          </a:p>
          <a:p>
            <a:r>
              <a:rPr lang="en-US" sz="2000" dirty="0"/>
              <a:t>TechBash dev conference organizer since 2016</a:t>
            </a:r>
          </a:p>
        </p:txBody>
      </p:sp>
    </p:spTree>
    <p:extLst>
      <p:ext uri="{BB962C8B-B14F-4D97-AF65-F5344CB8AC3E}">
        <p14:creationId xmlns:p14="http://schemas.microsoft.com/office/powerpoint/2010/main" val="1284179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B01EA-3561-27B6-2CBD-950859F04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370F1A-274C-5388-1A52-ED54F74B63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to Know .NET MAUI and Cross-Platform App Development</a:t>
            </a:r>
          </a:p>
        </p:txBody>
      </p:sp>
    </p:spTree>
    <p:extLst>
      <p:ext uri="{BB962C8B-B14F-4D97-AF65-F5344CB8AC3E}">
        <p14:creationId xmlns:p14="http://schemas.microsoft.com/office/powerpoint/2010/main" val="4236718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4A96-A4CA-C42A-60A4-420CFC5B0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Overview of .NET MAUI &amp; Supported Platforms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972F13-CFAD-21F1-4B9A-7395A19E6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Multi-platform Framework</a:t>
            </a:r>
          </a:p>
          <a:p>
            <a:pPr lvl="1"/>
            <a:r>
              <a:rPr lang="en-US" sz="2400" dirty="0"/>
              <a:t>.NET MAUI allows building apps for multiple platforms using a single shared codebase.</a:t>
            </a:r>
          </a:p>
          <a:p>
            <a:r>
              <a:rPr lang="en-US" sz="2800" dirty="0"/>
              <a:t>Supported Platforms</a:t>
            </a:r>
          </a:p>
          <a:p>
            <a:pPr lvl="1"/>
            <a:r>
              <a:rPr lang="en-US" sz="2400" dirty="0"/>
              <a:t>.NET MAUI supports Windows &amp; macOS on the desktop and the iOS &amp; Android mobile operating systems enabling cross-device compatibility for most app users today.</a:t>
            </a:r>
          </a:p>
        </p:txBody>
      </p:sp>
    </p:spTree>
    <p:extLst>
      <p:ext uri="{BB962C8B-B14F-4D97-AF65-F5344CB8AC3E}">
        <p14:creationId xmlns:p14="http://schemas.microsoft.com/office/powerpoint/2010/main" val="2243524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90C74-C355-4889-7015-203806F62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a Single Codebase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288D1-08B3-5DBC-7ED1-49DC1B4D1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Reduced maintenance</a:t>
            </a:r>
          </a:p>
          <a:p>
            <a:pPr lvl="1"/>
            <a:r>
              <a:rPr lang="en-US" sz="2000" dirty="0"/>
              <a:t>A single codebase simplifies updates and bug fixes, lowering the time and resources needed for maintenance.</a:t>
            </a:r>
          </a:p>
          <a:p>
            <a:r>
              <a:rPr lang="en-US" sz="2400" dirty="0"/>
              <a:t>Faster development</a:t>
            </a:r>
          </a:p>
          <a:p>
            <a:pPr lvl="1"/>
            <a:r>
              <a:rPr lang="en-US" sz="2000" dirty="0"/>
              <a:t>Developers can build and deploy features faster by writing code once for all platforms.</a:t>
            </a:r>
          </a:p>
          <a:p>
            <a:r>
              <a:rPr lang="en-US" sz="2400" dirty="0"/>
              <a:t>Consistent user experience</a:t>
            </a:r>
          </a:p>
          <a:p>
            <a:pPr lvl="1"/>
            <a:r>
              <a:rPr lang="en-US" sz="2000" dirty="0"/>
              <a:t>Using a unified codebase ensures users enjoy the same experience across devices and operating systems while still providing native performance and look &amp; feel.</a:t>
            </a:r>
          </a:p>
        </p:txBody>
      </p:sp>
    </p:spTree>
    <p:extLst>
      <p:ext uri="{BB962C8B-B14F-4D97-AF65-F5344CB8AC3E}">
        <p14:creationId xmlns:p14="http://schemas.microsoft.com/office/powerpoint/2010/main" val="1439571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A12E3-5908-2CC5-206B-70EC658F1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MAUI vs Other X-Plat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1ADA1-905D-ADDF-8630-2D86D3E9B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Language</a:t>
            </a:r>
          </a:p>
          <a:p>
            <a:pPr lvl="1"/>
            <a:r>
              <a:rPr lang="en-US" sz="1800" dirty="0"/>
              <a:t>Ideal choice for .NET developers. Frameworks like Flutter and React Native require other technical expertise.</a:t>
            </a:r>
          </a:p>
          <a:p>
            <a:r>
              <a:rPr lang="en-US" sz="2000" dirty="0"/>
              <a:t>Enhanced Performance</a:t>
            </a:r>
          </a:p>
          <a:p>
            <a:pPr lvl="1"/>
            <a:r>
              <a:rPr lang="en-US" sz="1800" dirty="0"/>
              <a:t>Enables faster and more efficient app execution compared to PWAs or React Native.</a:t>
            </a:r>
          </a:p>
          <a:p>
            <a:r>
              <a:rPr lang="en-US" sz="2000" dirty="0"/>
              <a:t>Community and Ecosystem</a:t>
            </a:r>
          </a:p>
          <a:p>
            <a:pPr lvl="1"/>
            <a:r>
              <a:rPr lang="en-US" sz="1800" dirty="0"/>
              <a:t>Puts Microsoft in your corner. 3</a:t>
            </a:r>
            <a:r>
              <a:rPr lang="en-US" sz="1800" baseline="30000" dirty="0"/>
              <a:t>rd </a:t>
            </a:r>
            <a:r>
              <a:rPr lang="en-US" sz="1800" dirty="0"/>
              <a:t>party libraries &amp; controls are available but not required for building rich, performant apps. The .NET MAUI Community Toolkit and .NET Community Toolkit offer additional libraries supported by the open-source community.</a:t>
            </a:r>
          </a:p>
        </p:txBody>
      </p:sp>
    </p:spTree>
    <p:extLst>
      <p:ext uri="{BB962C8B-B14F-4D97-AF65-F5344CB8AC3E}">
        <p14:creationId xmlns:p14="http://schemas.microsoft.com/office/powerpoint/2010/main" val="709864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70CA3-FDDF-CB80-A422-71059631D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573168-39D4-0729-8527-651B7AD79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MAUI Apps on Windows or macOS</a:t>
            </a:r>
          </a:p>
        </p:txBody>
      </p:sp>
    </p:spTree>
    <p:extLst>
      <p:ext uri="{BB962C8B-B14F-4D97-AF65-F5344CB8AC3E}">
        <p14:creationId xmlns:p14="http://schemas.microsoft.com/office/powerpoint/2010/main" val="72287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BF1C6-CB85-EB72-B47B-22375C148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IDEs and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A8A5-339C-88E3-14B4-C5DD93D63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Primary IDEs</a:t>
            </a:r>
          </a:p>
          <a:p>
            <a:pPr lvl="1"/>
            <a:r>
              <a:rPr lang="en-US" sz="1800" dirty="0"/>
              <a:t>Visual Studio on Windows and VS Code on Windows and macOS serve as the main development environments for .NET MAUI development.</a:t>
            </a:r>
          </a:p>
          <a:p>
            <a:r>
              <a:rPr lang="en-US" sz="2000" dirty="0"/>
              <a:t>Supporting Tools</a:t>
            </a:r>
          </a:p>
          <a:p>
            <a:pPr lvl="1"/>
            <a:r>
              <a:rPr lang="en-US" sz="1800" dirty="0"/>
              <a:t>VS Code, GitHub Copilot, and CLI tools complement the primary IDEs by supporting flexible and lightweight development workflows. .NET MAUI Community Toolkit offers open-source controls and helpers for your apps.</a:t>
            </a:r>
          </a:p>
          <a:p>
            <a:r>
              <a:rPr lang="en-US" sz="2000" dirty="0"/>
              <a:t>Additional Options</a:t>
            </a:r>
          </a:p>
          <a:p>
            <a:pPr lvl="1"/>
            <a:r>
              <a:rPr lang="en-US" sz="1800" dirty="0"/>
              <a:t>JetBrains Rider supports .NET MAUI development on Windows and macOS.</a:t>
            </a:r>
          </a:p>
        </p:txBody>
      </p:sp>
    </p:spTree>
    <p:extLst>
      <p:ext uri="{BB962C8B-B14F-4D97-AF65-F5344CB8AC3E}">
        <p14:creationId xmlns:p14="http://schemas.microsoft.com/office/powerpoint/2010/main" val="23525576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D613C-2DFA-B592-F24D-64D1F9D2F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Debug &amp; Build Across Platforms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AC15B-5915-A474-E92B-52AE3E528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Debugging Tools Usage</a:t>
            </a:r>
          </a:p>
          <a:p>
            <a:pPr lvl="1"/>
            <a:r>
              <a:rPr lang="en-US" sz="2000" dirty="0"/>
              <a:t>Use debugging tools like XAML Hot Reload, Live Visual Tree, and Visual Studio’s Binding Failures window to identify and fix issues effectively during development across platforms.</a:t>
            </a:r>
          </a:p>
          <a:p>
            <a:r>
              <a:rPr lang="en-US" sz="2400" dirty="0"/>
              <a:t>Simulators and Emulators</a:t>
            </a:r>
          </a:p>
          <a:p>
            <a:pPr lvl="1"/>
            <a:r>
              <a:rPr lang="en-US" sz="2000" dirty="0"/>
              <a:t>Simulators and emulators for Android and iOS replicate different platforms, enabling real-time testing without physical devices. Connect to a Mac from Visual Studio on Windows to debug iOS apps from your favorite IDE.</a:t>
            </a:r>
          </a:p>
        </p:txBody>
      </p:sp>
    </p:spTree>
    <p:extLst>
      <p:ext uri="{BB962C8B-B14F-4D97-AF65-F5344CB8AC3E}">
        <p14:creationId xmlns:p14="http://schemas.microsoft.com/office/powerpoint/2010/main" val="4218931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C6BE5-276A-02D2-3E28-30E82DE7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Productivity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3B380-E5F0-5EAE-FE2C-3DB010BB4B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Hot Reload Feature</a:t>
            </a:r>
          </a:p>
          <a:p>
            <a:pPr lvl="1"/>
            <a:r>
              <a:rPr lang="en-US" sz="2000" dirty="0"/>
              <a:t>XAML Hot Reload &amp; .NET Hot Reload enable instant code and markup changes, speeding up development &amp; reducing testing time.</a:t>
            </a:r>
          </a:p>
          <a:p>
            <a:r>
              <a:rPr lang="en-US" sz="2400" dirty="0"/>
              <a:t>Use of Templates</a:t>
            </a:r>
          </a:p>
          <a:p>
            <a:pPr lvl="1"/>
            <a:r>
              <a:rPr lang="en-US" sz="2000" dirty="0"/>
              <a:t>Templates provide reusable structures, enhancing consistency &amp; saving time coding.</a:t>
            </a:r>
          </a:p>
          <a:p>
            <a:r>
              <a:rPr lang="en-US" sz="2400" dirty="0"/>
              <a:t>Extensions for Quality</a:t>
            </a:r>
          </a:p>
          <a:p>
            <a:pPr lvl="1"/>
            <a:r>
              <a:rPr lang="en-US" sz="2000" dirty="0"/>
              <a:t>Visual Studio &amp; VS Code extensions add functionality &amp; help maintain high code quality across platforms.</a:t>
            </a:r>
          </a:p>
        </p:txBody>
      </p:sp>
    </p:spTree>
    <p:extLst>
      <p:ext uri="{BB962C8B-B14F-4D97-AF65-F5344CB8AC3E}">
        <p14:creationId xmlns:p14="http://schemas.microsoft.com/office/powerpoint/2010/main" val="2695737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52D5E-9E57-EE79-21C0-FFCDDAD69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Building Apps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2E73C0-362F-0263-CE66-B859C936B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Leverage XAML, C#, and Your Favorite IDE</a:t>
            </a:r>
          </a:p>
        </p:txBody>
      </p:sp>
    </p:spTree>
    <p:extLst>
      <p:ext uri="{BB962C8B-B14F-4D97-AF65-F5344CB8AC3E}">
        <p14:creationId xmlns:p14="http://schemas.microsoft.com/office/powerpoint/2010/main" val="1424166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1A747-E3C3-EFC9-CE37-7E60A6D5B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UIs with XAML or C#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81B79-2820-63DA-BDFA-827E7E9E78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106314"/>
            <a:ext cx="4038600" cy="2545556"/>
          </a:xfrm>
        </p:spPr>
        <p:txBody>
          <a:bodyPr/>
          <a:lstStyle/>
          <a:p>
            <a:r>
              <a:rPr lang="en-US" dirty="0"/>
              <a:t>XAML markup for clear &amp; declarative UI design when building responsive UIs.</a:t>
            </a:r>
          </a:p>
          <a:p>
            <a:r>
              <a:rPr lang="en-US" dirty="0"/>
              <a:t>Code behind in C#</a:t>
            </a:r>
          </a:p>
          <a:p>
            <a:r>
              <a:rPr lang="en-US" dirty="0"/>
              <a:t>Separation of concerns with MVVM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94133F-781C-173E-CE2D-802F49903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106314"/>
            <a:ext cx="4038600" cy="2545556"/>
          </a:xfrm>
        </p:spPr>
        <p:txBody>
          <a:bodyPr/>
          <a:lstStyle/>
          <a:p>
            <a:r>
              <a:rPr lang="en-US" dirty="0"/>
              <a:t>Create UI in code with C# Markup</a:t>
            </a:r>
          </a:p>
          <a:p>
            <a:r>
              <a:rPr lang="en-US" dirty="0"/>
              <a:t>MVU pattern for robust apps</a:t>
            </a:r>
          </a:p>
          <a:p>
            <a:r>
              <a:rPr lang="en-US" dirty="0"/>
              <a:t>No XAML learning curve</a:t>
            </a:r>
          </a:p>
        </p:txBody>
      </p:sp>
    </p:spTree>
    <p:extLst>
      <p:ext uri="{BB962C8B-B14F-4D97-AF65-F5344CB8AC3E}">
        <p14:creationId xmlns:p14="http://schemas.microsoft.com/office/powerpoint/2010/main" val="3841370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BDB2B-3E30-3766-568D-3BCA6A830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MAUI Community Toolkit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6B17A3-6BEA-51E7-67C6-8D2B15B65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Turbo-charge your .NET MAUI app development</a:t>
            </a:r>
          </a:p>
        </p:txBody>
      </p:sp>
    </p:spTree>
    <p:extLst>
      <p:ext uri="{BB962C8B-B14F-4D97-AF65-F5344CB8AC3E}">
        <p14:creationId xmlns:p14="http://schemas.microsoft.com/office/powerpoint/2010/main" val="1045622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9D3DB-70C9-F013-5EE1-E09006E79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Toolkit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13FB7-01C9-5625-26A4-6E6CD70AC1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Reusable UI Components</a:t>
            </a:r>
          </a:p>
          <a:p>
            <a:pPr lvl="1"/>
            <a:r>
              <a:rPr lang="en-US" sz="1800" dirty="0"/>
              <a:t>Microsoft’s Community Toolkits provide reusable components that speed up UI development and maintain consistency.</a:t>
            </a:r>
          </a:p>
          <a:p>
            <a:r>
              <a:rPr lang="en-US" sz="2000" dirty="0"/>
              <a:t>Functionality Enhancements</a:t>
            </a:r>
          </a:p>
          <a:p>
            <a:pPr lvl="1"/>
            <a:r>
              <a:rPr lang="en-US" sz="1800" dirty="0"/>
              <a:t>Extensions, converters &amp; animations add new features that extend the capabilities of existing UI elements.</a:t>
            </a:r>
          </a:p>
          <a:p>
            <a:r>
              <a:rPr lang="en-US" sz="2000" dirty="0"/>
              <a:t>Improved Responsiveness</a:t>
            </a:r>
          </a:p>
          <a:p>
            <a:pPr lvl="1"/>
            <a:r>
              <a:rPr lang="en-US" sz="1800" dirty="0"/>
              <a:t>Behaviors improve app responsiveness by managing user interactions smoothly.</a:t>
            </a:r>
          </a:p>
          <a:p>
            <a:r>
              <a:rPr lang="en-US" sz="2000" dirty="0"/>
              <a:t>Demo - Toolkit docs on Microsoft Learn</a:t>
            </a:r>
          </a:p>
        </p:txBody>
      </p:sp>
    </p:spTree>
    <p:extLst>
      <p:ext uri="{BB962C8B-B14F-4D97-AF65-F5344CB8AC3E}">
        <p14:creationId xmlns:p14="http://schemas.microsoft.com/office/powerpoint/2010/main" val="27022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F9A62-A657-54B7-A571-B9CE74079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Toolkit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5D017-5BEF-D200-52B8-6FD39398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Toolkit Controls &amp; Extensions</a:t>
            </a:r>
          </a:p>
          <a:p>
            <a:pPr lvl="1"/>
            <a:r>
              <a:rPr lang="en-US" sz="2000" dirty="0"/>
              <a:t>Controls and extensions enhance development environments by adding useful features &amp; functionalities.</a:t>
            </a:r>
          </a:p>
          <a:p>
            <a:r>
              <a:rPr lang="en-US" sz="2400" dirty="0"/>
              <a:t>Boost Productivity</a:t>
            </a:r>
          </a:p>
          <a:p>
            <a:pPr lvl="1"/>
            <a:r>
              <a:rPr lang="en-US" sz="2000" dirty="0"/>
              <a:t>Integrating the .NET MAUI Toolkit streamlines workflows &amp; accelerates coding efficiency.</a:t>
            </a:r>
          </a:p>
          <a:p>
            <a:r>
              <a:rPr lang="en-US" sz="2400" dirty="0"/>
              <a:t>Demo – Using the Community Toolkit in your apps</a:t>
            </a:r>
          </a:p>
        </p:txBody>
      </p:sp>
    </p:spTree>
    <p:extLst>
      <p:ext uri="{BB962C8B-B14F-4D97-AF65-F5344CB8AC3E}">
        <p14:creationId xmlns:p14="http://schemas.microsoft.com/office/powerpoint/2010/main" val="1027973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AE078-2AD8-FEC8-6F7E-7525A05F4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Simplify Your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E01568-12D5-867E-4EF9-454850CB6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 Model-View-</a:t>
            </a:r>
            <a:r>
              <a:rPr lang="en-US" dirty="0" err="1"/>
              <a:t>ViewModel</a:t>
            </a:r>
            <a:r>
              <a:rPr lang="en-US" dirty="0"/>
              <a:t> with the MVVM Toolkit</a:t>
            </a:r>
          </a:p>
        </p:txBody>
      </p:sp>
    </p:spTree>
    <p:extLst>
      <p:ext uri="{BB962C8B-B14F-4D97-AF65-F5344CB8AC3E}">
        <p14:creationId xmlns:p14="http://schemas.microsoft.com/office/powerpoint/2010/main" val="34058611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17C70-366F-2A94-0721-CAC50225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MVVM in MAUI Apps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B88975F-7D52-F494-069C-88080F4125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961629"/>
            <a:ext cx="4038600" cy="3975892"/>
          </a:xfrm>
        </p:spPr>
        <p:txBody>
          <a:bodyPr/>
          <a:lstStyle/>
          <a:p>
            <a:r>
              <a:rPr lang="en-US" sz="2000" dirty="0"/>
              <a:t>Separation of Concerns</a:t>
            </a:r>
          </a:p>
          <a:p>
            <a:pPr lvl="1"/>
            <a:r>
              <a:rPr lang="en-US" sz="1800" dirty="0"/>
              <a:t>MVVM separates UI from business logic for cleaner &amp; modular code design.</a:t>
            </a:r>
          </a:p>
          <a:p>
            <a:r>
              <a:rPr lang="en-US" sz="2000" dirty="0"/>
              <a:t>Improved Code Organization</a:t>
            </a:r>
          </a:p>
          <a:p>
            <a:pPr lvl="1"/>
            <a:r>
              <a:rPr lang="en-US" sz="1800" dirty="0"/>
              <a:t>Using MVVM enhances code maintainability and organization in .NET MAUI applications.</a:t>
            </a:r>
          </a:p>
          <a:p>
            <a:r>
              <a:rPr lang="en-US" sz="2000" dirty="0"/>
              <a:t>Easier Testing</a:t>
            </a:r>
          </a:p>
          <a:p>
            <a:pPr lvl="1"/>
            <a:r>
              <a:rPr lang="en-US" sz="1800" dirty="0"/>
              <a:t>MVVM facilitates unit testing by isolating business logic from UI elements.</a:t>
            </a:r>
          </a:p>
        </p:txBody>
      </p: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41450B70-0B63-55FD-5642-38B5AAC185E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94514" y="900114"/>
            <a:ext cx="3570163" cy="35701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778264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3F855-02EC-DB99-BC10-CBAA262A4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Reduce Boilerplate with MVVM Toolkit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3D2A2-698A-90EF-56DD-A6901B6D9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Minimizing Repetitive Code</a:t>
            </a:r>
          </a:p>
          <a:p>
            <a:pPr lvl="1"/>
            <a:r>
              <a:rPr lang="en-US" dirty="0"/>
              <a:t>Base classes designed to reduce repetitive coding tasks efficiently.</a:t>
            </a:r>
          </a:p>
          <a:p>
            <a:r>
              <a:rPr lang="en-US" dirty="0"/>
              <a:t>Streamlining Development</a:t>
            </a:r>
          </a:p>
          <a:p>
            <a:pPr lvl="1"/>
            <a:r>
              <a:rPr lang="en-US" dirty="0"/>
              <a:t>Helpers in the toolkit streamline the development process, enhancing productivity &amp; maintainability.</a:t>
            </a:r>
          </a:p>
        </p:txBody>
      </p:sp>
    </p:spTree>
    <p:extLst>
      <p:ext uri="{BB962C8B-B14F-4D97-AF65-F5344CB8AC3E}">
        <p14:creationId xmlns:p14="http://schemas.microsoft.com/office/powerpoint/2010/main" val="2671546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189EE-9BB0-2C6F-4FF6-8E539DB8D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Scalable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74563-500F-76A7-DDB9-AA2ABE0F3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Data Binding</a:t>
            </a:r>
          </a:p>
          <a:p>
            <a:pPr lvl="1"/>
            <a:r>
              <a:rPr lang="en-US" sz="2000" dirty="0"/>
              <a:t>Use data binding to synchronize UI and data models efficiently, enhancing app responsiveness and maintainability.</a:t>
            </a:r>
          </a:p>
          <a:p>
            <a:r>
              <a:rPr lang="en-US" sz="2400" dirty="0"/>
              <a:t>Command Patterns</a:t>
            </a:r>
          </a:p>
          <a:p>
            <a:pPr lvl="1"/>
            <a:r>
              <a:rPr lang="en-US" sz="2000" dirty="0"/>
              <a:t>Apply command patterns to encapsulate requests as objects, facilitating flexible and reusable code.</a:t>
            </a:r>
          </a:p>
          <a:p>
            <a:r>
              <a:rPr lang="en-US" sz="2400" dirty="0"/>
              <a:t>Dependency Injection</a:t>
            </a:r>
          </a:p>
          <a:p>
            <a:pPr lvl="1"/>
            <a:r>
              <a:rPr lang="en-US" sz="2000" dirty="0"/>
              <a:t>Use dependency injection to manage component dependencies, promoting modular and testable code architecture.</a:t>
            </a:r>
          </a:p>
          <a:p>
            <a:r>
              <a:rPr lang="en-US" sz="2400" dirty="0"/>
              <a:t>Demo – Use the MVVM Toolkit in Your Project</a:t>
            </a:r>
          </a:p>
        </p:txBody>
      </p:sp>
    </p:spTree>
    <p:extLst>
      <p:ext uri="{BB962C8B-B14F-4D97-AF65-F5344CB8AC3E}">
        <p14:creationId xmlns:p14="http://schemas.microsoft.com/office/powerpoint/2010/main" val="24017194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CD235-ED5E-5BC0-FFA4-543551870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Build MAUI Apps with C# Markup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6F84FB-0586-8C19-0BC4-F417F3798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Look, ma… No XAML!</a:t>
            </a:r>
          </a:p>
        </p:txBody>
      </p:sp>
    </p:spTree>
    <p:extLst>
      <p:ext uri="{BB962C8B-B14F-4D97-AF65-F5344CB8AC3E}">
        <p14:creationId xmlns:p14="http://schemas.microsoft.com/office/powerpoint/2010/main" val="24991368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35986-D242-815D-D383-C5D9B9125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C# Markup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EBCF9-1D7C-D137-565C-8432953AC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Programmatic UI Creation</a:t>
            </a:r>
          </a:p>
          <a:p>
            <a:pPr lvl="1"/>
            <a:r>
              <a:rPr lang="en-US" sz="2000" dirty="0"/>
              <a:t>Create and modify user interface elements using C# markup programmatically.</a:t>
            </a:r>
          </a:p>
          <a:p>
            <a:r>
              <a:rPr lang="en-US" sz="2400" dirty="0"/>
              <a:t>Improved Code Reuse</a:t>
            </a:r>
          </a:p>
          <a:p>
            <a:pPr lvl="1"/>
            <a:r>
              <a:rPr lang="en-US" sz="2000" dirty="0"/>
              <a:t>Enhance code reuse by allowing modular UI components to be managed efficiently.</a:t>
            </a:r>
          </a:p>
          <a:p>
            <a:r>
              <a:rPr lang="en-US" sz="2400" dirty="0"/>
              <a:t>Reduced Context Switching</a:t>
            </a:r>
          </a:p>
          <a:p>
            <a:pPr lvl="1"/>
            <a:r>
              <a:rPr lang="en-US" sz="2000" dirty="0"/>
              <a:t>Using C# markup reduces context switching between design and code environments for developers.</a:t>
            </a:r>
          </a:p>
        </p:txBody>
      </p:sp>
    </p:spTree>
    <p:extLst>
      <p:ext uri="{BB962C8B-B14F-4D97-AF65-F5344CB8AC3E}">
        <p14:creationId xmlns:p14="http://schemas.microsoft.com/office/powerpoint/2010/main" val="3957530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C12B2-74DC-52B1-B898-F405CD35B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C# User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FC888-F08B-ED79-8AD4-71CA7201D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Runtime UI Generation</a:t>
            </a:r>
          </a:p>
          <a:p>
            <a:pPr lvl="1"/>
            <a:r>
              <a:rPr lang="en-US" sz="2000" dirty="0"/>
              <a:t>Create UI elements on-the-fly during application runtime using C# code for flexibility.</a:t>
            </a:r>
          </a:p>
          <a:p>
            <a:r>
              <a:rPr lang="en-US" sz="2400" dirty="0"/>
              <a:t>Enhanced Adaptability</a:t>
            </a:r>
          </a:p>
          <a:p>
            <a:pPr lvl="1"/>
            <a:r>
              <a:rPr lang="en-US" sz="2000" dirty="0"/>
              <a:t>Building UIs dynamically improves adaptability to complex and changing application requirements.</a:t>
            </a:r>
          </a:p>
          <a:p>
            <a:r>
              <a:rPr lang="en-US" sz="2400" dirty="0"/>
              <a:t>Pure C# Implementation</a:t>
            </a:r>
          </a:p>
          <a:p>
            <a:pPr lvl="1"/>
            <a:r>
              <a:rPr lang="en-US" sz="2000" dirty="0"/>
              <a:t>All UI components &amp; logic are implemented purely in C# without relying on external tools or markup.</a:t>
            </a:r>
          </a:p>
        </p:txBody>
      </p:sp>
    </p:spTree>
    <p:extLst>
      <p:ext uri="{BB962C8B-B14F-4D97-AF65-F5344CB8AC3E}">
        <p14:creationId xmlns:p14="http://schemas.microsoft.com/office/powerpoint/2010/main" val="14586426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4F1D4-7BF6-69C5-F5C6-6723BDD7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F68E7-00CB-9473-CAC8-93C7F21E82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Dynamic Layouts</a:t>
            </a:r>
          </a:p>
          <a:p>
            <a:pPr lvl="1"/>
            <a:r>
              <a:rPr lang="en-US" sz="2400" dirty="0"/>
              <a:t>Get flexible, dynamic layouts that adjust automatically based on data and user interactions.</a:t>
            </a:r>
          </a:p>
          <a:p>
            <a:r>
              <a:rPr lang="en-US" sz="2800" dirty="0"/>
              <a:t>Data-Driven UI Generation</a:t>
            </a:r>
          </a:p>
          <a:p>
            <a:pPr lvl="1"/>
            <a:r>
              <a:rPr lang="en-US" sz="2400" dirty="0"/>
              <a:t>UI elements can be generated dynamically from data sources, improving responsiveness and customization.</a:t>
            </a:r>
          </a:p>
          <a:p>
            <a:r>
              <a:rPr lang="en-US" sz="2800" dirty="0"/>
              <a:t>Demo – Create a Project w/ C# Markup</a:t>
            </a:r>
          </a:p>
        </p:txBody>
      </p:sp>
    </p:spTree>
    <p:extLst>
      <p:ext uri="{BB962C8B-B14F-4D97-AF65-F5344CB8AC3E}">
        <p14:creationId xmlns:p14="http://schemas.microsoft.com/office/powerpoint/2010/main" val="11081566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1B296-CC5C-2659-BAE8-5B5CFF232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Style Apps Like a Web Dev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C76FF-34B3-D317-6A31-77B6F512C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 style reuse with CSS in .NET MAUI apps</a:t>
            </a:r>
          </a:p>
        </p:txBody>
      </p:sp>
    </p:spTree>
    <p:extLst>
      <p:ext uri="{BB962C8B-B14F-4D97-AF65-F5344CB8AC3E}">
        <p14:creationId xmlns:p14="http://schemas.microsoft.com/office/powerpoint/2010/main" val="34549978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0D238-72BF-2034-67CC-ECFB1F21C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Reuse Web Skills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1EBE5-468E-9B83-5271-27054A5B7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Leverage Web Development Skills</a:t>
            </a:r>
          </a:p>
          <a:p>
            <a:pPr lvl="1"/>
            <a:r>
              <a:rPr lang="en-US" sz="2000" dirty="0"/>
              <a:t>Utilize your existing web dev knowledge to efficiently style MAUI applications.</a:t>
            </a:r>
          </a:p>
          <a:p>
            <a:r>
              <a:rPr lang="en-US" sz="2400" dirty="0"/>
              <a:t>Save Development Time</a:t>
            </a:r>
          </a:p>
          <a:p>
            <a:pPr lvl="1"/>
            <a:r>
              <a:rPr lang="en-US" sz="2000" dirty="0"/>
              <a:t>Reusing web assets reduces styling time, accelerating app development &amp; deployment.</a:t>
            </a:r>
          </a:p>
          <a:p>
            <a:r>
              <a:rPr lang="en-US" sz="2400" dirty="0"/>
              <a:t>Maintain Brand Consistency</a:t>
            </a:r>
          </a:p>
          <a:p>
            <a:pPr lvl="1"/>
            <a:r>
              <a:rPr lang="en-US" sz="2000" dirty="0"/>
              <a:t>Consistent styling across web &amp; MAUI apps ensures strong &amp; uniform brand identity.</a:t>
            </a:r>
          </a:p>
        </p:txBody>
      </p:sp>
    </p:spTree>
    <p:extLst>
      <p:ext uri="{BB962C8B-B14F-4D97-AF65-F5344CB8AC3E}">
        <p14:creationId xmlns:p14="http://schemas.microsoft.com/office/powerpoint/2010/main" val="6644510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F9FB6-FC64-FBAB-E50F-BAEB165F1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CSS in MAUI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68594-7C50-B49B-6C41-750D3A133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Including CSS Files</a:t>
            </a:r>
          </a:p>
          <a:p>
            <a:pPr lvl="1"/>
            <a:r>
              <a:rPr lang="en-US" sz="2400" dirty="0"/>
              <a:t>Learn the process to add CSS files to a MAUI project to manage styles separately from code and XAML.</a:t>
            </a:r>
          </a:p>
          <a:p>
            <a:r>
              <a:rPr lang="en-US" sz="2800" dirty="0"/>
              <a:t>Applying Styles to Controls</a:t>
            </a:r>
          </a:p>
          <a:p>
            <a:pPr lvl="1"/>
            <a:r>
              <a:rPr lang="en-US" sz="2400" dirty="0"/>
              <a:t>Apply CSS styles effectively to UI controls for a clear separation between design &amp; app logic.</a:t>
            </a:r>
          </a:p>
          <a:p>
            <a:r>
              <a:rPr lang="en-US" sz="2800" dirty="0"/>
              <a:t>Demo – CSS in .NET MAUI projects</a:t>
            </a:r>
          </a:p>
        </p:txBody>
      </p:sp>
    </p:spTree>
    <p:extLst>
      <p:ext uri="{BB962C8B-B14F-4D97-AF65-F5344CB8AC3E}">
        <p14:creationId xmlns:p14="http://schemas.microsoft.com/office/powerpoint/2010/main" val="40800201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D7378-C8F3-9186-3F5F-6A90EB5AA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Platform-Specific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3E6B13-0AB5-5F4B-1B98-DC0101BA2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Access platform capabilities without platform-specific code</a:t>
            </a:r>
          </a:p>
        </p:txBody>
      </p:sp>
    </p:spTree>
    <p:extLst>
      <p:ext uri="{BB962C8B-B14F-4D97-AF65-F5344CB8AC3E}">
        <p14:creationId xmlns:p14="http://schemas.microsoft.com/office/powerpoint/2010/main" val="4063778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A6C5F-BDAF-505B-D899-D16536D5C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Feature 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27F2-1877-58ED-96AD-EB72AA06A0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Unified API Access</a:t>
            </a:r>
          </a:p>
          <a:p>
            <a:pPr lvl="1"/>
            <a:r>
              <a:rPr lang="en-US" sz="2000" dirty="0"/>
              <a:t>Unified APIs simplify device feature access across multiple device platforms.</a:t>
            </a:r>
          </a:p>
          <a:p>
            <a:r>
              <a:rPr lang="en-US" sz="2400" dirty="0"/>
              <a:t>Sensors Integration</a:t>
            </a:r>
          </a:p>
          <a:p>
            <a:pPr lvl="1"/>
            <a:r>
              <a:rPr lang="en-US" sz="2000" dirty="0"/>
              <a:t>APIs enable consistent access to device sensors like accelerometers &amp; gyroscopes.</a:t>
            </a:r>
          </a:p>
          <a:p>
            <a:r>
              <a:rPr lang="en-US" sz="2400" dirty="0"/>
              <a:t>Camera and Storage</a:t>
            </a:r>
          </a:p>
          <a:p>
            <a:pPr lvl="1"/>
            <a:r>
              <a:rPr lang="en-US" sz="2000" dirty="0"/>
              <a:t>Support for camera use &amp; file management is streamlined via unified APIs.</a:t>
            </a:r>
          </a:p>
          <a:p>
            <a:r>
              <a:rPr lang="en-US" sz="2400" dirty="0"/>
              <a:t>Demo – View the Device Platform docs</a:t>
            </a:r>
          </a:p>
        </p:txBody>
      </p:sp>
    </p:spTree>
    <p:extLst>
      <p:ext uri="{BB962C8B-B14F-4D97-AF65-F5344CB8AC3E}">
        <p14:creationId xmlns:p14="http://schemas.microsoft.com/office/powerpoint/2010/main" val="32376323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5E1BB-73EE-0E32-924E-09428F700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 and Q&amp;A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7B396-7E73-F7DB-9B6B-DEE109917A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.NET MAUI App Development Questions Answered</a:t>
            </a:r>
          </a:p>
        </p:txBody>
      </p:sp>
    </p:spTree>
    <p:extLst>
      <p:ext uri="{BB962C8B-B14F-4D97-AF65-F5344CB8AC3E}">
        <p14:creationId xmlns:p14="http://schemas.microsoft.com/office/powerpoint/2010/main" val="35915413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3D63-4A07-5FB5-283A-022FD7DB0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819F0-F620-B38D-BFEA-9CBA932D9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Documentation Access</a:t>
            </a:r>
          </a:p>
          <a:p>
            <a:pPr lvl="1"/>
            <a:r>
              <a:rPr lang="en-US" sz="1400" dirty="0"/>
              <a:t>.NET MAUI docs home: </a:t>
            </a:r>
            <a:r>
              <a:rPr lang="en-US" sz="1400" dirty="0">
                <a:hlinkClick r:id="rId2"/>
              </a:rPr>
              <a:t>https://learn.microsoft.com/dotnet/maui/</a:t>
            </a:r>
            <a:r>
              <a:rPr lang="en-US" sz="1400" dirty="0"/>
              <a:t> </a:t>
            </a:r>
          </a:p>
          <a:p>
            <a:pPr lvl="1"/>
            <a:r>
              <a:rPr lang="en-US" sz="1400" dirty="0"/>
              <a:t>MAUI Toolkit docs: </a:t>
            </a:r>
            <a:r>
              <a:rPr lang="en-US" sz="1400" dirty="0">
                <a:hlinkClick r:id="rId3"/>
              </a:rPr>
              <a:t>https://learn.microsoft.com/dotnet/communitytoolkit/maui/</a:t>
            </a:r>
            <a:r>
              <a:rPr lang="en-US" sz="1400" dirty="0"/>
              <a:t> </a:t>
            </a:r>
          </a:p>
          <a:p>
            <a:r>
              <a:rPr lang="en-US" sz="1600" dirty="0"/>
              <a:t>Tutorials and Guides</a:t>
            </a:r>
          </a:p>
          <a:p>
            <a:pPr lvl="1"/>
            <a:r>
              <a:rPr lang="en-US" sz="1400" dirty="0"/>
              <a:t>Get started in docs: </a:t>
            </a:r>
            <a:r>
              <a:rPr lang="en-US" sz="1400" dirty="0">
                <a:hlinkClick r:id="rId4"/>
              </a:rPr>
              <a:t>https://learn.microsoft.com/dotnet/maui/get-started/first-app</a:t>
            </a:r>
            <a:r>
              <a:rPr lang="en-US" sz="1400" dirty="0"/>
              <a:t> </a:t>
            </a:r>
          </a:p>
          <a:p>
            <a:pPr lvl="1"/>
            <a:r>
              <a:rPr lang="en-US" sz="1400" dirty="0"/>
              <a:t>.NET MAUI learning path: </a:t>
            </a:r>
            <a:r>
              <a:rPr lang="en-US" sz="1400" dirty="0">
                <a:hlinkClick r:id="rId5"/>
              </a:rPr>
              <a:t>https://learn.microsoft.com/training/paths/build-apps-with-dotnet-maui/</a:t>
            </a:r>
            <a:r>
              <a:rPr lang="en-US" sz="1400" dirty="0"/>
              <a:t> </a:t>
            </a:r>
          </a:p>
          <a:p>
            <a:r>
              <a:rPr lang="en-US" sz="1600" dirty="0"/>
              <a:t>Community Groups</a:t>
            </a:r>
          </a:p>
          <a:p>
            <a:pPr lvl="1"/>
            <a:r>
              <a:rPr lang="en-US" sz="1400" dirty="0"/>
              <a:t>.NET MAUI Community Standup: </a:t>
            </a:r>
            <a:r>
              <a:rPr lang="en-US" sz="1400" dirty="0">
                <a:hlinkClick r:id="rId6"/>
              </a:rPr>
              <a:t>https://www.youtube.com/watch?v=SeRGpBR3-3M&amp;list=PLdo4fOcmZ0oX-sL7AFmygVw2A37Hbp8ZS</a:t>
            </a:r>
            <a:r>
              <a:rPr lang="en-US" sz="1400" dirty="0"/>
              <a:t> </a:t>
            </a:r>
          </a:p>
          <a:p>
            <a:r>
              <a:rPr lang="en-US" sz="1600" dirty="0"/>
              <a:t>Sample Projects</a:t>
            </a:r>
          </a:p>
          <a:p>
            <a:pPr lvl="1"/>
            <a:r>
              <a:rPr lang="en-US" sz="1400" dirty="0"/>
              <a:t>Access sample projects to practice and apply new skills in real-world scenarios: </a:t>
            </a:r>
            <a:r>
              <a:rPr lang="en-US" sz="1400" dirty="0">
                <a:hlinkClick r:id="rId7"/>
              </a:rPr>
              <a:t>https://github.com/dotnet/maui-samples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6699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56E8-268B-B6ED-2F72-83F4E3722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 and 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A1289-A2B2-501E-384A-DE8D8FFB4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Questions about .NET MAUI &amp; the Community Toolkits?</a:t>
            </a:r>
          </a:p>
          <a:p>
            <a:r>
              <a:rPr lang="en-US" sz="2800" dirty="0"/>
              <a:t>General Cross-Platform Dev Questions?</a:t>
            </a:r>
          </a:p>
          <a:p>
            <a:r>
              <a:rPr lang="en-US" sz="2800" dirty="0"/>
              <a:t>Follow up later:</a:t>
            </a:r>
          </a:p>
          <a:p>
            <a:pPr lvl="1"/>
            <a:r>
              <a:rPr lang="en-US" sz="2400" dirty="0">
                <a:hlinkClick r:id="rId2"/>
              </a:rPr>
              <a:t>alashcraft@gmail.com</a:t>
            </a:r>
            <a:endParaRPr lang="en-US" sz="2400" dirty="0"/>
          </a:p>
          <a:p>
            <a:pPr lvl="1"/>
            <a:r>
              <a:rPr lang="en-US" sz="2400" dirty="0"/>
              <a:t>Find me on BlueSky and LinkedIn</a:t>
            </a:r>
          </a:p>
          <a:p>
            <a:r>
              <a:rPr lang="en-US" sz="2800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220436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31590"/>
            <a:ext cx="8229600" cy="3394472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/>
              <a:t>Your feedback is very important to us</a:t>
            </a:r>
          </a:p>
          <a:p>
            <a:r>
              <a:rPr lang="en-US" sz="2800" dirty="0"/>
              <a:t>Please take a moment to complete the session survey found in the mobile app</a:t>
            </a:r>
          </a:p>
          <a:p>
            <a:r>
              <a:rPr lang="en-US" sz="2800" dirty="0"/>
              <a:t>Use the QR code or search for “Converge360 Events” in your app store</a:t>
            </a:r>
          </a:p>
          <a:p>
            <a:r>
              <a:rPr lang="en-US" sz="2800" dirty="0"/>
              <a:t>Find this session on the Agenda tab</a:t>
            </a:r>
          </a:p>
          <a:p>
            <a:r>
              <a:rPr lang="en-US" sz="2800" dirty="0"/>
              <a:t>Click “Session Evaluation”</a:t>
            </a:r>
          </a:p>
          <a:p>
            <a:r>
              <a:rPr lang="en-US" sz="2800" dirty="0"/>
              <a:t>Thank you! </a:t>
            </a:r>
          </a:p>
          <a:p>
            <a:endParaRPr lang="en-US" sz="3000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Session Survey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04985" y="2852732"/>
            <a:ext cx="1427276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698217"/>
      </p:ext>
    </p:extLst>
  </p:cSld>
  <p:clrMapOvr>
    <a:masterClrMapping/>
  </p:clrMapOvr>
</p:sld>
</file>

<file path=ppt/theme/theme1.xml><?xml version="1.0" encoding="utf-8"?>
<a:theme xmlns:a="http://schemas.openxmlformats.org/drawingml/2006/main" name="Visual Studio Live! New York 2015">
  <a:themeElements>
    <a:clrScheme name="Live! 360 2016">
      <a:dk1>
        <a:srgbClr val="000000"/>
      </a:dk1>
      <a:lt1>
        <a:sysClr val="window" lastClr="FFFFFF"/>
      </a:lt1>
      <a:dk2>
        <a:srgbClr val="000000"/>
      </a:dk2>
      <a:lt2>
        <a:srgbClr val="EEECE1"/>
      </a:lt2>
      <a:accent1>
        <a:srgbClr val="000000"/>
      </a:accent1>
      <a:accent2>
        <a:srgbClr val="00B0F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isual Studio Live! Redmond 2014 1">
        <a:dk1>
          <a:srgbClr val="303030"/>
        </a:dk1>
        <a:lt1>
          <a:srgbClr val="FFFFFF"/>
        </a:lt1>
        <a:dk2>
          <a:srgbClr val="000000"/>
        </a:dk2>
        <a:lt2>
          <a:srgbClr val="DEDEE0"/>
        </a:lt2>
        <a:accent1>
          <a:srgbClr val="AD0101"/>
        </a:accent1>
        <a:accent2>
          <a:srgbClr val="726056"/>
        </a:accent2>
        <a:accent3>
          <a:srgbClr val="AAAAAA"/>
        </a:accent3>
        <a:accent4>
          <a:srgbClr val="DADADA"/>
        </a:accent4>
        <a:accent5>
          <a:srgbClr val="D3AAAA"/>
        </a:accent5>
        <a:accent6>
          <a:srgbClr val="67564D"/>
        </a:accent6>
        <a:hlink>
          <a:srgbClr val="D26900"/>
        </a:hlink>
        <a:folHlink>
          <a:srgbClr val="D8924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ual Studio Live! Redmond 2014 2">
        <a:dk1>
          <a:srgbClr val="000000"/>
        </a:dk1>
        <a:lt1>
          <a:srgbClr val="FFFFFE"/>
        </a:lt1>
        <a:dk2>
          <a:srgbClr val="007397"/>
        </a:dk2>
        <a:lt2>
          <a:srgbClr val="636463"/>
        </a:lt2>
        <a:accent1>
          <a:srgbClr val="A01420"/>
        </a:accent1>
        <a:accent2>
          <a:srgbClr val="726056"/>
        </a:accent2>
        <a:accent3>
          <a:srgbClr val="FFFFFE"/>
        </a:accent3>
        <a:accent4>
          <a:srgbClr val="000000"/>
        </a:accent4>
        <a:accent5>
          <a:srgbClr val="CDAAAB"/>
        </a:accent5>
        <a:accent6>
          <a:srgbClr val="67564D"/>
        </a:accent6>
        <a:hlink>
          <a:srgbClr val="007397"/>
        </a:hlink>
        <a:folHlink>
          <a:srgbClr val="162F4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ive! 360 2018">
  <a:themeElements>
    <a:clrScheme name="Live! 360 2016">
      <a:dk1>
        <a:srgbClr val="000000"/>
      </a:dk1>
      <a:lt1>
        <a:sysClr val="window" lastClr="FFFFFF"/>
      </a:lt1>
      <a:dk2>
        <a:srgbClr val="000000"/>
      </a:dk2>
      <a:lt2>
        <a:srgbClr val="EEECE1"/>
      </a:lt2>
      <a:accent1>
        <a:srgbClr val="000000"/>
      </a:accent1>
      <a:accent2>
        <a:srgbClr val="00B0F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isual Studio Live! Redmond 2014 1">
        <a:dk1>
          <a:srgbClr val="303030"/>
        </a:dk1>
        <a:lt1>
          <a:srgbClr val="FFFFFF"/>
        </a:lt1>
        <a:dk2>
          <a:srgbClr val="000000"/>
        </a:dk2>
        <a:lt2>
          <a:srgbClr val="DEDEE0"/>
        </a:lt2>
        <a:accent1>
          <a:srgbClr val="AD0101"/>
        </a:accent1>
        <a:accent2>
          <a:srgbClr val="726056"/>
        </a:accent2>
        <a:accent3>
          <a:srgbClr val="AAAAAA"/>
        </a:accent3>
        <a:accent4>
          <a:srgbClr val="DADADA"/>
        </a:accent4>
        <a:accent5>
          <a:srgbClr val="D3AAAA"/>
        </a:accent5>
        <a:accent6>
          <a:srgbClr val="67564D"/>
        </a:accent6>
        <a:hlink>
          <a:srgbClr val="D26900"/>
        </a:hlink>
        <a:folHlink>
          <a:srgbClr val="D8924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ual Studio Live! Redmond 2014 2">
        <a:dk1>
          <a:srgbClr val="000000"/>
        </a:dk1>
        <a:lt1>
          <a:srgbClr val="FFFFFE"/>
        </a:lt1>
        <a:dk2>
          <a:srgbClr val="007397"/>
        </a:dk2>
        <a:lt2>
          <a:srgbClr val="636463"/>
        </a:lt2>
        <a:accent1>
          <a:srgbClr val="A01420"/>
        </a:accent1>
        <a:accent2>
          <a:srgbClr val="726056"/>
        </a:accent2>
        <a:accent3>
          <a:srgbClr val="FFFFFE"/>
        </a:accent3>
        <a:accent4>
          <a:srgbClr val="000000"/>
        </a:accent4>
        <a:accent5>
          <a:srgbClr val="CDAAAB"/>
        </a:accent5>
        <a:accent6>
          <a:srgbClr val="67564D"/>
        </a:accent6>
        <a:hlink>
          <a:srgbClr val="007397"/>
        </a:hlink>
        <a:folHlink>
          <a:srgbClr val="162F4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3281</TotalTime>
  <Words>2174</Words>
  <Application>Microsoft Office PowerPoint</Application>
  <PresentationFormat>On-screen Show (16:9)</PresentationFormat>
  <Paragraphs>233</Paragraphs>
  <Slides>34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ＭＳ Ｐゴシック</vt:lpstr>
      <vt:lpstr>Arial</vt:lpstr>
      <vt:lpstr>Arial Bold</vt:lpstr>
      <vt:lpstr>Calibri</vt:lpstr>
      <vt:lpstr>Times New Roman</vt:lpstr>
      <vt:lpstr>Visual Studio Live! New York 2015</vt:lpstr>
      <vt:lpstr>Live! 360 2018</vt:lpstr>
      <vt:lpstr>PowerPoint Presentation</vt:lpstr>
      <vt:lpstr>Session Survey</vt:lpstr>
      <vt:lpstr>Agenda</vt:lpstr>
      <vt:lpstr>About Me</vt:lpstr>
      <vt:lpstr>Introduction</vt:lpstr>
      <vt:lpstr>Overview of .NET MAUI &amp; Supported Platforms</vt:lpstr>
      <vt:lpstr>Benefits of a Single Codebase</vt:lpstr>
      <vt:lpstr>MAUI vs Other X-Plat Frameworks</vt:lpstr>
      <vt:lpstr>Development Tools</vt:lpstr>
      <vt:lpstr>IDEs and Tools</vt:lpstr>
      <vt:lpstr>Debug &amp; Build Across Platforms</vt:lpstr>
      <vt:lpstr>Productivity Tips</vt:lpstr>
      <vt:lpstr>Start Building Apps</vt:lpstr>
      <vt:lpstr>Build UIs with XAML or C#</vt:lpstr>
      <vt:lpstr>MAUI Community Toolkit</vt:lpstr>
      <vt:lpstr>Toolkit Overview</vt:lpstr>
      <vt:lpstr>Integrate Toolkit Features</vt:lpstr>
      <vt:lpstr>Simplify Your Architecture</vt:lpstr>
      <vt:lpstr>MVVM in MAUI Apps</vt:lpstr>
      <vt:lpstr>Reduce Boilerplate with MVVM Toolkit</vt:lpstr>
      <vt:lpstr>Build Scalable Apps</vt:lpstr>
      <vt:lpstr>Build MAUI Apps with C# Markup</vt:lpstr>
      <vt:lpstr>Advantages of C# Markup</vt:lpstr>
      <vt:lpstr>Pure C# User Interfaces</vt:lpstr>
      <vt:lpstr>Recommended Scenarios</vt:lpstr>
      <vt:lpstr>Style Apps Like a Web Dev</vt:lpstr>
      <vt:lpstr>Reuse Web Skills</vt:lpstr>
      <vt:lpstr>Using CSS in MAUI Projects</vt:lpstr>
      <vt:lpstr>Platform-Specific Features</vt:lpstr>
      <vt:lpstr>Device Feature Abstraction</vt:lpstr>
      <vt:lpstr>Resources and Q&amp;A</vt:lpstr>
      <vt:lpstr>Additional Resources</vt:lpstr>
      <vt:lpstr>Q&amp;A and Thank You!</vt:lpstr>
      <vt:lpstr>Session Survey</vt:lpstr>
    </vt:vector>
  </TitlesOfParts>
  <Company>1105 Media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Brent Sutton</dc:creator>
  <cp:lastModifiedBy>Alvin Ashcraft</cp:lastModifiedBy>
  <cp:revision>180</cp:revision>
  <dcterms:created xsi:type="dcterms:W3CDTF">2012-12-07T00:48:42Z</dcterms:created>
  <dcterms:modified xsi:type="dcterms:W3CDTF">2025-11-09T18:58:47Z</dcterms:modified>
</cp:coreProperties>
</file>