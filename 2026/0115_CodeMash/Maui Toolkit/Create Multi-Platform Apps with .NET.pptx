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703" r:id="rId3"/>
  </p:sldMasterIdLst>
  <p:notesMasterIdLst>
    <p:notesMasterId r:id="rId28"/>
  </p:notesMasterIdLst>
  <p:handoutMasterIdLst>
    <p:handoutMasterId r:id="rId29"/>
  </p:handoutMasterIdLst>
  <p:sldIdLst>
    <p:sldId id="258" r:id="rId4"/>
    <p:sldId id="293" r:id="rId5"/>
    <p:sldId id="259" r:id="rId6"/>
    <p:sldId id="262" r:id="rId7"/>
    <p:sldId id="256" r:id="rId8"/>
    <p:sldId id="264" r:id="rId9"/>
    <p:sldId id="265" r:id="rId10"/>
    <p:sldId id="266" r:id="rId11"/>
    <p:sldId id="267" r:id="rId12"/>
    <p:sldId id="269" r:id="rId13"/>
    <p:sldId id="270" r:id="rId14"/>
    <p:sldId id="272" r:id="rId15"/>
    <p:sldId id="274" r:id="rId16"/>
    <p:sldId id="277" r:id="rId17"/>
    <p:sldId id="278" r:id="rId18"/>
    <p:sldId id="279" r:id="rId19"/>
    <p:sldId id="281" r:id="rId20"/>
    <p:sldId id="283" r:id="rId21"/>
    <p:sldId id="285" r:id="rId22"/>
    <p:sldId id="286" r:id="rId23"/>
    <p:sldId id="287" r:id="rId24"/>
    <p:sldId id="290" r:id="rId25"/>
    <p:sldId id="292" r:id="rId26"/>
    <p:sldId id="291" r:id="rId27"/>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1pPr>
    <a:lvl2pPr marL="4572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2pPr>
    <a:lvl3pPr marL="9144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3pPr>
    <a:lvl4pPr marL="13716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4pPr>
    <a:lvl5pPr marL="1828800" algn="l" rtl="0" fontAlgn="base">
      <a:spcBef>
        <a:spcPct val="0"/>
      </a:spcBef>
      <a:spcAft>
        <a:spcPct val="0"/>
      </a:spcAft>
      <a:defRPr kern="1200">
        <a:solidFill>
          <a:schemeClr val="tx1"/>
        </a:solidFill>
        <a:latin typeface="Arial" pitchFamily="-72" charset="0"/>
        <a:ea typeface="ＭＳ Ｐゴシック" pitchFamily="-72" charset="-128"/>
        <a:cs typeface="ＭＳ Ｐゴシック" pitchFamily="-72" charset="-128"/>
      </a:defRPr>
    </a:lvl5pPr>
    <a:lvl6pPr marL="22860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6pPr>
    <a:lvl7pPr marL="27432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7pPr>
    <a:lvl8pPr marL="32004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8pPr>
    <a:lvl9pPr marL="3657600" algn="l" defTabSz="457200" rtl="0" eaLnBrk="1" latinLnBrk="0" hangingPunct="1">
      <a:defRPr kern="1200">
        <a:solidFill>
          <a:schemeClr val="tx1"/>
        </a:solidFill>
        <a:latin typeface="Arial" pitchFamily="-72" charset="0"/>
        <a:ea typeface="ＭＳ Ｐゴシック" pitchFamily="-72" charset="-128"/>
        <a:cs typeface="ＭＳ Ｐゴシック" pitchFamily="-72" charset="-128"/>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5B26"/>
    <a:srgbClr val="0073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6" autoAdjust="0"/>
    <p:restoredTop sz="86100" autoAdjust="0"/>
  </p:normalViewPr>
  <p:slideViewPr>
    <p:cSldViewPr>
      <p:cViewPr varScale="1">
        <p:scale>
          <a:sx n="115" d="100"/>
          <a:sy n="115" d="100"/>
        </p:scale>
        <p:origin x="836" y="292"/>
      </p:cViewPr>
      <p:guideLst>
        <p:guide orient="horz" pos="1620"/>
        <p:guide pos="2880"/>
      </p:guideLst>
    </p:cSldViewPr>
  </p:slideViewPr>
  <p:outlineViewPr>
    <p:cViewPr>
      <p:scale>
        <a:sx n="33" d="100"/>
        <a:sy n="33" d="100"/>
      </p:scale>
      <p:origin x="0" y="0"/>
    </p:cViewPr>
  </p:outlineViewPr>
  <p:notesTextViewPr>
    <p:cViewPr>
      <p:scale>
        <a:sx n="1" d="1"/>
        <a:sy n="1" d="1"/>
      </p:scale>
      <p:origin x="0" y="-988"/>
    </p:cViewPr>
  </p:notesTextViewPr>
  <p:sorterViewPr>
    <p:cViewPr varScale="1">
      <p:scale>
        <a:sx n="100" d="100"/>
        <a:sy n="100" d="100"/>
      </p:scale>
      <p:origin x="0" y="0"/>
    </p:cViewPr>
  </p:sorterViewPr>
  <p:notesViewPr>
    <p:cSldViewPr>
      <p:cViewPr varScale="1">
        <p:scale>
          <a:sx n="72" d="100"/>
          <a:sy n="72" d="100"/>
        </p:scale>
        <p:origin x="2155"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ata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ata5.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diagrams/_rels/drawing5.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9D3CDA-B658-4717-8096-2A01030821F7}"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93338D8-1B44-42B7-8DBB-3C4930821FAE}">
      <dgm:prSet/>
      <dgm:spPr/>
      <dgm:t>
        <a:bodyPr/>
        <a:lstStyle/>
        <a:p>
          <a:pPr>
            <a:lnSpc>
              <a:spcPct val="100000"/>
            </a:lnSpc>
            <a:defRPr b="1"/>
          </a:pPr>
          <a:r>
            <a:rPr lang="en-US" dirty="0"/>
            <a:t>Software industry for 30+ years</a:t>
          </a:r>
        </a:p>
      </dgm:t>
    </dgm:pt>
    <dgm:pt modelId="{8594AF73-9A04-4D29-B23C-417FA3B07FA5}" type="parTrans" cxnId="{E8FCEB46-F98C-4A32-9B4E-89796A45F77C}">
      <dgm:prSet/>
      <dgm:spPr/>
      <dgm:t>
        <a:bodyPr/>
        <a:lstStyle/>
        <a:p>
          <a:endParaRPr lang="en-US"/>
        </a:p>
      </dgm:t>
    </dgm:pt>
    <dgm:pt modelId="{265DF096-8398-45FB-A52D-8E6CFD843B01}" type="sibTrans" cxnId="{E8FCEB46-F98C-4A32-9B4E-89796A45F77C}">
      <dgm:prSet/>
      <dgm:spPr/>
      <dgm:t>
        <a:bodyPr/>
        <a:lstStyle/>
        <a:p>
          <a:endParaRPr lang="en-US"/>
        </a:p>
      </dgm:t>
    </dgm:pt>
    <dgm:pt modelId="{C6350DD8-5058-4771-BF07-523E7828FFD8}">
      <dgm:prSet/>
      <dgm:spPr/>
      <dgm:t>
        <a:bodyPr/>
        <a:lstStyle/>
        <a:p>
          <a:pPr>
            <a:lnSpc>
              <a:spcPct val="100000"/>
            </a:lnSpc>
          </a:pPr>
          <a:r>
            <a:rPr lang="en-US" baseline="0"/>
            <a:t>Started programming in 1995 (VB 3 &amp; Microsoft Access)</a:t>
          </a:r>
          <a:endParaRPr lang="en-US"/>
        </a:p>
      </dgm:t>
    </dgm:pt>
    <dgm:pt modelId="{934C79FC-6EDF-4FCD-9CA5-4EBD3ACFC580}" type="parTrans" cxnId="{8FA83831-3018-4EB9-829E-1C1BE91322A7}">
      <dgm:prSet/>
      <dgm:spPr/>
      <dgm:t>
        <a:bodyPr/>
        <a:lstStyle/>
        <a:p>
          <a:endParaRPr lang="en-US"/>
        </a:p>
      </dgm:t>
    </dgm:pt>
    <dgm:pt modelId="{62AECD7E-6CFF-4F04-B1F1-C20A181AD1D5}" type="sibTrans" cxnId="{8FA83831-3018-4EB9-829E-1C1BE91322A7}">
      <dgm:prSet/>
      <dgm:spPr/>
      <dgm:t>
        <a:bodyPr/>
        <a:lstStyle/>
        <a:p>
          <a:endParaRPr lang="en-US"/>
        </a:p>
      </dgm:t>
    </dgm:pt>
    <dgm:pt modelId="{A7322935-F292-4F2C-90ED-1675DBC35EA2}">
      <dgm:prSet/>
      <dgm:spPr/>
      <dgm:t>
        <a:bodyPr/>
        <a:lstStyle/>
        <a:p>
          <a:pPr>
            <a:lnSpc>
              <a:spcPct val="100000"/>
            </a:lnSpc>
          </a:pPr>
          <a:r>
            <a:rPr lang="en-US" baseline="0"/>
            <a:t>Content developer at Microsoft since 2022</a:t>
          </a:r>
          <a:endParaRPr lang="en-US"/>
        </a:p>
      </dgm:t>
    </dgm:pt>
    <dgm:pt modelId="{57DDA428-6B9B-4C23-AEE8-FF92D07C4BB4}" type="parTrans" cxnId="{30F5E710-3C10-4B96-BB7C-1931B673757F}">
      <dgm:prSet/>
      <dgm:spPr/>
      <dgm:t>
        <a:bodyPr/>
        <a:lstStyle/>
        <a:p>
          <a:endParaRPr lang="en-US"/>
        </a:p>
      </dgm:t>
    </dgm:pt>
    <dgm:pt modelId="{853FABD4-B1FC-44C9-92FB-B3B41BFCEA9C}" type="sibTrans" cxnId="{30F5E710-3C10-4B96-BB7C-1931B673757F}">
      <dgm:prSet/>
      <dgm:spPr/>
      <dgm:t>
        <a:bodyPr/>
        <a:lstStyle/>
        <a:p>
          <a:endParaRPr lang="en-US"/>
        </a:p>
      </dgm:t>
    </dgm:pt>
    <dgm:pt modelId="{66AD18CB-0794-48E5-B9C5-15DF59FC7A26}">
      <dgm:prSet/>
      <dgm:spPr/>
      <dgm:t>
        <a:bodyPr/>
        <a:lstStyle/>
        <a:p>
          <a:pPr>
            <a:lnSpc>
              <a:spcPct val="100000"/>
            </a:lnSpc>
            <a:defRPr b="1"/>
          </a:pPr>
          <a:r>
            <a:rPr lang="en-US"/>
            <a:t>Morning Dew link blog</a:t>
          </a:r>
        </a:p>
      </dgm:t>
    </dgm:pt>
    <dgm:pt modelId="{6198B543-83F2-4660-A428-32378C753121}" type="parTrans" cxnId="{46A86462-2D02-413F-BF6F-E8BBAEF9F262}">
      <dgm:prSet/>
      <dgm:spPr/>
      <dgm:t>
        <a:bodyPr/>
        <a:lstStyle/>
        <a:p>
          <a:endParaRPr lang="en-US"/>
        </a:p>
      </dgm:t>
    </dgm:pt>
    <dgm:pt modelId="{C5C20D40-CBFA-41C0-AE4F-CBB5572DCE41}" type="sibTrans" cxnId="{46A86462-2D02-413F-BF6F-E8BBAEF9F262}">
      <dgm:prSet/>
      <dgm:spPr/>
      <dgm:t>
        <a:bodyPr/>
        <a:lstStyle/>
        <a:p>
          <a:endParaRPr lang="en-US"/>
        </a:p>
      </dgm:t>
    </dgm:pt>
    <dgm:pt modelId="{304C04A8-E3BA-429F-9917-C0E7322FF83C}">
      <dgm:prSet/>
      <dgm:spPr/>
      <dgm:t>
        <a:bodyPr/>
        <a:lstStyle/>
        <a:p>
          <a:pPr>
            <a:lnSpc>
              <a:spcPct val="100000"/>
            </a:lnSpc>
          </a:pPr>
          <a:r>
            <a:rPr lang="en-US" baseline="0"/>
            <a:t>Daily links for .NET developers since 2007</a:t>
          </a:r>
          <a:endParaRPr lang="en-US"/>
        </a:p>
      </dgm:t>
    </dgm:pt>
    <dgm:pt modelId="{20ECDB2D-EA27-4734-BFB2-5DB38F38D4AC}" type="parTrans" cxnId="{5784F2F8-52C0-4F1A-BB08-A09BF6078610}">
      <dgm:prSet/>
      <dgm:spPr/>
      <dgm:t>
        <a:bodyPr/>
        <a:lstStyle/>
        <a:p>
          <a:endParaRPr lang="en-US"/>
        </a:p>
      </dgm:t>
    </dgm:pt>
    <dgm:pt modelId="{D3E2312A-02AE-4F23-9D72-537BE415D9C9}" type="sibTrans" cxnId="{5784F2F8-52C0-4F1A-BB08-A09BF6078610}">
      <dgm:prSet/>
      <dgm:spPr/>
      <dgm:t>
        <a:bodyPr/>
        <a:lstStyle/>
        <a:p>
          <a:endParaRPr lang="en-US"/>
        </a:p>
      </dgm:t>
    </dgm:pt>
    <dgm:pt modelId="{5512F7B1-65C6-48D7-8067-92C3423B91E1}">
      <dgm:prSet/>
      <dgm:spPr/>
      <dgm:t>
        <a:bodyPr/>
        <a:lstStyle/>
        <a:p>
          <a:pPr>
            <a:lnSpc>
              <a:spcPct val="100000"/>
            </a:lnSpc>
            <a:defRPr b="1"/>
          </a:pPr>
          <a:r>
            <a:rPr lang="en-US" dirty="0"/>
            <a:t>Three books for </a:t>
          </a:r>
          <a:r>
            <a:rPr lang="en-US" dirty="0" err="1"/>
            <a:t>Packt</a:t>
          </a:r>
          <a:r>
            <a:rPr lang="en-US" dirty="0"/>
            <a:t> Publishing</a:t>
          </a:r>
        </a:p>
      </dgm:t>
    </dgm:pt>
    <dgm:pt modelId="{C46AF498-828E-4B80-8B85-5224C75BE014}" type="parTrans" cxnId="{4F660BA0-AEC7-49B0-A638-EA9619D83E5C}">
      <dgm:prSet/>
      <dgm:spPr/>
      <dgm:t>
        <a:bodyPr/>
        <a:lstStyle/>
        <a:p>
          <a:endParaRPr lang="en-US"/>
        </a:p>
      </dgm:t>
    </dgm:pt>
    <dgm:pt modelId="{4E924B8B-1A0D-4340-8BA5-5F4F06035A86}" type="sibTrans" cxnId="{4F660BA0-AEC7-49B0-A638-EA9619D83E5C}">
      <dgm:prSet/>
      <dgm:spPr/>
      <dgm:t>
        <a:bodyPr/>
        <a:lstStyle/>
        <a:p>
          <a:endParaRPr lang="en-US"/>
        </a:p>
      </dgm:t>
    </dgm:pt>
    <dgm:pt modelId="{52648555-5223-4903-9E01-EEE1B423A04F}">
      <dgm:prSet/>
      <dgm:spPr/>
      <dgm:t>
        <a:bodyPr/>
        <a:lstStyle/>
        <a:p>
          <a:pPr>
            <a:lnSpc>
              <a:spcPct val="100000"/>
            </a:lnSpc>
          </a:pPr>
          <a:r>
            <a:rPr lang="en-US" baseline="0" dirty="0"/>
            <a:t>Learn WinUI 3 (two editions)</a:t>
          </a:r>
          <a:endParaRPr lang="en-US" dirty="0"/>
        </a:p>
      </dgm:t>
    </dgm:pt>
    <dgm:pt modelId="{E10F5AB1-F69C-42FF-8471-CB8739A5113B}" type="parTrans" cxnId="{69BBA191-032A-4C37-A971-B79FE7265B08}">
      <dgm:prSet/>
      <dgm:spPr/>
      <dgm:t>
        <a:bodyPr/>
        <a:lstStyle/>
        <a:p>
          <a:endParaRPr lang="en-US"/>
        </a:p>
      </dgm:t>
    </dgm:pt>
    <dgm:pt modelId="{4B77CA65-A132-4CF7-8D58-DCBF58D678E7}" type="sibTrans" cxnId="{69BBA191-032A-4C37-A971-B79FE7265B08}">
      <dgm:prSet/>
      <dgm:spPr/>
      <dgm:t>
        <a:bodyPr/>
        <a:lstStyle/>
        <a:p>
          <a:endParaRPr lang="en-US"/>
        </a:p>
      </dgm:t>
    </dgm:pt>
    <dgm:pt modelId="{89D3D749-CE3C-4498-9B6F-02BAAE092F6C}">
      <dgm:prSet/>
      <dgm:spPr/>
      <dgm:t>
        <a:bodyPr/>
        <a:lstStyle/>
        <a:p>
          <a:pPr>
            <a:lnSpc>
              <a:spcPct val="100000"/>
            </a:lnSpc>
          </a:pPr>
          <a:r>
            <a:rPr lang="en-US" baseline="0" dirty="0"/>
            <a:t>Parallel Programming and Concurrency with C# and .NET</a:t>
          </a:r>
          <a:endParaRPr lang="en-US" dirty="0"/>
        </a:p>
      </dgm:t>
    </dgm:pt>
    <dgm:pt modelId="{05771550-6491-4B78-9A5D-E019D3EDF4FD}" type="parTrans" cxnId="{584ECE82-393D-4D88-82B4-9AFE1BFF2A11}">
      <dgm:prSet/>
      <dgm:spPr/>
      <dgm:t>
        <a:bodyPr/>
        <a:lstStyle/>
        <a:p>
          <a:endParaRPr lang="en-US"/>
        </a:p>
      </dgm:t>
    </dgm:pt>
    <dgm:pt modelId="{169E8FF6-F953-46D0-8C52-CF37C3DD6A0D}" type="sibTrans" cxnId="{584ECE82-393D-4D88-82B4-9AFE1BFF2A11}">
      <dgm:prSet/>
      <dgm:spPr/>
      <dgm:t>
        <a:bodyPr/>
        <a:lstStyle/>
        <a:p>
          <a:endParaRPr lang="en-US"/>
        </a:p>
      </dgm:t>
    </dgm:pt>
    <dgm:pt modelId="{2D2B2715-95A7-4FE0-9351-287A2B0CE432}">
      <dgm:prSet/>
      <dgm:spPr/>
      <dgm:t>
        <a:bodyPr/>
        <a:lstStyle/>
        <a:p>
          <a:pPr>
            <a:lnSpc>
              <a:spcPct val="100000"/>
            </a:lnSpc>
            <a:defRPr b="1"/>
          </a:pPr>
          <a:r>
            <a:rPr lang="en-US"/>
            <a:t>TechBash dev conference organizer since 2016</a:t>
          </a:r>
        </a:p>
      </dgm:t>
    </dgm:pt>
    <dgm:pt modelId="{6DB861D5-E7D8-452E-A3F4-0661C338E7A4}" type="parTrans" cxnId="{8FE11BAD-044B-4466-997A-39F4ED335CB7}">
      <dgm:prSet/>
      <dgm:spPr/>
      <dgm:t>
        <a:bodyPr/>
        <a:lstStyle/>
        <a:p>
          <a:endParaRPr lang="en-US"/>
        </a:p>
      </dgm:t>
    </dgm:pt>
    <dgm:pt modelId="{2E8137D4-88B2-4F14-B1CE-6426D1305E4F}" type="sibTrans" cxnId="{8FE11BAD-044B-4466-997A-39F4ED335CB7}">
      <dgm:prSet/>
      <dgm:spPr/>
      <dgm:t>
        <a:bodyPr/>
        <a:lstStyle/>
        <a:p>
          <a:endParaRPr lang="en-US"/>
        </a:p>
      </dgm:t>
    </dgm:pt>
    <dgm:pt modelId="{8EAE42D1-94D0-4FCB-842C-785F618E1499}" type="pres">
      <dgm:prSet presAssocID="{499D3CDA-B658-4717-8096-2A01030821F7}" presName="root" presStyleCnt="0">
        <dgm:presLayoutVars>
          <dgm:dir/>
          <dgm:resizeHandles val="exact"/>
        </dgm:presLayoutVars>
      </dgm:prSet>
      <dgm:spPr/>
    </dgm:pt>
    <dgm:pt modelId="{8D88C2FE-C704-42DF-A5A0-F97AC0FEC78C}" type="pres">
      <dgm:prSet presAssocID="{193338D8-1B44-42B7-8DBB-3C4930821FAE}" presName="compNode" presStyleCnt="0"/>
      <dgm:spPr/>
    </dgm:pt>
    <dgm:pt modelId="{4D592EDE-0473-4DEF-A612-D31396FC64D6}" type="pres">
      <dgm:prSet presAssocID="{193338D8-1B44-42B7-8DBB-3C4930821FA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F0B01464-7E66-45C5-A912-E41E56CE6CD8}" type="pres">
      <dgm:prSet presAssocID="{193338D8-1B44-42B7-8DBB-3C4930821FAE}" presName="iconSpace" presStyleCnt="0"/>
      <dgm:spPr/>
    </dgm:pt>
    <dgm:pt modelId="{B5C9E83A-86E6-4EAF-966A-C17701C6FBFA}" type="pres">
      <dgm:prSet presAssocID="{193338D8-1B44-42B7-8DBB-3C4930821FAE}" presName="parTx" presStyleLbl="revTx" presStyleIdx="0" presStyleCnt="8">
        <dgm:presLayoutVars>
          <dgm:chMax val="0"/>
          <dgm:chPref val="0"/>
        </dgm:presLayoutVars>
      </dgm:prSet>
      <dgm:spPr/>
    </dgm:pt>
    <dgm:pt modelId="{5C8B19EC-5ABE-4420-8178-B947853F7588}" type="pres">
      <dgm:prSet presAssocID="{193338D8-1B44-42B7-8DBB-3C4930821FAE}" presName="txSpace" presStyleCnt="0"/>
      <dgm:spPr/>
    </dgm:pt>
    <dgm:pt modelId="{FEF567E7-7A7D-43F0-8C85-538C2D4E257C}" type="pres">
      <dgm:prSet presAssocID="{193338D8-1B44-42B7-8DBB-3C4930821FAE}" presName="desTx" presStyleLbl="revTx" presStyleIdx="1" presStyleCnt="8">
        <dgm:presLayoutVars/>
      </dgm:prSet>
      <dgm:spPr/>
    </dgm:pt>
    <dgm:pt modelId="{9F26F9BF-C2BB-40EC-AEDB-3D3CC1D9228F}" type="pres">
      <dgm:prSet presAssocID="{265DF096-8398-45FB-A52D-8E6CFD843B01}" presName="sibTrans" presStyleCnt="0"/>
      <dgm:spPr/>
    </dgm:pt>
    <dgm:pt modelId="{8B3F178C-F106-41EC-A734-7564DD2975FC}" type="pres">
      <dgm:prSet presAssocID="{66AD18CB-0794-48E5-B9C5-15DF59FC7A26}" presName="compNode" presStyleCnt="0"/>
      <dgm:spPr/>
    </dgm:pt>
    <dgm:pt modelId="{6A8BC65D-5FAB-4FBC-ADA8-EEFCD4F71B46}" type="pres">
      <dgm:prSet presAssocID="{66AD18CB-0794-48E5-B9C5-15DF59FC7A2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umbs Up Sign"/>
        </a:ext>
      </dgm:extLst>
    </dgm:pt>
    <dgm:pt modelId="{3B317A1A-2E2C-41BE-BCA5-0D830A8F2116}" type="pres">
      <dgm:prSet presAssocID="{66AD18CB-0794-48E5-B9C5-15DF59FC7A26}" presName="iconSpace" presStyleCnt="0"/>
      <dgm:spPr/>
    </dgm:pt>
    <dgm:pt modelId="{EECE5D06-D02E-43AA-AFFF-05CBD7E93B82}" type="pres">
      <dgm:prSet presAssocID="{66AD18CB-0794-48E5-B9C5-15DF59FC7A26}" presName="parTx" presStyleLbl="revTx" presStyleIdx="2" presStyleCnt="8">
        <dgm:presLayoutVars>
          <dgm:chMax val="0"/>
          <dgm:chPref val="0"/>
        </dgm:presLayoutVars>
      </dgm:prSet>
      <dgm:spPr/>
    </dgm:pt>
    <dgm:pt modelId="{5D3684A0-D5F1-4292-A0D1-651625B3022B}" type="pres">
      <dgm:prSet presAssocID="{66AD18CB-0794-48E5-B9C5-15DF59FC7A26}" presName="txSpace" presStyleCnt="0"/>
      <dgm:spPr/>
    </dgm:pt>
    <dgm:pt modelId="{EC4D7EB6-ACAD-41DA-9D2A-8902D5FD039F}" type="pres">
      <dgm:prSet presAssocID="{66AD18CB-0794-48E5-B9C5-15DF59FC7A26}" presName="desTx" presStyleLbl="revTx" presStyleIdx="3" presStyleCnt="8">
        <dgm:presLayoutVars/>
      </dgm:prSet>
      <dgm:spPr/>
    </dgm:pt>
    <dgm:pt modelId="{4A3B502E-84CB-4B2C-9181-43FC5EE29E30}" type="pres">
      <dgm:prSet presAssocID="{C5C20D40-CBFA-41C0-AE4F-CBB5572DCE41}" presName="sibTrans" presStyleCnt="0"/>
      <dgm:spPr/>
    </dgm:pt>
    <dgm:pt modelId="{DEF89AB8-E39E-4A2F-9EF8-0869756983AE}" type="pres">
      <dgm:prSet presAssocID="{5512F7B1-65C6-48D7-8067-92C3423B91E1}" presName="compNode" presStyleCnt="0"/>
      <dgm:spPr/>
    </dgm:pt>
    <dgm:pt modelId="{1986B473-6315-487A-AABE-5EDD9D402D06}" type="pres">
      <dgm:prSet presAssocID="{5512F7B1-65C6-48D7-8067-92C3423B91E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F09D93D0-CA70-4CE4-B3EC-A32B3A4AE400}" type="pres">
      <dgm:prSet presAssocID="{5512F7B1-65C6-48D7-8067-92C3423B91E1}" presName="iconSpace" presStyleCnt="0"/>
      <dgm:spPr/>
    </dgm:pt>
    <dgm:pt modelId="{CFBDF2E7-7DC0-4C99-93CC-1B2A8A07F708}" type="pres">
      <dgm:prSet presAssocID="{5512F7B1-65C6-48D7-8067-92C3423B91E1}" presName="parTx" presStyleLbl="revTx" presStyleIdx="4" presStyleCnt="8">
        <dgm:presLayoutVars>
          <dgm:chMax val="0"/>
          <dgm:chPref val="0"/>
        </dgm:presLayoutVars>
      </dgm:prSet>
      <dgm:spPr/>
    </dgm:pt>
    <dgm:pt modelId="{E9EC1D15-FAC7-46D4-B3D8-7C62314ECD7A}" type="pres">
      <dgm:prSet presAssocID="{5512F7B1-65C6-48D7-8067-92C3423B91E1}" presName="txSpace" presStyleCnt="0"/>
      <dgm:spPr/>
    </dgm:pt>
    <dgm:pt modelId="{B532AB85-CF75-4DAD-BDF7-22595255FBA3}" type="pres">
      <dgm:prSet presAssocID="{5512F7B1-65C6-48D7-8067-92C3423B91E1}" presName="desTx" presStyleLbl="revTx" presStyleIdx="5" presStyleCnt="8">
        <dgm:presLayoutVars/>
      </dgm:prSet>
      <dgm:spPr/>
    </dgm:pt>
    <dgm:pt modelId="{E6E8021C-7291-43C7-B46B-B0D2AC3BC322}" type="pres">
      <dgm:prSet presAssocID="{4E924B8B-1A0D-4340-8BA5-5F4F06035A86}" presName="sibTrans" presStyleCnt="0"/>
      <dgm:spPr/>
    </dgm:pt>
    <dgm:pt modelId="{892F4257-B291-4A5C-A411-0FC9C0F773F0}" type="pres">
      <dgm:prSet presAssocID="{2D2B2715-95A7-4FE0-9351-287A2B0CE432}" presName="compNode" presStyleCnt="0"/>
      <dgm:spPr/>
    </dgm:pt>
    <dgm:pt modelId="{439B57AA-FA4B-40A5-B01D-823FF003AE79}" type="pres">
      <dgm:prSet presAssocID="{2D2B2715-95A7-4FE0-9351-287A2B0CE43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er"/>
        </a:ext>
      </dgm:extLst>
    </dgm:pt>
    <dgm:pt modelId="{F752DD29-798D-479A-BA24-4C6BBCB2613F}" type="pres">
      <dgm:prSet presAssocID="{2D2B2715-95A7-4FE0-9351-287A2B0CE432}" presName="iconSpace" presStyleCnt="0"/>
      <dgm:spPr/>
    </dgm:pt>
    <dgm:pt modelId="{399FA811-9A25-488F-BA19-ED7DB19166FE}" type="pres">
      <dgm:prSet presAssocID="{2D2B2715-95A7-4FE0-9351-287A2B0CE432}" presName="parTx" presStyleLbl="revTx" presStyleIdx="6" presStyleCnt="8">
        <dgm:presLayoutVars>
          <dgm:chMax val="0"/>
          <dgm:chPref val="0"/>
        </dgm:presLayoutVars>
      </dgm:prSet>
      <dgm:spPr/>
    </dgm:pt>
    <dgm:pt modelId="{A65FDA5C-4A0B-4C53-BA8D-F1BB6A6F0A70}" type="pres">
      <dgm:prSet presAssocID="{2D2B2715-95A7-4FE0-9351-287A2B0CE432}" presName="txSpace" presStyleCnt="0"/>
      <dgm:spPr/>
    </dgm:pt>
    <dgm:pt modelId="{55B1D1AB-DA2C-405B-937B-22ED58B33D2F}" type="pres">
      <dgm:prSet presAssocID="{2D2B2715-95A7-4FE0-9351-287A2B0CE432}" presName="desTx" presStyleLbl="revTx" presStyleIdx="7" presStyleCnt="8">
        <dgm:presLayoutVars/>
      </dgm:prSet>
      <dgm:spPr/>
    </dgm:pt>
  </dgm:ptLst>
  <dgm:cxnLst>
    <dgm:cxn modelId="{30F5E710-3C10-4B96-BB7C-1931B673757F}" srcId="{193338D8-1B44-42B7-8DBB-3C4930821FAE}" destId="{A7322935-F292-4F2C-90ED-1675DBC35EA2}" srcOrd="1" destOrd="0" parTransId="{57DDA428-6B9B-4C23-AEE8-FF92D07C4BB4}" sibTransId="{853FABD4-B1FC-44C9-92FB-B3B41BFCEA9C}"/>
    <dgm:cxn modelId="{3FFC902A-9464-48CF-B4A6-F8942363E46C}" type="presOf" srcId="{66AD18CB-0794-48E5-B9C5-15DF59FC7A26}" destId="{EECE5D06-D02E-43AA-AFFF-05CBD7E93B82}" srcOrd="0" destOrd="0" presId="urn:microsoft.com/office/officeart/2018/5/layout/CenteredIconLabelDescriptionList"/>
    <dgm:cxn modelId="{8FA83831-3018-4EB9-829E-1C1BE91322A7}" srcId="{193338D8-1B44-42B7-8DBB-3C4930821FAE}" destId="{C6350DD8-5058-4771-BF07-523E7828FFD8}" srcOrd="0" destOrd="0" parTransId="{934C79FC-6EDF-4FCD-9CA5-4EBD3ACFC580}" sibTransId="{62AECD7E-6CFF-4F04-B1F1-C20A181AD1D5}"/>
    <dgm:cxn modelId="{57C8765E-08F0-43E7-8F18-56E7469907A4}" type="presOf" srcId="{89D3D749-CE3C-4498-9B6F-02BAAE092F6C}" destId="{B532AB85-CF75-4DAD-BDF7-22595255FBA3}" srcOrd="0" destOrd="1" presId="urn:microsoft.com/office/officeart/2018/5/layout/CenteredIconLabelDescriptionList"/>
    <dgm:cxn modelId="{86DCA75F-DF5C-4B9E-AB62-3530605A903F}" type="presOf" srcId="{499D3CDA-B658-4717-8096-2A01030821F7}" destId="{8EAE42D1-94D0-4FCB-842C-785F618E1499}" srcOrd="0" destOrd="0" presId="urn:microsoft.com/office/officeart/2018/5/layout/CenteredIconLabelDescriptionList"/>
    <dgm:cxn modelId="{31C41661-DA62-4829-9F9B-07CCE6F7AA78}" type="presOf" srcId="{304C04A8-E3BA-429F-9917-C0E7322FF83C}" destId="{EC4D7EB6-ACAD-41DA-9D2A-8902D5FD039F}" srcOrd="0" destOrd="0" presId="urn:microsoft.com/office/officeart/2018/5/layout/CenteredIconLabelDescriptionList"/>
    <dgm:cxn modelId="{46A86462-2D02-413F-BF6F-E8BBAEF9F262}" srcId="{499D3CDA-B658-4717-8096-2A01030821F7}" destId="{66AD18CB-0794-48E5-B9C5-15DF59FC7A26}" srcOrd="1" destOrd="0" parTransId="{6198B543-83F2-4660-A428-32378C753121}" sibTransId="{C5C20D40-CBFA-41C0-AE4F-CBB5572DCE41}"/>
    <dgm:cxn modelId="{E8FCEB46-F98C-4A32-9B4E-89796A45F77C}" srcId="{499D3CDA-B658-4717-8096-2A01030821F7}" destId="{193338D8-1B44-42B7-8DBB-3C4930821FAE}" srcOrd="0" destOrd="0" parTransId="{8594AF73-9A04-4D29-B23C-417FA3B07FA5}" sibTransId="{265DF096-8398-45FB-A52D-8E6CFD843B01}"/>
    <dgm:cxn modelId="{584ECE82-393D-4D88-82B4-9AFE1BFF2A11}" srcId="{5512F7B1-65C6-48D7-8067-92C3423B91E1}" destId="{89D3D749-CE3C-4498-9B6F-02BAAE092F6C}" srcOrd="1" destOrd="0" parTransId="{05771550-6491-4B78-9A5D-E019D3EDF4FD}" sibTransId="{169E8FF6-F953-46D0-8C52-CF37C3DD6A0D}"/>
    <dgm:cxn modelId="{69BBA191-032A-4C37-A971-B79FE7265B08}" srcId="{5512F7B1-65C6-48D7-8067-92C3423B91E1}" destId="{52648555-5223-4903-9E01-EEE1B423A04F}" srcOrd="0" destOrd="0" parTransId="{E10F5AB1-F69C-42FF-8471-CB8739A5113B}" sibTransId="{4B77CA65-A132-4CF7-8D58-DCBF58D678E7}"/>
    <dgm:cxn modelId="{CAE1049A-4AF1-4D80-9ABB-EAE662B9F0FA}" type="presOf" srcId="{5512F7B1-65C6-48D7-8067-92C3423B91E1}" destId="{CFBDF2E7-7DC0-4C99-93CC-1B2A8A07F708}" srcOrd="0" destOrd="0" presId="urn:microsoft.com/office/officeart/2018/5/layout/CenteredIconLabelDescriptionList"/>
    <dgm:cxn modelId="{4F660BA0-AEC7-49B0-A638-EA9619D83E5C}" srcId="{499D3CDA-B658-4717-8096-2A01030821F7}" destId="{5512F7B1-65C6-48D7-8067-92C3423B91E1}" srcOrd="2" destOrd="0" parTransId="{C46AF498-828E-4B80-8B85-5224C75BE014}" sibTransId="{4E924B8B-1A0D-4340-8BA5-5F4F06035A86}"/>
    <dgm:cxn modelId="{8FE11BAD-044B-4466-997A-39F4ED335CB7}" srcId="{499D3CDA-B658-4717-8096-2A01030821F7}" destId="{2D2B2715-95A7-4FE0-9351-287A2B0CE432}" srcOrd="3" destOrd="0" parTransId="{6DB861D5-E7D8-452E-A3F4-0661C338E7A4}" sibTransId="{2E8137D4-88B2-4F14-B1CE-6426D1305E4F}"/>
    <dgm:cxn modelId="{8A1905B0-65F6-41D8-B92E-DA5B0583CF4E}" type="presOf" srcId="{A7322935-F292-4F2C-90ED-1675DBC35EA2}" destId="{FEF567E7-7A7D-43F0-8C85-538C2D4E257C}" srcOrd="0" destOrd="1" presId="urn:microsoft.com/office/officeart/2018/5/layout/CenteredIconLabelDescriptionList"/>
    <dgm:cxn modelId="{249B02B7-238E-42FF-98BC-E4A339A65B96}" type="presOf" srcId="{52648555-5223-4903-9E01-EEE1B423A04F}" destId="{B532AB85-CF75-4DAD-BDF7-22595255FBA3}" srcOrd="0" destOrd="0" presId="urn:microsoft.com/office/officeart/2018/5/layout/CenteredIconLabelDescriptionList"/>
    <dgm:cxn modelId="{5D8883B7-57C4-44AD-B01C-1860ABD71C23}" type="presOf" srcId="{2D2B2715-95A7-4FE0-9351-287A2B0CE432}" destId="{399FA811-9A25-488F-BA19-ED7DB19166FE}" srcOrd="0" destOrd="0" presId="urn:microsoft.com/office/officeart/2018/5/layout/CenteredIconLabelDescriptionList"/>
    <dgm:cxn modelId="{655EABCF-D66E-454D-AFB7-067982203238}" type="presOf" srcId="{C6350DD8-5058-4771-BF07-523E7828FFD8}" destId="{FEF567E7-7A7D-43F0-8C85-538C2D4E257C}" srcOrd="0" destOrd="0" presId="urn:microsoft.com/office/officeart/2018/5/layout/CenteredIconLabelDescriptionList"/>
    <dgm:cxn modelId="{BC807EEF-2621-430E-BF0A-9272C9C4D8E1}" type="presOf" srcId="{193338D8-1B44-42B7-8DBB-3C4930821FAE}" destId="{B5C9E83A-86E6-4EAF-966A-C17701C6FBFA}" srcOrd="0" destOrd="0" presId="urn:microsoft.com/office/officeart/2018/5/layout/CenteredIconLabelDescriptionList"/>
    <dgm:cxn modelId="{5784F2F8-52C0-4F1A-BB08-A09BF6078610}" srcId="{66AD18CB-0794-48E5-B9C5-15DF59FC7A26}" destId="{304C04A8-E3BA-429F-9917-C0E7322FF83C}" srcOrd="0" destOrd="0" parTransId="{20ECDB2D-EA27-4734-BFB2-5DB38F38D4AC}" sibTransId="{D3E2312A-02AE-4F23-9D72-537BE415D9C9}"/>
    <dgm:cxn modelId="{9FB5E47B-C2BB-4CFD-8209-8DBBAA38214E}" type="presParOf" srcId="{8EAE42D1-94D0-4FCB-842C-785F618E1499}" destId="{8D88C2FE-C704-42DF-A5A0-F97AC0FEC78C}" srcOrd="0" destOrd="0" presId="urn:microsoft.com/office/officeart/2018/5/layout/CenteredIconLabelDescriptionList"/>
    <dgm:cxn modelId="{1B83A96A-C0A7-484B-8C39-D369EBCA6167}" type="presParOf" srcId="{8D88C2FE-C704-42DF-A5A0-F97AC0FEC78C}" destId="{4D592EDE-0473-4DEF-A612-D31396FC64D6}" srcOrd="0" destOrd="0" presId="urn:microsoft.com/office/officeart/2018/5/layout/CenteredIconLabelDescriptionList"/>
    <dgm:cxn modelId="{BCBA293D-5DB6-44A2-82F1-406996E38C45}" type="presParOf" srcId="{8D88C2FE-C704-42DF-A5A0-F97AC0FEC78C}" destId="{F0B01464-7E66-45C5-A912-E41E56CE6CD8}" srcOrd="1" destOrd="0" presId="urn:microsoft.com/office/officeart/2018/5/layout/CenteredIconLabelDescriptionList"/>
    <dgm:cxn modelId="{65925718-D33E-4FA8-807F-2FB469F259EE}" type="presParOf" srcId="{8D88C2FE-C704-42DF-A5A0-F97AC0FEC78C}" destId="{B5C9E83A-86E6-4EAF-966A-C17701C6FBFA}" srcOrd="2" destOrd="0" presId="urn:microsoft.com/office/officeart/2018/5/layout/CenteredIconLabelDescriptionList"/>
    <dgm:cxn modelId="{1D9DF2CF-1B9D-4A8B-B610-87DEB9B85C83}" type="presParOf" srcId="{8D88C2FE-C704-42DF-A5A0-F97AC0FEC78C}" destId="{5C8B19EC-5ABE-4420-8178-B947853F7588}" srcOrd="3" destOrd="0" presId="urn:microsoft.com/office/officeart/2018/5/layout/CenteredIconLabelDescriptionList"/>
    <dgm:cxn modelId="{F91A42B8-4C5F-4972-91F6-64978BD205CB}" type="presParOf" srcId="{8D88C2FE-C704-42DF-A5A0-F97AC0FEC78C}" destId="{FEF567E7-7A7D-43F0-8C85-538C2D4E257C}" srcOrd="4" destOrd="0" presId="urn:microsoft.com/office/officeart/2018/5/layout/CenteredIconLabelDescriptionList"/>
    <dgm:cxn modelId="{920FD872-1801-463F-AE8D-FF66753516D3}" type="presParOf" srcId="{8EAE42D1-94D0-4FCB-842C-785F618E1499}" destId="{9F26F9BF-C2BB-40EC-AEDB-3D3CC1D9228F}" srcOrd="1" destOrd="0" presId="urn:microsoft.com/office/officeart/2018/5/layout/CenteredIconLabelDescriptionList"/>
    <dgm:cxn modelId="{9BEA936A-10B7-4572-AB8D-B256EC54456E}" type="presParOf" srcId="{8EAE42D1-94D0-4FCB-842C-785F618E1499}" destId="{8B3F178C-F106-41EC-A734-7564DD2975FC}" srcOrd="2" destOrd="0" presId="urn:microsoft.com/office/officeart/2018/5/layout/CenteredIconLabelDescriptionList"/>
    <dgm:cxn modelId="{2E77AF54-1E13-43DD-858C-964907DA439E}" type="presParOf" srcId="{8B3F178C-F106-41EC-A734-7564DD2975FC}" destId="{6A8BC65D-5FAB-4FBC-ADA8-EEFCD4F71B46}" srcOrd="0" destOrd="0" presId="urn:microsoft.com/office/officeart/2018/5/layout/CenteredIconLabelDescriptionList"/>
    <dgm:cxn modelId="{FC019A24-EC53-4051-97ED-8EFF5D73E991}" type="presParOf" srcId="{8B3F178C-F106-41EC-A734-7564DD2975FC}" destId="{3B317A1A-2E2C-41BE-BCA5-0D830A8F2116}" srcOrd="1" destOrd="0" presId="urn:microsoft.com/office/officeart/2018/5/layout/CenteredIconLabelDescriptionList"/>
    <dgm:cxn modelId="{222147E1-F943-4614-8827-0BC9AF288F91}" type="presParOf" srcId="{8B3F178C-F106-41EC-A734-7564DD2975FC}" destId="{EECE5D06-D02E-43AA-AFFF-05CBD7E93B82}" srcOrd="2" destOrd="0" presId="urn:microsoft.com/office/officeart/2018/5/layout/CenteredIconLabelDescriptionList"/>
    <dgm:cxn modelId="{A86A631B-8313-407F-9212-9DB71E4A4279}" type="presParOf" srcId="{8B3F178C-F106-41EC-A734-7564DD2975FC}" destId="{5D3684A0-D5F1-4292-A0D1-651625B3022B}" srcOrd="3" destOrd="0" presId="urn:microsoft.com/office/officeart/2018/5/layout/CenteredIconLabelDescriptionList"/>
    <dgm:cxn modelId="{9BA0F494-E59A-4932-B992-04F993C52471}" type="presParOf" srcId="{8B3F178C-F106-41EC-A734-7564DD2975FC}" destId="{EC4D7EB6-ACAD-41DA-9D2A-8902D5FD039F}" srcOrd="4" destOrd="0" presId="urn:microsoft.com/office/officeart/2018/5/layout/CenteredIconLabelDescriptionList"/>
    <dgm:cxn modelId="{C0F6FF6C-3345-4739-BC2C-3B55FBDFA65E}" type="presParOf" srcId="{8EAE42D1-94D0-4FCB-842C-785F618E1499}" destId="{4A3B502E-84CB-4B2C-9181-43FC5EE29E30}" srcOrd="3" destOrd="0" presId="urn:microsoft.com/office/officeart/2018/5/layout/CenteredIconLabelDescriptionList"/>
    <dgm:cxn modelId="{EFE38109-5A0B-4A37-9778-091D522334F8}" type="presParOf" srcId="{8EAE42D1-94D0-4FCB-842C-785F618E1499}" destId="{DEF89AB8-E39E-4A2F-9EF8-0869756983AE}" srcOrd="4" destOrd="0" presId="urn:microsoft.com/office/officeart/2018/5/layout/CenteredIconLabelDescriptionList"/>
    <dgm:cxn modelId="{95CD09AE-DC36-42D4-80AE-75738230ECD4}" type="presParOf" srcId="{DEF89AB8-E39E-4A2F-9EF8-0869756983AE}" destId="{1986B473-6315-487A-AABE-5EDD9D402D06}" srcOrd="0" destOrd="0" presId="urn:microsoft.com/office/officeart/2018/5/layout/CenteredIconLabelDescriptionList"/>
    <dgm:cxn modelId="{5A7B1E57-41BC-4E19-ABB2-608D2F01278F}" type="presParOf" srcId="{DEF89AB8-E39E-4A2F-9EF8-0869756983AE}" destId="{F09D93D0-CA70-4CE4-B3EC-A32B3A4AE400}" srcOrd="1" destOrd="0" presId="urn:microsoft.com/office/officeart/2018/5/layout/CenteredIconLabelDescriptionList"/>
    <dgm:cxn modelId="{48DEA13A-981A-4593-9F80-59577380CB17}" type="presParOf" srcId="{DEF89AB8-E39E-4A2F-9EF8-0869756983AE}" destId="{CFBDF2E7-7DC0-4C99-93CC-1B2A8A07F708}" srcOrd="2" destOrd="0" presId="urn:microsoft.com/office/officeart/2018/5/layout/CenteredIconLabelDescriptionList"/>
    <dgm:cxn modelId="{FE406488-5F7D-45E5-BB58-82ED3261944E}" type="presParOf" srcId="{DEF89AB8-E39E-4A2F-9EF8-0869756983AE}" destId="{E9EC1D15-FAC7-46D4-B3D8-7C62314ECD7A}" srcOrd="3" destOrd="0" presId="urn:microsoft.com/office/officeart/2018/5/layout/CenteredIconLabelDescriptionList"/>
    <dgm:cxn modelId="{72716D67-290A-4BE4-9004-0A1CE4646564}" type="presParOf" srcId="{DEF89AB8-E39E-4A2F-9EF8-0869756983AE}" destId="{B532AB85-CF75-4DAD-BDF7-22595255FBA3}" srcOrd="4" destOrd="0" presId="urn:microsoft.com/office/officeart/2018/5/layout/CenteredIconLabelDescriptionList"/>
    <dgm:cxn modelId="{AA917615-80BC-486A-90D8-538C9C979E81}" type="presParOf" srcId="{8EAE42D1-94D0-4FCB-842C-785F618E1499}" destId="{E6E8021C-7291-43C7-B46B-B0D2AC3BC322}" srcOrd="5" destOrd="0" presId="urn:microsoft.com/office/officeart/2018/5/layout/CenteredIconLabelDescriptionList"/>
    <dgm:cxn modelId="{5AA1704C-D3D5-4509-884B-58FC947715C8}" type="presParOf" srcId="{8EAE42D1-94D0-4FCB-842C-785F618E1499}" destId="{892F4257-B291-4A5C-A411-0FC9C0F773F0}" srcOrd="6" destOrd="0" presId="urn:microsoft.com/office/officeart/2018/5/layout/CenteredIconLabelDescriptionList"/>
    <dgm:cxn modelId="{8C87FC70-3588-4BE4-8845-B4D3303F853A}" type="presParOf" srcId="{892F4257-B291-4A5C-A411-0FC9C0F773F0}" destId="{439B57AA-FA4B-40A5-B01D-823FF003AE79}" srcOrd="0" destOrd="0" presId="urn:microsoft.com/office/officeart/2018/5/layout/CenteredIconLabelDescriptionList"/>
    <dgm:cxn modelId="{D3899858-92FA-47A1-A6FB-B607EB68137D}" type="presParOf" srcId="{892F4257-B291-4A5C-A411-0FC9C0F773F0}" destId="{F752DD29-798D-479A-BA24-4C6BBCB2613F}" srcOrd="1" destOrd="0" presId="urn:microsoft.com/office/officeart/2018/5/layout/CenteredIconLabelDescriptionList"/>
    <dgm:cxn modelId="{409783EF-59D0-4FB1-B110-6512002353F8}" type="presParOf" srcId="{892F4257-B291-4A5C-A411-0FC9C0F773F0}" destId="{399FA811-9A25-488F-BA19-ED7DB19166FE}" srcOrd="2" destOrd="0" presId="urn:microsoft.com/office/officeart/2018/5/layout/CenteredIconLabelDescriptionList"/>
    <dgm:cxn modelId="{BC4C45ED-3042-4AB8-A827-AFCD7848E798}" type="presParOf" srcId="{892F4257-B291-4A5C-A411-0FC9C0F773F0}" destId="{A65FDA5C-4A0B-4C53-BA8D-F1BB6A6F0A70}" srcOrd="3" destOrd="0" presId="urn:microsoft.com/office/officeart/2018/5/layout/CenteredIconLabelDescriptionList"/>
    <dgm:cxn modelId="{B9392EF9-5E48-4880-83BB-7AA39AE846C8}" type="presParOf" srcId="{892F4257-B291-4A5C-A411-0FC9C0F773F0}" destId="{55B1D1AB-DA2C-405B-937B-22ED58B33D2F}"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BA0457-8377-4D94-ACD5-5DA9FDB27F96}"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0CEB3172-CF60-474F-BB69-602FCE959945}">
      <dgm:prSet/>
      <dgm:spPr/>
      <dgm:t>
        <a:bodyPr/>
        <a:lstStyle/>
        <a:p>
          <a:pPr>
            <a:defRPr b="1"/>
          </a:pPr>
          <a:r>
            <a:rPr lang="en-US"/>
            <a:t>Minimizing Repetitive Code</a:t>
          </a:r>
        </a:p>
      </dgm:t>
    </dgm:pt>
    <dgm:pt modelId="{D6D12623-53D9-422B-AA66-7C5DBAB32013}" type="parTrans" cxnId="{2253B12F-6FCD-4B69-850B-56BD184C0C8F}">
      <dgm:prSet/>
      <dgm:spPr/>
      <dgm:t>
        <a:bodyPr/>
        <a:lstStyle/>
        <a:p>
          <a:endParaRPr lang="en-US"/>
        </a:p>
      </dgm:t>
    </dgm:pt>
    <dgm:pt modelId="{BFD5F3CA-F409-4F0A-9B62-2D4E4F4B4A65}" type="sibTrans" cxnId="{2253B12F-6FCD-4B69-850B-56BD184C0C8F}">
      <dgm:prSet/>
      <dgm:spPr/>
      <dgm:t>
        <a:bodyPr/>
        <a:lstStyle/>
        <a:p>
          <a:endParaRPr lang="en-US"/>
        </a:p>
      </dgm:t>
    </dgm:pt>
    <dgm:pt modelId="{281DB158-B1DE-4580-A7EF-1747321C49FD}">
      <dgm:prSet/>
      <dgm:spPr/>
      <dgm:t>
        <a:bodyPr/>
        <a:lstStyle/>
        <a:p>
          <a:r>
            <a:rPr lang="en-US" baseline="0"/>
            <a:t>Base classes designed to reduce repetitive coding tasks efficiently.</a:t>
          </a:r>
          <a:endParaRPr lang="en-US"/>
        </a:p>
      </dgm:t>
    </dgm:pt>
    <dgm:pt modelId="{54246B8F-8F42-4E6C-A6EF-D36B4B53ED00}" type="parTrans" cxnId="{EB942EBF-3FEC-4DC2-8071-63EC51CB7609}">
      <dgm:prSet/>
      <dgm:spPr/>
      <dgm:t>
        <a:bodyPr/>
        <a:lstStyle/>
        <a:p>
          <a:endParaRPr lang="en-US"/>
        </a:p>
      </dgm:t>
    </dgm:pt>
    <dgm:pt modelId="{A5F7E11D-D9BF-44E1-B108-36B439D3392D}" type="sibTrans" cxnId="{EB942EBF-3FEC-4DC2-8071-63EC51CB7609}">
      <dgm:prSet/>
      <dgm:spPr/>
      <dgm:t>
        <a:bodyPr/>
        <a:lstStyle/>
        <a:p>
          <a:endParaRPr lang="en-US"/>
        </a:p>
      </dgm:t>
    </dgm:pt>
    <dgm:pt modelId="{91A89402-F04A-4650-AC4F-1B76D66E2AC5}">
      <dgm:prSet/>
      <dgm:spPr/>
      <dgm:t>
        <a:bodyPr/>
        <a:lstStyle/>
        <a:p>
          <a:pPr>
            <a:defRPr b="1"/>
          </a:pPr>
          <a:r>
            <a:rPr lang="en-US"/>
            <a:t>Streamlining Development</a:t>
          </a:r>
        </a:p>
      </dgm:t>
    </dgm:pt>
    <dgm:pt modelId="{44F7D5BC-B8F3-40E5-B89B-93E31F9C5B14}" type="parTrans" cxnId="{86A3EC98-1B17-498A-8629-58F1CCB8C1AA}">
      <dgm:prSet/>
      <dgm:spPr/>
      <dgm:t>
        <a:bodyPr/>
        <a:lstStyle/>
        <a:p>
          <a:endParaRPr lang="en-US"/>
        </a:p>
      </dgm:t>
    </dgm:pt>
    <dgm:pt modelId="{19DFD98F-B372-41DA-84DA-73F560820958}" type="sibTrans" cxnId="{86A3EC98-1B17-498A-8629-58F1CCB8C1AA}">
      <dgm:prSet/>
      <dgm:spPr/>
      <dgm:t>
        <a:bodyPr/>
        <a:lstStyle/>
        <a:p>
          <a:endParaRPr lang="en-US"/>
        </a:p>
      </dgm:t>
    </dgm:pt>
    <dgm:pt modelId="{4C18EFC1-FE23-43C1-962D-7573395CE5AD}">
      <dgm:prSet/>
      <dgm:spPr/>
      <dgm:t>
        <a:bodyPr/>
        <a:lstStyle/>
        <a:p>
          <a:r>
            <a:rPr lang="en-US" baseline="0"/>
            <a:t>Helpers in the toolkit streamline the development process, enhancing productivity &amp; maintainability.</a:t>
          </a:r>
          <a:endParaRPr lang="en-US"/>
        </a:p>
      </dgm:t>
    </dgm:pt>
    <dgm:pt modelId="{A034B649-D38C-4381-96D4-12E92A653609}" type="parTrans" cxnId="{37FEE468-A937-4AE9-B386-7838BECFAB92}">
      <dgm:prSet/>
      <dgm:spPr/>
      <dgm:t>
        <a:bodyPr/>
        <a:lstStyle/>
        <a:p>
          <a:endParaRPr lang="en-US"/>
        </a:p>
      </dgm:t>
    </dgm:pt>
    <dgm:pt modelId="{EE2D0E6E-68D0-4B6C-AEF9-B383B36A1A12}" type="sibTrans" cxnId="{37FEE468-A937-4AE9-B386-7838BECFAB92}">
      <dgm:prSet/>
      <dgm:spPr/>
      <dgm:t>
        <a:bodyPr/>
        <a:lstStyle/>
        <a:p>
          <a:endParaRPr lang="en-US"/>
        </a:p>
      </dgm:t>
    </dgm:pt>
    <dgm:pt modelId="{239192B0-0D19-4044-A417-20C246937883}" type="pres">
      <dgm:prSet presAssocID="{1DBA0457-8377-4D94-ACD5-5DA9FDB27F96}" presName="root" presStyleCnt="0">
        <dgm:presLayoutVars>
          <dgm:dir/>
          <dgm:resizeHandles val="exact"/>
        </dgm:presLayoutVars>
      </dgm:prSet>
      <dgm:spPr/>
    </dgm:pt>
    <dgm:pt modelId="{3854B5A5-ED79-4FFA-8707-4344BB319838}" type="pres">
      <dgm:prSet presAssocID="{0CEB3172-CF60-474F-BB69-602FCE959945}" presName="compNode" presStyleCnt="0"/>
      <dgm:spPr/>
    </dgm:pt>
    <dgm:pt modelId="{8E02CD6A-F820-4A88-8107-7175BC03F654}" type="pres">
      <dgm:prSet presAssocID="{0CEB3172-CF60-474F-BB69-602FCE95994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7572D45-F7E6-4841-96B3-BC289205BF02}" type="pres">
      <dgm:prSet presAssocID="{0CEB3172-CF60-474F-BB69-602FCE959945}" presName="iconSpace" presStyleCnt="0"/>
      <dgm:spPr/>
    </dgm:pt>
    <dgm:pt modelId="{EBB87874-5C8C-4024-A27D-990F80856C37}" type="pres">
      <dgm:prSet presAssocID="{0CEB3172-CF60-474F-BB69-602FCE959945}" presName="parTx" presStyleLbl="revTx" presStyleIdx="0" presStyleCnt="4">
        <dgm:presLayoutVars>
          <dgm:chMax val="0"/>
          <dgm:chPref val="0"/>
        </dgm:presLayoutVars>
      </dgm:prSet>
      <dgm:spPr/>
    </dgm:pt>
    <dgm:pt modelId="{5C2252A7-B8B7-4461-BC45-70C761E6FE2A}" type="pres">
      <dgm:prSet presAssocID="{0CEB3172-CF60-474F-BB69-602FCE959945}" presName="txSpace" presStyleCnt="0"/>
      <dgm:spPr/>
    </dgm:pt>
    <dgm:pt modelId="{BAEB7192-0D78-40F8-98B7-166A8F7E202E}" type="pres">
      <dgm:prSet presAssocID="{0CEB3172-CF60-474F-BB69-602FCE959945}" presName="desTx" presStyleLbl="revTx" presStyleIdx="1" presStyleCnt="4">
        <dgm:presLayoutVars/>
      </dgm:prSet>
      <dgm:spPr/>
    </dgm:pt>
    <dgm:pt modelId="{775DEF03-5817-4836-95DD-E6F3BDF82470}" type="pres">
      <dgm:prSet presAssocID="{BFD5F3CA-F409-4F0A-9B62-2D4E4F4B4A65}" presName="sibTrans" presStyleCnt="0"/>
      <dgm:spPr/>
    </dgm:pt>
    <dgm:pt modelId="{E79FD961-D825-4893-BEBE-2E9BC9411C19}" type="pres">
      <dgm:prSet presAssocID="{91A89402-F04A-4650-AC4F-1B76D66E2AC5}" presName="compNode" presStyleCnt="0"/>
      <dgm:spPr/>
    </dgm:pt>
    <dgm:pt modelId="{3497C6A7-1402-4728-8889-8ED1B5D6B5EB}" type="pres">
      <dgm:prSet presAssocID="{91A89402-F04A-4650-AC4F-1B76D66E2AC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ools"/>
        </a:ext>
      </dgm:extLst>
    </dgm:pt>
    <dgm:pt modelId="{5EF0A8D9-D904-47DE-854E-5B5F92886032}" type="pres">
      <dgm:prSet presAssocID="{91A89402-F04A-4650-AC4F-1B76D66E2AC5}" presName="iconSpace" presStyleCnt="0"/>
      <dgm:spPr/>
    </dgm:pt>
    <dgm:pt modelId="{44AE7D19-349C-4486-ABB7-99BFE8C56D2B}" type="pres">
      <dgm:prSet presAssocID="{91A89402-F04A-4650-AC4F-1B76D66E2AC5}" presName="parTx" presStyleLbl="revTx" presStyleIdx="2" presStyleCnt="4">
        <dgm:presLayoutVars>
          <dgm:chMax val="0"/>
          <dgm:chPref val="0"/>
        </dgm:presLayoutVars>
      </dgm:prSet>
      <dgm:spPr/>
    </dgm:pt>
    <dgm:pt modelId="{0BE7EE0D-38DE-4F18-BEF7-0D8DF0EB66BC}" type="pres">
      <dgm:prSet presAssocID="{91A89402-F04A-4650-AC4F-1B76D66E2AC5}" presName="txSpace" presStyleCnt="0"/>
      <dgm:spPr/>
    </dgm:pt>
    <dgm:pt modelId="{5FC63415-A873-4BF5-8207-0CD12E4A3D42}" type="pres">
      <dgm:prSet presAssocID="{91A89402-F04A-4650-AC4F-1B76D66E2AC5}" presName="desTx" presStyleLbl="revTx" presStyleIdx="3" presStyleCnt="4">
        <dgm:presLayoutVars/>
      </dgm:prSet>
      <dgm:spPr/>
    </dgm:pt>
  </dgm:ptLst>
  <dgm:cxnLst>
    <dgm:cxn modelId="{2253B12F-6FCD-4B69-850B-56BD184C0C8F}" srcId="{1DBA0457-8377-4D94-ACD5-5DA9FDB27F96}" destId="{0CEB3172-CF60-474F-BB69-602FCE959945}" srcOrd="0" destOrd="0" parTransId="{D6D12623-53D9-422B-AA66-7C5DBAB32013}" sibTransId="{BFD5F3CA-F409-4F0A-9B62-2D4E4F4B4A65}"/>
    <dgm:cxn modelId="{37FEE468-A937-4AE9-B386-7838BECFAB92}" srcId="{91A89402-F04A-4650-AC4F-1B76D66E2AC5}" destId="{4C18EFC1-FE23-43C1-962D-7573395CE5AD}" srcOrd="0" destOrd="0" parTransId="{A034B649-D38C-4381-96D4-12E92A653609}" sibTransId="{EE2D0E6E-68D0-4B6C-AEF9-B383B36A1A12}"/>
    <dgm:cxn modelId="{245F8A6D-976B-406D-B27C-7C2D74718DFB}" type="presOf" srcId="{281DB158-B1DE-4580-A7EF-1747321C49FD}" destId="{BAEB7192-0D78-40F8-98B7-166A8F7E202E}" srcOrd="0" destOrd="0" presId="urn:microsoft.com/office/officeart/2018/5/layout/CenteredIconLabelDescriptionList"/>
    <dgm:cxn modelId="{78811586-6783-468A-AA97-132C2F2999C8}" type="presOf" srcId="{4C18EFC1-FE23-43C1-962D-7573395CE5AD}" destId="{5FC63415-A873-4BF5-8207-0CD12E4A3D42}" srcOrd="0" destOrd="0" presId="urn:microsoft.com/office/officeart/2018/5/layout/CenteredIconLabelDescriptionList"/>
    <dgm:cxn modelId="{86A3EC98-1B17-498A-8629-58F1CCB8C1AA}" srcId="{1DBA0457-8377-4D94-ACD5-5DA9FDB27F96}" destId="{91A89402-F04A-4650-AC4F-1B76D66E2AC5}" srcOrd="1" destOrd="0" parTransId="{44F7D5BC-B8F3-40E5-B89B-93E31F9C5B14}" sibTransId="{19DFD98F-B372-41DA-84DA-73F560820958}"/>
    <dgm:cxn modelId="{A65E419F-006D-415F-BBD0-05675C966FC2}" type="presOf" srcId="{0CEB3172-CF60-474F-BB69-602FCE959945}" destId="{EBB87874-5C8C-4024-A27D-990F80856C37}" srcOrd="0" destOrd="0" presId="urn:microsoft.com/office/officeart/2018/5/layout/CenteredIconLabelDescriptionList"/>
    <dgm:cxn modelId="{9E0A6AA9-EDA9-4CC1-8C44-D9F6E95CD0D3}" type="presOf" srcId="{91A89402-F04A-4650-AC4F-1B76D66E2AC5}" destId="{44AE7D19-349C-4486-ABB7-99BFE8C56D2B}" srcOrd="0" destOrd="0" presId="urn:microsoft.com/office/officeart/2018/5/layout/CenteredIconLabelDescriptionList"/>
    <dgm:cxn modelId="{EB942EBF-3FEC-4DC2-8071-63EC51CB7609}" srcId="{0CEB3172-CF60-474F-BB69-602FCE959945}" destId="{281DB158-B1DE-4580-A7EF-1747321C49FD}" srcOrd="0" destOrd="0" parTransId="{54246B8F-8F42-4E6C-A6EF-D36B4B53ED00}" sibTransId="{A5F7E11D-D9BF-44E1-B108-36B439D3392D}"/>
    <dgm:cxn modelId="{639B36FD-C66D-4138-B96C-3112AB0CAB4E}" type="presOf" srcId="{1DBA0457-8377-4D94-ACD5-5DA9FDB27F96}" destId="{239192B0-0D19-4044-A417-20C246937883}" srcOrd="0" destOrd="0" presId="urn:microsoft.com/office/officeart/2018/5/layout/CenteredIconLabelDescriptionList"/>
    <dgm:cxn modelId="{995309BC-493C-4382-B3B7-E9829C57FD52}" type="presParOf" srcId="{239192B0-0D19-4044-A417-20C246937883}" destId="{3854B5A5-ED79-4FFA-8707-4344BB319838}" srcOrd="0" destOrd="0" presId="urn:microsoft.com/office/officeart/2018/5/layout/CenteredIconLabelDescriptionList"/>
    <dgm:cxn modelId="{09498F11-F67B-4730-B9EC-C4FA0E747C2A}" type="presParOf" srcId="{3854B5A5-ED79-4FFA-8707-4344BB319838}" destId="{8E02CD6A-F820-4A88-8107-7175BC03F654}" srcOrd="0" destOrd="0" presId="urn:microsoft.com/office/officeart/2018/5/layout/CenteredIconLabelDescriptionList"/>
    <dgm:cxn modelId="{AEC94C34-A5FF-4F00-950B-80B7B5BC35A5}" type="presParOf" srcId="{3854B5A5-ED79-4FFA-8707-4344BB319838}" destId="{D7572D45-F7E6-4841-96B3-BC289205BF02}" srcOrd="1" destOrd="0" presId="urn:microsoft.com/office/officeart/2018/5/layout/CenteredIconLabelDescriptionList"/>
    <dgm:cxn modelId="{D1BD6376-6DD4-425B-A662-B868E7AD9277}" type="presParOf" srcId="{3854B5A5-ED79-4FFA-8707-4344BB319838}" destId="{EBB87874-5C8C-4024-A27D-990F80856C37}" srcOrd="2" destOrd="0" presId="urn:microsoft.com/office/officeart/2018/5/layout/CenteredIconLabelDescriptionList"/>
    <dgm:cxn modelId="{891FE282-D8D0-47DE-B832-CA56909A3C58}" type="presParOf" srcId="{3854B5A5-ED79-4FFA-8707-4344BB319838}" destId="{5C2252A7-B8B7-4461-BC45-70C761E6FE2A}" srcOrd="3" destOrd="0" presId="urn:microsoft.com/office/officeart/2018/5/layout/CenteredIconLabelDescriptionList"/>
    <dgm:cxn modelId="{CD1C3BCA-19AB-4593-8267-4923D44E45D4}" type="presParOf" srcId="{3854B5A5-ED79-4FFA-8707-4344BB319838}" destId="{BAEB7192-0D78-40F8-98B7-166A8F7E202E}" srcOrd="4" destOrd="0" presId="urn:microsoft.com/office/officeart/2018/5/layout/CenteredIconLabelDescriptionList"/>
    <dgm:cxn modelId="{28B474B8-ACE0-477B-A1C9-71AAC1ECFD0F}" type="presParOf" srcId="{239192B0-0D19-4044-A417-20C246937883}" destId="{775DEF03-5817-4836-95DD-E6F3BDF82470}" srcOrd="1" destOrd="0" presId="urn:microsoft.com/office/officeart/2018/5/layout/CenteredIconLabelDescriptionList"/>
    <dgm:cxn modelId="{5DFFF042-3471-45DC-BF14-9CD2EE0B37C3}" type="presParOf" srcId="{239192B0-0D19-4044-A417-20C246937883}" destId="{E79FD961-D825-4893-BEBE-2E9BC9411C19}" srcOrd="2" destOrd="0" presId="urn:microsoft.com/office/officeart/2018/5/layout/CenteredIconLabelDescriptionList"/>
    <dgm:cxn modelId="{D63B85DB-5468-43D4-B0E6-AC17175CC9DA}" type="presParOf" srcId="{E79FD961-D825-4893-BEBE-2E9BC9411C19}" destId="{3497C6A7-1402-4728-8889-8ED1B5D6B5EB}" srcOrd="0" destOrd="0" presId="urn:microsoft.com/office/officeart/2018/5/layout/CenteredIconLabelDescriptionList"/>
    <dgm:cxn modelId="{462DEA7A-BFBE-4A9F-8C7C-45B4AB228E1F}" type="presParOf" srcId="{E79FD961-D825-4893-BEBE-2E9BC9411C19}" destId="{5EF0A8D9-D904-47DE-854E-5B5F92886032}" srcOrd="1" destOrd="0" presId="urn:microsoft.com/office/officeart/2018/5/layout/CenteredIconLabelDescriptionList"/>
    <dgm:cxn modelId="{8B8CEF3E-91F7-480D-8318-AFDABC2CCBC4}" type="presParOf" srcId="{E79FD961-D825-4893-BEBE-2E9BC9411C19}" destId="{44AE7D19-349C-4486-ABB7-99BFE8C56D2B}" srcOrd="2" destOrd="0" presId="urn:microsoft.com/office/officeart/2018/5/layout/CenteredIconLabelDescriptionList"/>
    <dgm:cxn modelId="{76CCD43C-C7E8-47A9-BA17-87B3D2D03080}" type="presParOf" srcId="{E79FD961-D825-4893-BEBE-2E9BC9411C19}" destId="{0BE7EE0D-38DE-4F18-BEF7-0D8DF0EB66BC}" srcOrd="3" destOrd="0" presId="urn:microsoft.com/office/officeart/2018/5/layout/CenteredIconLabelDescriptionList"/>
    <dgm:cxn modelId="{571E42FB-DDA1-4A68-B696-624FF08D5EDA}" type="presParOf" srcId="{E79FD961-D825-4893-BEBE-2E9BC9411C19}" destId="{5FC63415-A873-4BF5-8207-0CD12E4A3D42}"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8F02C3-9F00-4423-86C3-B3D45169AB2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CF68301-1AFF-4A77-91A8-3D1FFCE876E3}">
      <dgm:prSet/>
      <dgm:spPr/>
      <dgm:t>
        <a:bodyPr/>
        <a:lstStyle/>
        <a:p>
          <a:pPr>
            <a:lnSpc>
              <a:spcPct val="100000"/>
            </a:lnSpc>
          </a:pPr>
          <a:r>
            <a:rPr lang="en-US"/>
            <a:t>Programmatic UI Creation</a:t>
          </a:r>
        </a:p>
      </dgm:t>
    </dgm:pt>
    <dgm:pt modelId="{D8EC15F0-3607-4336-9060-6AD935DF0B18}" type="parTrans" cxnId="{46C13E8C-570D-48AB-B6AD-0F0C8CFD41C3}">
      <dgm:prSet/>
      <dgm:spPr/>
      <dgm:t>
        <a:bodyPr/>
        <a:lstStyle/>
        <a:p>
          <a:endParaRPr lang="en-US"/>
        </a:p>
      </dgm:t>
    </dgm:pt>
    <dgm:pt modelId="{77A8DC08-7342-48B7-B107-3FD822CCAB56}" type="sibTrans" cxnId="{46C13E8C-570D-48AB-B6AD-0F0C8CFD41C3}">
      <dgm:prSet/>
      <dgm:spPr/>
      <dgm:t>
        <a:bodyPr/>
        <a:lstStyle/>
        <a:p>
          <a:endParaRPr lang="en-US"/>
        </a:p>
      </dgm:t>
    </dgm:pt>
    <dgm:pt modelId="{7BF91042-97BD-4315-B71B-07810B49F2CD}">
      <dgm:prSet/>
      <dgm:spPr/>
      <dgm:t>
        <a:bodyPr/>
        <a:lstStyle/>
        <a:p>
          <a:pPr>
            <a:lnSpc>
              <a:spcPct val="100000"/>
            </a:lnSpc>
          </a:pPr>
          <a:r>
            <a:rPr lang="en-US" baseline="0"/>
            <a:t>Create and modify user interface elements using C# markup programmatically.</a:t>
          </a:r>
          <a:endParaRPr lang="en-US"/>
        </a:p>
      </dgm:t>
    </dgm:pt>
    <dgm:pt modelId="{89A84902-3D4A-4E7A-A2E3-7C441E6C3147}" type="parTrans" cxnId="{C870538D-E9C3-4241-A5B4-9D7DA5357EA2}">
      <dgm:prSet/>
      <dgm:spPr/>
      <dgm:t>
        <a:bodyPr/>
        <a:lstStyle/>
        <a:p>
          <a:endParaRPr lang="en-US"/>
        </a:p>
      </dgm:t>
    </dgm:pt>
    <dgm:pt modelId="{5CBB8903-4C8C-4A6A-BA4D-55DA08B06768}" type="sibTrans" cxnId="{C870538D-E9C3-4241-A5B4-9D7DA5357EA2}">
      <dgm:prSet/>
      <dgm:spPr/>
      <dgm:t>
        <a:bodyPr/>
        <a:lstStyle/>
        <a:p>
          <a:endParaRPr lang="en-US"/>
        </a:p>
      </dgm:t>
    </dgm:pt>
    <dgm:pt modelId="{03A4516F-2597-4D39-AC95-C3B49E24C21F}">
      <dgm:prSet/>
      <dgm:spPr/>
      <dgm:t>
        <a:bodyPr/>
        <a:lstStyle/>
        <a:p>
          <a:pPr>
            <a:lnSpc>
              <a:spcPct val="100000"/>
            </a:lnSpc>
          </a:pPr>
          <a:r>
            <a:rPr lang="en-US"/>
            <a:t>Improved Code Reuse</a:t>
          </a:r>
        </a:p>
      </dgm:t>
    </dgm:pt>
    <dgm:pt modelId="{4258415E-70CA-4693-9BAC-0D79EC317FCB}" type="parTrans" cxnId="{CB6AA8F4-CEF0-4037-9DA1-9D20AAFE4A3C}">
      <dgm:prSet/>
      <dgm:spPr/>
      <dgm:t>
        <a:bodyPr/>
        <a:lstStyle/>
        <a:p>
          <a:endParaRPr lang="en-US"/>
        </a:p>
      </dgm:t>
    </dgm:pt>
    <dgm:pt modelId="{9370C8CC-1663-4C89-8B5B-F7734F88DB39}" type="sibTrans" cxnId="{CB6AA8F4-CEF0-4037-9DA1-9D20AAFE4A3C}">
      <dgm:prSet/>
      <dgm:spPr/>
      <dgm:t>
        <a:bodyPr/>
        <a:lstStyle/>
        <a:p>
          <a:endParaRPr lang="en-US"/>
        </a:p>
      </dgm:t>
    </dgm:pt>
    <dgm:pt modelId="{B823981A-DC3C-4FDC-8173-4B89F416B6D4}">
      <dgm:prSet/>
      <dgm:spPr/>
      <dgm:t>
        <a:bodyPr/>
        <a:lstStyle/>
        <a:p>
          <a:pPr>
            <a:lnSpc>
              <a:spcPct val="100000"/>
            </a:lnSpc>
          </a:pPr>
          <a:r>
            <a:rPr lang="en-US" baseline="0"/>
            <a:t>Enhance code reuse by allowing modular UI components to be managed efficiently.</a:t>
          </a:r>
          <a:endParaRPr lang="en-US"/>
        </a:p>
      </dgm:t>
    </dgm:pt>
    <dgm:pt modelId="{8989F01A-8B8E-4B89-9A3F-A22D1CA40470}" type="parTrans" cxnId="{D77F7610-070D-48AF-B50F-B6F95772202D}">
      <dgm:prSet/>
      <dgm:spPr/>
      <dgm:t>
        <a:bodyPr/>
        <a:lstStyle/>
        <a:p>
          <a:endParaRPr lang="en-US"/>
        </a:p>
      </dgm:t>
    </dgm:pt>
    <dgm:pt modelId="{F8952D99-0616-444D-A426-27737BB16AB6}" type="sibTrans" cxnId="{D77F7610-070D-48AF-B50F-B6F95772202D}">
      <dgm:prSet/>
      <dgm:spPr/>
      <dgm:t>
        <a:bodyPr/>
        <a:lstStyle/>
        <a:p>
          <a:endParaRPr lang="en-US"/>
        </a:p>
      </dgm:t>
    </dgm:pt>
    <dgm:pt modelId="{C663DBDE-5FA6-4C51-9E0D-765C9B388FE3}">
      <dgm:prSet/>
      <dgm:spPr/>
      <dgm:t>
        <a:bodyPr/>
        <a:lstStyle/>
        <a:p>
          <a:pPr>
            <a:lnSpc>
              <a:spcPct val="100000"/>
            </a:lnSpc>
          </a:pPr>
          <a:r>
            <a:rPr lang="en-US"/>
            <a:t>Reduced Context Switching</a:t>
          </a:r>
        </a:p>
      </dgm:t>
    </dgm:pt>
    <dgm:pt modelId="{6910C2D6-7ADD-4BA5-A93B-989CAC9EB8E3}" type="parTrans" cxnId="{4D9582FB-350A-4676-9BC2-3866BE4E99A2}">
      <dgm:prSet/>
      <dgm:spPr/>
      <dgm:t>
        <a:bodyPr/>
        <a:lstStyle/>
        <a:p>
          <a:endParaRPr lang="en-US"/>
        </a:p>
      </dgm:t>
    </dgm:pt>
    <dgm:pt modelId="{04C88D65-AE40-42DF-9CE8-52FC66B823D4}" type="sibTrans" cxnId="{4D9582FB-350A-4676-9BC2-3866BE4E99A2}">
      <dgm:prSet/>
      <dgm:spPr/>
      <dgm:t>
        <a:bodyPr/>
        <a:lstStyle/>
        <a:p>
          <a:endParaRPr lang="en-US"/>
        </a:p>
      </dgm:t>
    </dgm:pt>
    <dgm:pt modelId="{C77C361F-BE1A-492B-B84F-D91908FBC05D}">
      <dgm:prSet/>
      <dgm:spPr/>
      <dgm:t>
        <a:bodyPr/>
        <a:lstStyle/>
        <a:p>
          <a:pPr>
            <a:lnSpc>
              <a:spcPct val="100000"/>
            </a:lnSpc>
          </a:pPr>
          <a:r>
            <a:rPr lang="en-US" baseline="0"/>
            <a:t>Using C# markup reduces context switching between design and code environments for developers.</a:t>
          </a:r>
          <a:endParaRPr lang="en-US"/>
        </a:p>
      </dgm:t>
    </dgm:pt>
    <dgm:pt modelId="{BC92CDF0-ECEF-40D3-9844-388F0FB93AD2}" type="parTrans" cxnId="{F910D8D0-18E8-46B9-94EB-F6BD1B887D3E}">
      <dgm:prSet/>
      <dgm:spPr/>
      <dgm:t>
        <a:bodyPr/>
        <a:lstStyle/>
        <a:p>
          <a:endParaRPr lang="en-US"/>
        </a:p>
      </dgm:t>
    </dgm:pt>
    <dgm:pt modelId="{B0B4603E-1887-4565-B1E5-6CE5E282FA01}" type="sibTrans" cxnId="{F910D8D0-18E8-46B9-94EB-F6BD1B887D3E}">
      <dgm:prSet/>
      <dgm:spPr/>
      <dgm:t>
        <a:bodyPr/>
        <a:lstStyle/>
        <a:p>
          <a:endParaRPr lang="en-US"/>
        </a:p>
      </dgm:t>
    </dgm:pt>
    <dgm:pt modelId="{4AA33B7E-AFA5-446A-AF31-059F3818FF21}" type="pres">
      <dgm:prSet presAssocID="{F18F02C3-9F00-4423-86C3-B3D45169AB23}" presName="root" presStyleCnt="0">
        <dgm:presLayoutVars>
          <dgm:dir/>
          <dgm:resizeHandles val="exact"/>
        </dgm:presLayoutVars>
      </dgm:prSet>
      <dgm:spPr/>
    </dgm:pt>
    <dgm:pt modelId="{FE9BFB6A-348B-4154-A2D0-952FFE45CB57}" type="pres">
      <dgm:prSet presAssocID="{DCF68301-1AFF-4A77-91A8-3D1FFCE876E3}" presName="compNode" presStyleCnt="0"/>
      <dgm:spPr/>
    </dgm:pt>
    <dgm:pt modelId="{9B862CFD-862E-4FE8-9CA4-2932A89BE2EA}" type="pres">
      <dgm:prSet presAssocID="{DCF68301-1AFF-4A77-91A8-3D1FFCE876E3}" presName="bgRect" presStyleLbl="bgShp" presStyleIdx="0" presStyleCnt="3"/>
      <dgm:spPr/>
    </dgm:pt>
    <dgm:pt modelId="{CA44C5B7-B737-466E-AE63-896B08DA5799}" type="pres">
      <dgm:prSet presAssocID="{DCF68301-1AFF-4A77-91A8-3D1FFCE876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824F323A-2AF8-4FA7-865F-84CE7477E6D9}" type="pres">
      <dgm:prSet presAssocID="{DCF68301-1AFF-4A77-91A8-3D1FFCE876E3}" presName="spaceRect" presStyleCnt="0"/>
      <dgm:spPr/>
    </dgm:pt>
    <dgm:pt modelId="{27351BB2-8C51-4A6A-B40E-DA152BFFEF41}" type="pres">
      <dgm:prSet presAssocID="{DCF68301-1AFF-4A77-91A8-3D1FFCE876E3}" presName="parTx" presStyleLbl="revTx" presStyleIdx="0" presStyleCnt="6">
        <dgm:presLayoutVars>
          <dgm:chMax val="0"/>
          <dgm:chPref val="0"/>
        </dgm:presLayoutVars>
      </dgm:prSet>
      <dgm:spPr/>
    </dgm:pt>
    <dgm:pt modelId="{D8364D52-A193-4665-936E-E752A1760277}" type="pres">
      <dgm:prSet presAssocID="{DCF68301-1AFF-4A77-91A8-3D1FFCE876E3}" presName="desTx" presStyleLbl="revTx" presStyleIdx="1" presStyleCnt="6">
        <dgm:presLayoutVars/>
      </dgm:prSet>
      <dgm:spPr/>
    </dgm:pt>
    <dgm:pt modelId="{187FFE95-6A1E-4E79-9877-FD109B1D5CA1}" type="pres">
      <dgm:prSet presAssocID="{77A8DC08-7342-48B7-B107-3FD822CCAB56}" presName="sibTrans" presStyleCnt="0"/>
      <dgm:spPr/>
    </dgm:pt>
    <dgm:pt modelId="{8391B395-E783-42D5-8549-3BE77DBABD55}" type="pres">
      <dgm:prSet presAssocID="{03A4516F-2597-4D39-AC95-C3B49E24C21F}" presName="compNode" presStyleCnt="0"/>
      <dgm:spPr/>
    </dgm:pt>
    <dgm:pt modelId="{6BB9A986-9EB1-4E31-9B51-D8B4D69EF2A6}" type="pres">
      <dgm:prSet presAssocID="{03A4516F-2597-4D39-AC95-C3B49E24C21F}" presName="bgRect" presStyleLbl="bgShp" presStyleIdx="1" presStyleCnt="3"/>
      <dgm:spPr/>
    </dgm:pt>
    <dgm:pt modelId="{59F6D946-AB01-43DA-A603-C91B258F6D58}" type="pres">
      <dgm:prSet presAssocID="{03A4516F-2597-4D39-AC95-C3B49E24C21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6D9B71F4-8541-4FB9-9CC5-D7EE9E7E7A5F}" type="pres">
      <dgm:prSet presAssocID="{03A4516F-2597-4D39-AC95-C3B49E24C21F}" presName="spaceRect" presStyleCnt="0"/>
      <dgm:spPr/>
    </dgm:pt>
    <dgm:pt modelId="{5E2C4287-152E-4358-9324-988021339FAF}" type="pres">
      <dgm:prSet presAssocID="{03A4516F-2597-4D39-AC95-C3B49E24C21F}" presName="parTx" presStyleLbl="revTx" presStyleIdx="2" presStyleCnt="6">
        <dgm:presLayoutVars>
          <dgm:chMax val="0"/>
          <dgm:chPref val="0"/>
        </dgm:presLayoutVars>
      </dgm:prSet>
      <dgm:spPr/>
    </dgm:pt>
    <dgm:pt modelId="{96C20A32-D33C-4F53-B9CA-3A57C7F17002}" type="pres">
      <dgm:prSet presAssocID="{03A4516F-2597-4D39-AC95-C3B49E24C21F}" presName="desTx" presStyleLbl="revTx" presStyleIdx="3" presStyleCnt="6">
        <dgm:presLayoutVars/>
      </dgm:prSet>
      <dgm:spPr/>
    </dgm:pt>
    <dgm:pt modelId="{0C95C1AE-27D5-4824-840C-ED93587281A2}" type="pres">
      <dgm:prSet presAssocID="{9370C8CC-1663-4C89-8B5B-F7734F88DB39}" presName="sibTrans" presStyleCnt="0"/>
      <dgm:spPr/>
    </dgm:pt>
    <dgm:pt modelId="{566EF3B5-340C-4CA4-AE46-E6C355D7BED4}" type="pres">
      <dgm:prSet presAssocID="{C663DBDE-5FA6-4C51-9E0D-765C9B388FE3}" presName="compNode" presStyleCnt="0"/>
      <dgm:spPr/>
    </dgm:pt>
    <dgm:pt modelId="{92CBF1F3-9A41-4AF0-BBB4-A32482717E95}" type="pres">
      <dgm:prSet presAssocID="{C663DBDE-5FA6-4C51-9E0D-765C9B388FE3}" presName="bgRect" presStyleLbl="bgShp" presStyleIdx="2" presStyleCnt="3"/>
      <dgm:spPr/>
    </dgm:pt>
    <dgm:pt modelId="{14DDA994-008F-4AB5-A014-AAE6C583F71A}" type="pres">
      <dgm:prSet presAssocID="{C663DBDE-5FA6-4C51-9E0D-765C9B388FE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E7C07EF7-D4D9-4252-84ED-9CEE37E4599F}" type="pres">
      <dgm:prSet presAssocID="{C663DBDE-5FA6-4C51-9E0D-765C9B388FE3}" presName="spaceRect" presStyleCnt="0"/>
      <dgm:spPr/>
    </dgm:pt>
    <dgm:pt modelId="{3913FF78-CE21-4D20-BC75-2A565591287A}" type="pres">
      <dgm:prSet presAssocID="{C663DBDE-5FA6-4C51-9E0D-765C9B388FE3}" presName="parTx" presStyleLbl="revTx" presStyleIdx="4" presStyleCnt="6">
        <dgm:presLayoutVars>
          <dgm:chMax val="0"/>
          <dgm:chPref val="0"/>
        </dgm:presLayoutVars>
      </dgm:prSet>
      <dgm:spPr/>
    </dgm:pt>
    <dgm:pt modelId="{C0346201-AE52-465A-B41E-8985AE902351}" type="pres">
      <dgm:prSet presAssocID="{C663DBDE-5FA6-4C51-9E0D-765C9B388FE3}" presName="desTx" presStyleLbl="revTx" presStyleIdx="5" presStyleCnt="6">
        <dgm:presLayoutVars/>
      </dgm:prSet>
      <dgm:spPr/>
    </dgm:pt>
  </dgm:ptLst>
  <dgm:cxnLst>
    <dgm:cxn modelId="{49768504-97CA-4924-83BC-424B93635A7B}" type="presOf" srcId="{C663DBDE-5FA6-4C51-9E0D-765C9B388FE3}" destId="{3913FF78-CE21-4D20-BC75-2A565591287A}" srcOrd="0" destOrd="0" presId="urn:microsoft.com/office/officeart/2018/2/layout/IconVerticalSolidList"/>
    <dgm:cxn modelId="{56E2B00C-2FA9-4966-84F9-9B1D410F45C6}" type="presOf" srcId="{F18F02C3-9F00-4423-86C3-B3D45169AB23}" destId="{4AA33B7E-AFA5-446A-AF31-059F3818FF21}" srcOrd="0" destOrd="0" presId="urn:microsoft.com/office/officeart/2018/2/layout/IconVerticalSolidList"/>
    <dgm:cxn modelId="{D77F7610-070D-48AF-B50F-B6F95772202D}" srcId="{03A4516F-2597-4D39-AC95-C3B49E24C21F}" destId="{B823981A-DC3C-4FDC-8173-4B89F416B6D4}" srcOrd="0" destOrd="0" parTransId="{8989F01A-8B8E-4B89-9A3F-A22D1CA40470}" sibTransId="{F8952D99-0616-444D-A426-27737BB16AB6}"/>
    <dgm:cxn modelId="{7057634D-C1A4-4236-89CB-93BFC4780A97}" type="presOf" srcId="{03A4516F-2597-4D39-AC95-C3B49E24C21F}" destId="{5E2C4287-152E-4358-9324-988021339FAF}" srcOrd="0" destOrd="0" presId="urn:microsoft.com/office/officeart/2018/2/layout/IconVerticalSolidList"/>
    <dgm:cxn modelId="{AF076C51-D340-498E-AA38-8A7F9958ADEB}" type="presOf" srcId="{C77C361F-BE1A-492B-B84F-D91908FBC05D}" destId="{C0346201-AE52-465A-B41E-8985AE902351}" srcOrd="0" destOrd="0" presId="urn:microsoft.com/office/officeart/2018/2/layout/IconVerticalSolidList"/>
    <dgm:cxn modelId="{4CB9C675-B17B-4D78-8F75-1FBFABBC268D}" type="presOf" srcId="{B823981A-DC3C-4FDC-8173-4B89F416B6D4}" destId="{96C20A32-D33C-4F53-B9CA-3A57C7F17002}" srcOrd="0" destOrd="0" presId="urn:microsoft.com/office/officeart/2018/2/layout/IconVerticalSolidList"/>
    <dgm:cxn modelId="{46C13E8C-570D-48AB-B6AD-0F0C8CFD41C3}" srcId="{F18F02C3-9F00-4423-86C3-B3D45169AB23}" destId="{DCF68301-1AFF-4A77-91A8-3D1FFCE876E3}" srcOrd="0" destOrd="0" parTransId="{D8EC15F0-3607-4336-9060-6AD935DF0B18}" sibTransId="{77A8DC08-7342-48B7-B107-3FD822CCAB56}"/>
    <dgm:cxn modelId="{C870538D-E9C3-4241-A5B4-9D7DA5357EA2}" srcId="{DCF68301-1AFF-4A77-91A8-3D1FFCE876E3}" destId="{7BF91042-97BD-4315-B71B-07810B49F2CD}" srcOrd="0" destOrd="0" parTransId="{89A84902-3D4A-4E7A-A2E3-7C441E6C3147}" sibTransId="{5CBB8903-4C8C-4A6A-BA4D-55DA08B06768}"/>
    <dgm:cxn modelId="{F910D8D0-18E8-46B9-94EB-F6BD1B887D3E}" srcId="{C663DBDE-5FA6-4C51-9E0D-765C9B388FE3}" destId="{C77C361F-BE1A-492B-B84F-D91908FBC05D}" srcOrd="0" destOrd="0" parTransId="{BC92CDF0-ECEF-40D3-9844-388F0FB93AD2}" sibTransId="{B0B4603E-1887-4565-B1E5-6CE5E282FA01}"/>
    <dgm:cxn modelId="{C6F859DB-14D4-4B43-A7AD-75C0260673EC}" type="presOf" srcId="{DCF68301-1AFF-4A77-91A8-3D1FFCE876E3}" destId="{27351BB2-8C51-4A6A-B40E-DA152BFFEF41}" srcOrd="0" destOrd="0" presId="urn:microsoft.com/office/officeart/2018/2/layout/IconVerticalSolidList"/>
    <dgm:cxn modelId="{873ED5E2-BA8A-4C2C-9DA7-BF10FBE55256}" type="presOf" srcId="{7BF91042-97BD-4315-B71B-07810B49F2CD}" destId="{D8364D52-A193-4665-936E-E752A1760277}" srcOrd="0" destOrd="0" presId="urn:microsoft.com/office/officeart/2018/2/layout/IconVerticalSolidList"/>
    <dgm:cxn modelId="{CB6AA8F4-CEF0-4037-9DA1-9D20AAFE4A3C}" srcId="{F18F02C3-9F00-4423-86C3-B3D45169AB23}" destId="{03A4516F-2597-4D39-AC95-C3B49E24C21F}" srcOrd="1" destOrd="0" parTransId="{4258415E-70CA-4693-9BAC-0D79EC317FCB}" sibTransId="{9370C8CC-1663-4C89-8B5B-F7734F88DB39}"/>
    <dgm:cxn modelId="{4D9582FB-350A-4676-9BC2-3866BE4E99A2}" srcId="{F18F02C3-9F00-4423-86C3-B3D45169AB23}" destId="{C663DBDE-5FA6-4C51-9E0D-765C9B388FE3}" srcOrd="2" destOrd="0" parTransId="{6910C2D6-7ADD-4BA5-A93B-989CAC9EB8E3}" sibTransId="{04C88D65-AE40-42DF-9CE8-52FC66B823D4}"/>
    <dgm:cxn modelId="{87152B1B-A2DD-49CE-9497-F501BD08C58B}" type="presParOf" srcId="{4AA33B7E-AFA5-446A-AF31-059F3818FF21}" destId="{FE9BFB6A-348B-4154-A2D0-952FFE45CB57}" srcOrd="0" destOrd="0" presId="urn:microsoft.com/office/officeart/2018/2/layout/IconVerticalSolidList"/>
    <dgm:cxn modelId="{6388AFBE-8198-4CAE-AEED-469AC077E5E3}" type="presParOf" srcId="{FE9BFB6A-348B-4154-A2D0-952FFE45CB57}" destId="{9B862CFD-862E-4FE8-9CA4-2932A89BE2EA}" srcOrd="0" destOrd="0" presId="urn:microsoft.com/office/officeart/2018/2/layout/IconVerticalSolidList"/>
    <dgm:cxn modelId="{898A8F3E-CDBF-49A2-8AFA-C377888F486B}" type="presParOf" srcId="{FE9BFB6A-348B-4154-A2D0-952FFE45CB57}" destId="{CA44C5B7-B737-466E-AE63-896B08DA5799}" srcOrd="1" destOrd="0" presId="urn:microsoft.com/office/officeart/2018/2/layout/IconVerticalSolidList"/>
    <dgm:cxn modelId="{19CE5709-3444-45BB-A954-DAB7831A8628}" type="presParOf" srcId="{FE9BFB6A-348B-4154-A2D0-952FFE45CB57}" destId="{824F323A-2AF8-4FA7-865F-84CE7477E6D9}" srcOrd="2" destOrd="0" presId="urn:microsoft.com/office/officeart/2018/2/layout/IconVerticalSolidList"/>
    <dgm:cxn modelId="{8976AAA9-5A87-4CBF-8318-7928E7CA89E0}" type="presParOf" srcId="{FE9BFB6A-348B-4154-A2D0-952FFE45CB57}" destId="{27351BB2-8C51-4A6A-B40E-DA152BFFEF41}" srcOrd="3" destOrd="0" presId="urn:microsoft.com/office/officeart/2018/2/layout/IconVerticalSolidList"/>
    <dgm:cxn modelId="{EB9D2ADA-137B-4B88-861D-EA18F412948D}" type="presParOf" srcId="{FE9BFB6A-348B-4154-A2D0-952FFE45CB57}" destId="{D8364D52-A193-4665-936E-E752A1760277}" srcOrd="4" destOrd="0" presId="urn:microsoft.com/office/officeart/2018/2/layout/IconVerticalSolidList"/>
    <dgm:cxn modelId="{BCD21F94-C10B-4507-86E2-C4F32B733ED3}" type="presParOf" srcId="{4AA33B7E-AFA5-446A-AF31-059F3818FF21}" destId="{187FFE95-6A1E-4E79-9877-FD109B1D5CA1}" srcOrd="1" destOrd="0" presId="urn:microsoft.com/office/officeart/2018/2/layout/IconVerticalSolidList"/>
    <dgm:cxn modelId="{6C6FB910-8CBC-4FF5-897E-F64939064CE2}" type="presParOf" srcId="{4AA33B7E-AFA5-446A-AF31-059F3818FF21}" destId="{8391B395-E783-42D5-8549-3BE77DBABD55}" srcOrd="2" destOrd="0" presId="urn:microsoft.com/office/officeart/2018/2/layout/IconVerticalSolidList"/>
    <dgm:cxn modelId="{6848FFA1-BE7C-430D-B7B4-DF68D59726BA}" type="presParOf" srcId="{8391B395-E783-42D5-8549-3BE77DBABD55}" destId="{6BB9A986-9EB1-4E31-9B51-D8B4D69EF2A6}" srcOrd="0" destOrd="0" presId="urn:microsoft.com/office/officeart/2018/2/layout/IconVerticalSolidList"/>
    <dgm:cxn modelId="{35E9B696-B6CA-41AF-8269-FF074CEC1B8F}" type="presParOf" srcId="{8391B395-E783-42D5-8549-3BE77DBABD55}" destId="{59F6D946-AB01-43DA-A603-C91B258F6D58}" srcOrd="1" destOrd="0" presId="urn:microsoft.com/office/officeart/2018/2/layout/IconVerticalSolidList"/>
    <dgm:cxn modelId="{9FF6D4C1-E02E-4E2C-BCA0-6E6AB2864C12}" type="presParOf" srcId="{8391B395-E783-42D5-8549-3BE77DBABD55}" destId="{6D9B71F4-8541-4FB9-9CC5-D7EE9E7E7A5F}" srcOrd="2" destOrd="0" presId="urn:microsoft.com/office/officeart/2018/2/layout/IconVerticalSolidList"/>
    <dgm:cxn modelId="{01179F46-35BA-4A3B-AF58-14811D36EDE4}" type="presParOf" srcId="{8391B395-E783-42D5-8549-3BE77DBABD55}" destId="{5E2C4287-152E-4358-9324-988021339FAF}" srcOrd="3" destOrd="0" presId="urn:microsoft.com/office/officeart/2018/2/layout/IconVerticalSolidList"/>
    <dgm:cxn modelId="{931DCC51-B9B4-4467-896E-6523CCAACCCC}" type="presParOf" srcId="{8391B395-E783-42D5-8549-3BE77DBABD55}" destId="{96C20A32-D33C-4F53-B9CA-3A57C7F17002}" srcOrd="4" destOrd="0" presId="urn:microsoft.com/office/officeart/2018/2/layout/IconVerticalSolidList"/>
    <dgm:cxn modelId="{B8780034-7E09-45D4-9616-CA10120F672A}" type="presParOf" srcId="{4AA33B7E-AFA5-446A-AF31-059F3818FF21}" destId="{0C95C1AE-27D5-4824-840C-ED93587281A2}" srcOrd="3" destOrd="0" presId="urn:microsoft.com/office/officeart/2018/2/layout/IconVerticalSolidList"/>
    <dgm:cxn modelId="{7236A181-074A-4078-A414-CDD771DFBBA7}" type="presParOf" srcId="{4AA33B7E-AFA5-446A-AF31-059F3818FF21}" destId="{566EF3B5-340C-4CA4-AE46-E6C355D7BED4}" srcOrd="4" destOrd="0" presId="urn:microsoft.com/office/officeart/2018/2/layout/IconVerticalSolidList"/>
    <dgm:cxn modelId="{A635FB1C-062E-44DF-9FD9-5F8860B1C324}" type="presParOf" srcId="{566EF3B5-340C-4CA4-AE46-E6C355D7BED4}" destId="{92CBF1F3-9A41-4AF0-BBB4-A32482717E95}" srcOrd="0" destOrd="0" presId="urn:microsoft.com/office/officeart/2018/2/layout/IconVerticalSolidList"/>
    <dgm:cxn modelId="{47956D45-F83C-4E73-A6F6-54B75E8B211C}" type="presParOf" srcId="{566EF3B5-340C-4CA4-AE46-E6C355D7BED4}" destId="{14DDA994-008F-4AB5-A014-AAE6C583F71A}" srcOrd="1" destOrd="0" presId="urn:microsoft.com/office/officeart/2018/2/layout/IconVerticalSolidList"/>
    <dgm:cxn modelId="{993B0C3B-D46E-4428-9916-A0CCC6AD8D9B}" type="presParOf" srcId="{566EF3B5-340C-4CA4-AE46-E6C355D7BED4}" destId="{E7C07EF7-D4D9-4252-84ED-9CEE37E4599F}" srcOrd="2" destOrd="0" presId="urn:microsoft.com/office/officeart/2018/2/layout/IconVerticalSolidList"/>
    <dgm:cxn modelId="{0BB4791F-5E31-4CC1-8933-3F2CFFF216E4}" type="presParOf" srcId="{566EF3B5-340C-4CA4-AE46-E6C355D7BED4}" destId="{3913FF78-CE21-4D20-BC75-2A565591287A}" srcOrd="3" destOrd="0" presId="urn:microsoft.com/office/officeart/2018/2/layout/IconVerticalSolidList"/>
    <dgm:cxn modelId="{A9ADC421-E710-4D68-8294-0D64BFFBBA9B}" type="presParOf" srcId="{566EF3B5-340C-4CA4-AE46-E6C355D7BED4}" destId="{C0346201-AE52-465A-B41E-8985AE90235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E224D6-E98C-41E3-81E2-346D3995FA1B}"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C9C5D18-594B-4587-8B7F-DBB85EE2C444}">
      <dgm:prSet/>
      <dgm:spPr/>
      <dgm:t>
        <a:bodyPr/>
        <a:lstStyle/>
        <a:p>
          <a:pPr>
            <a:lnSpc>
              <a:spcPct val="100000"/>
            </a:lnSpc>
            <a:defRPr b="1"/>
          </a:pPr>
          <a:r>
            <a:rPr lang="en-US"/>
            <a:t>Leverage Web Development Skills</a:t>
          </a:r>
        </a:p>
      </dgm:t>
    </dgm:pt>
    <dgm:pt modelId="{DE7EF4F6-2211-4F8C-A42B-949657380AEC}" type="parTrans" cxnId="{A75BB188-EB7A-4EE6-9B9F-910D01A08665}">
      <dgm:prSet/>
      <dgm:spPr/>
      <dgm:t>
        <a:bodyPr/>
        <a:lstStyle/>
        <a:p>
          <a:endParaRPr lang="en-US"/>
        </a:p>
      </dgm:t>
    </dgm:pt>
    <dgm:pt modelId="{A695C6D2-8816-4CC5-A1F4-AC50CC62B364}" type="sibTrans" cxnId="{A75BB188-EB7A-4EE6-9B9F-910D01A08665}">
      <dgm:prSet/>
      <dgm:spPr/>
      <dgm:t>
        <a:bodyPr/>
        <a:lstStyle/>
        <a:p>
          <a:endParaRPr lang="en-US"/>
        </a:p>
      </dgm:t>
    </dgm:pt>
    <dgm:pt modelId="{E9E2055A-0379-4AB4-A593-537E35802DDA}">
      <dgm:prSet/>
      <dgm:spPr/>
      <dgm:t>
        <a:bodyPr/>
        <a:lstStyle/>
        <a:p>
          <a:pPr>
            <a:lnSpc>
              <a:spcPct val="100000"/>
            </a:lnSpc>
          </a:pPr>
          <a:r>
            <a:rPr lang="en-US" baseline="0"/>
            <a:t>Utilize your existing web dev knowledge to efficiently style MAUI applications.</a:t>
          </a:r>
          <a:endParaRPr lang="en-US"/>
        </a:p>
      </dgm:t>
    </dgm:pt>
    <dgm:pt modelId="{FBA97B5C-EF48-4F56-A1F3-EFC23C24D430}" type="parTrans" cxnId="{9AF35E09-B826-4B4E-8BBF-FA7651FD772C}">
      <dgm:prSet/>
      <dgm:spPr/>
      <dgm:t>
        <a:bodyPr/>
        <a:lstStyle/>
        <a:p>
          <a:endParaRPr lang="en-US"/>
        </a:p>
      </dgm:t>
    </dgm:pt>
    <dgm:pt modelId="{C6441FB1-0279-4434-A646-3FF187BC8C27}" type="sibTrans" cxnId="{9AF35E09-B826-4B4E-8BBF-FA7651FD772C}">
      <dgm:prSet/>
      <dgm:spPr/>
      <dgm:t>
        <a:bodyPr/>
        <a:lstStyle/>
        <a:p>
          <a:endParaRPr lang="en-US"/>
        </a:p>
      </dgm:t>
    </dgm:pt>
    <dgm:pt modelId="{77BA860B-4E6E-4804-9F93-31AF4370B386}">
      <dgm:prSet/>
      <dgm:spPr/>
      <dgm:t>
        <a:bodyPr/>
        <a:lstStyle/>
        <a:p>
          <a:pPr>
            <a:lnSpc>
              <a:spcPct val="100000"/>
            </a:lnSpc>
            <a:defRPr b="1"/>
          </a:pPr>
          <a:r>
            <a:rPr lang="en-US"/>
            <a:t>Save Development Time</a:t>
          </a:r>
        </a:p>
      </dgm:t>
    </dgm:pt>
    <dgm:pt modelId="{B99089DB-207B-4C2C-8AF8-1D8376A1E6B3}" type="parTrans" cxnId="{FBB3A5EB-189D-4BDA-B015-ECD5618B7CA3}">
      <dgm:prSet/>
      <dgm:spPr/>
      <dgm:t>
        <a:bodyPr/>
        <a:lstStyle/>
        <a:p>
          <a:endParaRPr lang="en-US"/>
        </a:p>
      </dgm:t>
    </dgm:pt>
    <dgm:pt modelId="{B54DC816-CAB4-4127-B45E-6762A32DAAD8}" type="sibTrans" cxnId="{FBB3A5EB-189D-4BDA-B015-ECD5618B7CA3}">
      <dgm:prSet/>
      <dgm:spPr/>
      <dgm:t>
        <a:bodyPr/>
        <a:lstStyle/>
        <a:p>
          <a:endParaRPr lang="en-US"/>
        </a:p>
      </dgm:t>
    </dgm:pt>
    <dgm:pt modelId="{08A2B152-1E9B-48DF-B366-09C22DCA18B6}">
      <dgm:prSet/>
      <dgm:spPr/>
      <dgm:t>
        <a:bodyPr/>
        <a:lstStyle/>
        <a:p>
          <a:pPr>
            <a:lnSpc>
              <a:spcPct val="100000"/>
            </a:lnSpc>
          </a:pPr>
          <a:r>
            <a:rPr lang="en-US" baseline="0"/>
            <a:t>Reusing web assets reduces styling time, accelerating app development &amp; deployment.</a:t>
          </a:r>
          <a:endParaRPr lang="en-US"/>
        </a:p>
      </dgm:t>
    </dgm:pt>
    <dgm:pt modelId="{284907F5-5E2A-4466-9460-2FFE5AA70156}" type="parTrans" cxnId="{556BE28B-76EC-4D6E-9F36-1EA4D6BD0558}">
      <dgm:prSet/>
      <dgm:spPr/>
      <dgm:t>
        <a:bodyPr/>
        <a:lstStyle/>
        <a:p>
          <a:endParaRPr lang="en-US"/>
        </a:p>
      </dgm:t>
    </dgm:pt>
    <dgm:pt modelId="{6CA310A8-2A6C-4AF2-A7A7-F79F66C330A1}" type="sibTrans" cxnId="{556BE28B-76EC-4D6E-9F36-1EA4D6BD0558}">
      <dgm:prSet/>
      <dgm:spPr/>
      <dgm:t>
        <a:bodyPr/>
        <a:lstStyle/>
        <a:p>
          <a:endParaRPr lang="en-US"/>
        </a:p>
      </dgm:t>
    </dgm:pt>
    <dgm:pt modelId="{729A718F-00AF-47F8-B257-6B00D04D7326}">
      <dgm:prSet/>
      <dgm:spPr/>
      <dgm:t>
        <a:bodyPr/>
        <a:lstStyle/>
        <a:p>
          <a:pPr>
            <a:lnSpc>
              <a:spcPct val="100000"/>
            </a:lnSpc>
            <a:defRPr b="1"/>
          </a:pPr>
          <a:r>
            <a:rPr lang="en-US"/>
            <a:t>Maintain Brand Consistency</a:t>
          </a:r>
        </a:p>
      </dgm:t>
    </dgm:pt>
    <dgm:pt modelId="{4D1189AD-DA34-4E7B-98F3-DCEEEAE1BD41}" type="parTrans" cxnId="{F4E15D6B-0D4E-4D3B-89BC-F0A13E9FC3D4}">
      <dgm:prSet/>
      <dgm:spPr/>
      <dgm:t>
        <a:bodyPr/>
        <a:lstStyle/>
        <a:p>
          <a:endParaRPr lang="en-US"/>
        </a:p>
      </dgm:t>
    </dgm:pt>
    <dgm:pt modelId="{14A037A1-4DF7-4DCD-AF9F-EDB12C1396D5}" type="sibTrans" cxnId="{F4E15D6B-0D4E-4D3B-89BC-F0A13E9FC3D4}">
      <dgm:prSet/>
      <dgm:spPr/>
      <dgm:t>
        <a:bodyPr/>
        <a:lstStyle/>
        <a:p>
          <a:endParaRPr lang="en-US"/>
        </a:p>
      </dgm:t>
    </dgm:pt>
    <dgm:pt modelId="{F7F4C8C6-6D82-4E77-B25A-BDB55050F3D7}">
      <dgm:prSet/>
      <dgm:spPr/>
      <dgm:t>
        <a:bodyPr/>
        <a:lstStyle/>
        <a:p>
          <a:pPr>
            <a:lnSpc>
              <a:spcPct val="100000"/>
            </a:lnSpc>
          </a:pPr>
          <a:r>
            <a:rPr lang="en-US" baseline="0"/>
            <a:t>Consistent styling across web &amp; MAUI apps ensures strong &amp; uniform brand identity.</a:t>
          </a:r>
          <a:endParaRPr lang="en-US"/>
        </a:p>
      </dgm:t>
    </dgm:pt>
    <dgm:pt modelId="{3DDD67E1-3F52-44A3-8AE2-47F6EA0C60DD}" type="parTrans" cxnId="{75D3200A-17A4-447E-9994-19FB757FDF5D}">
      <dgm:prSet/>
      <dgm:spPr/>
      <dgm:t>
        <a:bodyPr/>
        <a:lstStyle/>
        <a:p>
          <a:endParaRPr lang="en-US"/>
        </a:p>
      </dgm:t>
    </dgm:pt>
    <dgm:pt modelId="{90F01890-059B-4F1D-AB91-D51086BDF538}" type="sibTrans" cxnId="{75D3200A-17A4-447E-9994-19FB757FDF5D}">
      <dgm:prSet/>
      <dgm:spPr/>
      <dgm:t>
        <a:bodyPr/>
        <a:lstStyle/>
        <a:p>
          <a:endParaRPr lang="en-US"/>
        </a:p>
      </dgm:t>
    </dgm:pt>
    <dgm:pt modelId="{0B04BD89-F60C-4557-A3E4-B0EF5A14425F}" type="pres">
      <dgm:prSet presAssocID="{C7E224D6-E98C-41E3-81E2-346D3995FA1B}" presName="root" presStyleCnt="0">
        <dgm:presLayoutVars>
          <dgm:dir/>
          <dgm:resizeHandles val="exact"/>
        </dgm:presLayoutVars>
      </dgm:prSet>
      <dgm:spPr/>
    </dgm:pt>
    <dgm:pt modelId="{846EA0D0-B095-4AF5-95A7-A76949667968}" type="pres">
      <dgm:prSet presAssocID="{2C9C5D18-594B-4587-8B7F-DBB85EE2C444}" presName="compNode" presStyleCnt="0"/>
      <dgm:spPr/>
    </dgm:pt>
    <dgm:pt modelId="{FC57FE82-AB4C-4CDD-95DC-BAB0F1AA2483}" type="pres">
      <dgm:prSet presAssocID="{2C9C5D18-594B-4587-8B7F-DBB85EE2C44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eb Design"/>
        </a:ext>
      </dgm:extLst>
    </dgm:pt>
    <dgm:pt modelId="{AED69AC8-EB57-4640-9991-257717F0090C}" type="pres">
      <dgm:prSet presAssocID="{2C9C5D18-594B-4587-8B7F-DBB85EE2C444}" presName="iconSpace" presStyleCnt="0"/>
      <dgm:spPr/>
    </dgm:pt>
    <dgm:pt modelId="{D6073AF3-B131-4434-B6DA-93F27B5F938B}" type="pres">
      <dgm:prSet presAssocID="{2C9C5D18-594B-4587-8B7F-DBB85EE2C444}" presName="parTx" presStyleLbl="revTx" presStyleIdx="0" presStyleCnt="6">
        <dgm:presLayoutVars>
          <dgm:chMax val="0"/>
          <dgm:chPref val="0"/>
        </dgm:presLayoutVars>
      </dgm:prSet>
      <dgm:spPr/>
    </dgm:pt>
    <dgm:pt modelId="{F97E8026-C544-44DB-870E-1F654249BF00}" type="pres">
      <dgm:prSet presAssocID="{2C9C5D18-594B-4587-8B7F-DBB85EE2C444}" presName="txSpace" presStyleCnt="0"/>
      <dgm:spPr/>
    </dgm:pt>
    <dgm:pt modelId="{7CE59EBC-62E7-4FF7-98D5-280DFCC1A2A6}" type="pres">
      <dgm:prSet presAssocID="{2C9C5D18-594B-4587-8B7F-DBB85EE2C444}" presName="desTx" presStyleLbl="revTx" presStyleIdx="1" presStyleCnt="6">
        <dgm:presLayoutVars/>
      </dgm:prSet>
      <dgm:spPr/>
    </dgm:pt>
    <dgm:pt modelId="{2AC130C0-2684-4F5A-A454-57F3E54861DD}" type="pres">
      <dgm:prSet presAssocID="{A695C6D2-8816-4CC5-A1F4-AC50CC62B364}" presName="sibTrans" presStyleCnt="0"/>
      <dgm:spPr/>
    </dgm:pt>
    <dgm:pt modelId="{7C7AFC45-5B37-4FD3-BC99-3C56696E8B3F}" type="pres">
      <dgm:prSet presAssocID="{77BA860B-4E6E-4804-9F93-31AF4370B386}" presName="compNode" presStyleCnt="0"/>
      <dgm:spPr/>
    </dgm:pt>
    <dgm:pt modelId="{7CD63E64-1713-4AE4-90E7-451AA96BBCB5}" type="pres">
      <dgm:prSet presAssocID="{77BA860B-4E6E-4804-9F93-31AF4370B38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peat"/>
        </a:ext>
      </dgm:extLst>
    </dgm:pt>
    <dgm:pt modelId="{A617FD7A-0A5D-40EA-8AEF-81EE487B762D}" type="pres">
      <dgm:prSet presAssocID="{77BA860B-4E6E-4804-9F93-31AF4370B386}" presName="iconSpace" presStyleCnt="0"/>
      <dgm:spPr/>
    </dgm:pt>
    <dgm:pt modelId="{998452CB-1C41-4A39-952C-78726A9C20AC}" type="pres">
      <dgm:prSet presAssocID="{77BA860B-4E6E-4804-9F93-31AF4370B386}" presName="parTx" presStyleLbl="revTx" presStyleIdx="2" presStyleCnt="6">
        <dgm:presLayoutVars>
          <dgm:chMax val="0"/>
          <dgm:chPref val="0"/>
        </dgm:presLayoutVars>
      </dgm:prSet>
      <dgm:spPr/>
    </dgm:pt>
    <dgm:pt modelId="{DC844681-F8CB-4670-873A-D264640A0D47}" type="pres">
      <dgm:prSet presAssocID="{77BA860B-4E6E-4804-9F93-31AF4370B386}" presName="txSpace" presStyleCnt="0"/>
      <dgm:spPr/>
    </dgm:pt>
    <dgm:pt modelId="{F7696670-8BCE-498F-8FAC-101657C419BB}" type="pres">
      <dgm:prSet presAssocID="{77BA860B-4E6E-4804-9F93-31AF4370B386}" presName="desTx" presStyleLbl="revTx" presStyleIdx="3" presStyleCnt="6">
        <dgm:presLayoutVars/>
      </dgm:prSet>
      <dgm:spPr/>
    </dgm:pt>
    <dgm:pt modelId="{49B58AA0-30CD-4897-9D70-9F7EC13F4F43}" type="pres">
      <dgm:prSet presAssocID="{B54DC816-CAB4-4127-B45E-6762A32DAAD8}" presName="sibTrans" presStyleCnt="0"/>
      <dgm:spPr/>
    </dgm:pt>
    <dgm:pt modelId="{11ED265F-506D-45B8-91AA-DB0F179E10ED}" type="pres">
      <dgm:prSet presAssocID="{729A718F-00AF-47F8-B257-6B00D04D7326}" presName="compNode" presStyleCnt="0"/>
      <dgm:spPr/>
    </dgm:pt>
    <dgm:pt modelId="{E7DCF488-79B5-4E47-83AC-E10F9F69AEA0}" type="pres">
      <dgm:prSet presAssocID="{729A718F-00AF-47F8-B257-6B00D04D732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alm tree"/>
        </a:ext>
      </dgm:extLst>
    </dgm:pt>
    <dgm:pt modelId="{976D5836-52EF-4716-A57E-60643BBF216E}" type="pres">
      <dgm:prSet presAssocID="{729A718F-00AF-47F8-B257-6B00D04D7326}" presName="iconSpace" presStyleCnt="0"/>
      <dgm:spPr/>
    </dgm:pt>
    <dgm:pt modelId="{9093C643-6303-4B24-9EF7-E898688512EE}" type="pres">
      <dgm:prSet presAssocID="{729A718F-00AF-47F8-B257-6B00D04D7326}" presName="parTx" presStyleLbl="revTx" presStyleIdx="4" presStyleCnt="6">
        <dgm:presLayoutVars>
          <dgm:chMax val="0"/>
          <dgm:chPref val="0"/>
        </dgm:presLayoutVars>
      </dgm:prSet>
      <dgm:spPr/>
    </dgm:pt>
    <dgm:pt modelId="{F327E878-54C6-4BB9-8A2D-2854E9057705}" type="pres">
      <dgm:prSet presAssocID="{729A718F-00AF-47F8-B257-6B00D04D7326}" presName="txSpace" presStyleCnt="0"/>
      <dgm:spPr/>
    </dgm:pt>
    <dgm:pt modelId="{84F69412-D9DD-41E9-BE74-226D18FE6241}" type="pres">
      <dgm:prSet presAssocID="{729A718F-00AF-47F8-B257-6B00D04D7326}" presName="desTx" presStyleLbl="revTx" presStyleIdx="5" presStyleCnt="6">
        <dgm:presLayoutVars/>
      </dgm:prSet>
      <dgm:spPr/>
    </dgm:pt>
  </dgm:ptLst>
  <dgm:cxnLst>
    <dgm:cxn modelId="{9AF35E09-B826-4B4E-8BBF-FA7651FD772C}" srcId="{2C9C5D18-594B-4587-8B7F-DBB85EE2C444}" destId="{E9E2055A-0379-4AB4-A593-537E35802DDA}" srcOrd="0" destOrd="0" parTransId="{FBA97B5C-EF48-4F56-A1F3-EFC23C24D430}" sibTransId="{C6441FB1-0279-4434-A646-3FF187BC8C27}"/>
    <dgm:cxn modelId="{75D3200A-17A4-447E-9994-19FB757FDF5D}" srcId="{729A718F-00AF-47F8-B257-6B00D04D7326}" destId="{F7F4C8C6-6D82-4E77-B25A-BDB55050F3D7}" srcOrd="0" destOrd="0" parTransId="{3DDD67E1-3F52-44A3-8AE2-47F6EA0C60DD}" sibTransId="{90F01890-059B-4F1D-AB91-D51086BDF538}"/>
    <dgm:cxn modelId="{04DD3318-AB1A-4048-AF87-9307941591F2}" type="presOf" srcId="{08A2B152-1E9B-48DF-B366-09C22DCA18B6}" destId="{F7696670-8BCE-498F-8FAC-101657C419BB}" srcOrd="0" destOrd="0" presId="urn:microsoft.com/office/officeart/2018/2/layout/IconLabelDescriptionList"/>
    <dgm:cxn modelId="{A8841A3D-6432-4326-83A6-83865499E82A}" type="presOf" srcId="{F7F4C8C6-6D82-4E77-B25A-BDB55050F3D7}" destId="{84F69412-D9DD-41E9-BE74-226D18FE6241}" srcOrd="0" destOrd="0" presId="urn:microsoft.com/office/officeart/2018/2/layout/IconLabelDescriptionList"/>
    <dgm:cxn modelId="{F4E15D6B-0D4E-4D3B-89BC-F0A13E9FC3D4}" srcId="{C7E224D6-E98C-41E3-81E2-346D3995FA1B}" destId="{729A718F-00AF-47F8-B257-6B00D04D7326}" srcOrd="2" destOrd="0" parTransId="{4D1189AD-DA34-4E7B-98F3-DCEEEAE1BD41}" sibTransId="{14A037A1-4DF7-4DCD-AF9F-EDB12C1396D5}"/>
    <dgm:cxn modelId="{9E7F7381-82DE-4140-8BDD-504E67595204}" type="presOf" srcId="{E9E2055A-0379-4AB4-A593-537E35802DDA}" destId="{7CE59EBC-62E7-4FF7-98D5-280DFCC1A2A6}" srcOrd="0" destOrd="0" presId="urn:microsoft.com/office/officeart/2018/2/layout/IconLabelDescriptionList"/>
    <dgm:cxn modelId="{1819FC85-3BFF-47D0-90C5-21DC9D0D6B10}" type="presOf" srcId="{729A718F-00AF-47F8-B257-6B00D04D7326}" destId="{9093C643-6303-4B24-9EF7-E898688512EE}" srcOrd="0" destOrd="0" presId="urn:microsoft.com/office/officeart/2018/2/layout/IconLabelDescriptionList"/>
    <dgm:cxn modelId="{A75BB188-EB7A-4EE6-9B9F-910D01A08665}" srcId="{C7E224D6-E98C-41E3-81E2-346D3995FA1B}" destId="{2C9C5D18-594B-4587-8B7F-DBB85EE2C444}" srcOrd="0" destOrd="0" parTransId="{DE7EF4F6-2211-4F8C-A42B-949657380AEC}" sibTransId="{A695C6D2-8816-4CC5-A1F4-AC50CC62B364}"/>
    <dgm:cxn modelId="{556BE28B-76EC-4D6E-9F36-1EA4D6BD0558}" srcId="{77BA860B-4E6E-4804-9F93-31AF4370B386}" destId="{08A2B152-1E9B-48DF-B366-09C22DCA18B6}" srcOrd="0" destOrd="0" parTransId="{284907F5-5E2A-4466-9460-2FFE5AA70156}" sibTransId="{6CA310A8-2A6C-4AF2-A7A7-F79F66C330A1}"/>
    <dgm:cxn modelId="{8B83668C-5E62-43D3-95BE-9BEF226020AD}" type="presOf" srcId="{77BA860B-4E6E-4804-9F93-31AF4370B386}" destId="{998452CB-1C41-4A39-952C-78726A9C20AC}" srcOrd="0" destOrd="0" presId="urn:microsoft.com/office/officeart/2018/2/layout/IconLabelDescriptionList"/>
    <dgm:cxn modelId="{E60777CE-7164-4937-8224-190ABF7B384B}" type="presOf" srcId="{C7E224D6-E98C-41E3-81E2-346D3995FA1B}" destId="{0B04BD89-F60C-4557-A3E4-B0EF5A14425F}" srcOrd="0" destOrd="0" presId="urn:microsoft.com/office/officeart/2018/2/layout/IconLabelDescriptionList"/>
    <dgm:cxn modelId="{76DCAAEA-B0B0-4762-8DF6-EBFA206EE41A}" type="presOf" srcId="{2C9C5D18-594B-4587-8B7F-DBB85EE2C444}" destId="{D6073AF3-B131-4434-B6DA-93F27B5F938B}" srcOrd="0" destOrd="0" presId="urn:microsoft.com/office/officeart/2018/2/layout/IconLabelDescriptionList"/>
    <dgm:cxn modelId="{FBB3A5EB-189D-4BDA-B015-ECD5618B7CA3}" srcId="{C7E224D6-E98C-41E3-81E2-346D3995FA1B}" destId="{77BA860B-4E6E-4804-9F93-31AF4370B386}" srcOrd="1" destOrd="0" parTransId="{B99089DB-207B-4C2C-8AF8-1D8376A1E6B3}" sibTransId="{B54DC816-CAB4-4127-B45E-6762A32DAAD8}"/>
    <dgm:cxn modelId="{BFFDFCE7-DD94-468E-8495-AAA97D577525}" type="presParOf" srcId="{0B04BD89-F60C-4557-A3E4-B0EF5A14425F}" destId="{846EA0D0-B095-4AF5-95A7-A76949667968}" srcOrd="0" destOrd="0" presId="urn:microsoft.com/office/officeart/2018/2/layout/IconLabelDescriptionList"/>
    <dgm:cxn modelId="{6353FFE5-EA83-4D68-A9AC-D72C1204E439}" type="presParOf" srcId="{846EA0D0-B095-4AF5-95A7-A76949667968}" destId="{FC57FE82-AB4C-4CDD-95DC-BAB0F1AA2483}" srcOrd="0" destOrd="0" presId="urn:microsoft.com/office/officeart/2018/2/layout/IconLabelDescriptionList"/>
    <dgm:cxn modelId="{6B8FBB08-43D7-47B1-B7A9-E26DA6C7A07A}" type="presParOf" srcId="{846EA0D0-B095-4AF5-95A7-A76949667968}" destId="{AED69AC8-EB57-4640-9991-257717F0090C}" srcOrd="1" destOrd="0" presId="urn:microsoft.com/office/officeart/2018/2/layout/IconLabelDescriptionList"/>
    <dgm:cxn modelId="{242EE4A5-D5BA-40D1-ACF4-C51FDB20EB0B}" type="presParOf" srcId="{846EA0D0-B095-4AF5-95A7-A76949667968}" destId="{D6073AF3-B131-4434-B6DA-93F27B5F938B}" srcOrd="2" destOrd="0" presId="urn:microsoft.com/office/officeart/2018/2/layout/IconLabelDescriptionList"/>
    <dgm:cxn modelId="{AE0A6954-1414-4091-9375-CFCA77C559E2}" type="presParOf" srcId="{846EA0D0-B095-4AF5-95A7-A76949667968}" destId="{F97E8026-C544-44DB-870E-1F654249BF00}" srcOrd="3" destOrd="0" presId="urn:microsoft.com/office/officeart/2018/2/layout/IconLabelDescriptionList"/>
    <dgm:cxn modelId="{50D41EF8-BBFD-4F28-8292-6B3B4B43F7E4}" type="presParOf" srcId="{846EA0D0-B095-4AF5-95A7-A76949667968}" destId="{7CE59EBC-62E7-4FF7-98D5-280DFCC1A2A6}" srcOrd="4" destOrd="0" presId="urn:microsoft.com/office/officeart/2018/2/layout/IconLabelDescriptionList"/>
    <dgm:cxn modelId="{23C7C6FC-5118-4830-882D-A0ADCADFCDCB}" type="presParOf" srcId="{0B04BD89-F60C-4557-A3E4-B0EF5A14425F}" destId="{2AC130C0-2684-4F5A-A454-57F3E54861DD}" srcOrd="1" destOrd="0" presId="urn:microsoft.com/office/officeart/2018/2/layout/IconLabelDescriptionList"/>
    <dgm:cxn modelId="{E31A1A93-E5B1-4379-B2F6-0A752A0DE997}" type="presParOf" srcId="{0B04BD89-F60C-4557-A3E4-B0EF5A14425F}" destId="{7C7AFC45-5B37-4FD3-BC99-3C56696E8B3F}" srcOrd="2" destOrd="0" presId="urn:microsoft.com/office/officeart/2018/2/layout/IconLabelDescriptionList"/>
    <dgm:cxn modelId="{1CF57C17-BDA5-46AE-B77E-93493EC95181}" type="presParOf" srcId="{7C7AFC45-5B37-4FD3-BC99-3C56696E8B3F}" destId="{7CD63E64-1713-4AE4-90E7-451AA96BBCB5}" srcOrd="0" destOrd="0" presId="urn:microsoft.com/office/officeart/2018/2/layout/IconLabelDescriptionList"/>
    <dgm:cxn modelId="{A73FF704-417C-4F17-B1E6-873AB51C9444}" type="presParOf" srcId="{7C7AFC45-5B37-4FD3-BC99-3C56696E8B3F}" destId="{A617FD7A-0A5D-40EA-8AEF-81EE487B762D}" srcOrd="1" destOrd="0" presId="urn:microsoft.com/office/officeart/2018/2/layout/IconLabelDescriptionList"/>
    <dgm:cxn modelId="{5ADF205E-A6D2-4700-9F29-C1EADC9E7136}" type="presParOf" srcId="{7C7AFC45-5B37-4FD3-BC99-3C56696E8B3F}" destId="{998452CB-1C41-4A39-952C-78726A9C20AC}" srcOrd="2" destOrd="0" presId="urn:microsoft.com/office/officeart/2018/2/layout/IconLabelDescriptionList"/>
    <dgm:cxn modelId="{91685AF6-9285-4823-A14B-18EF1D79AA44}" type="presParOf" srcId="{7C7AFC45-5B37-4FD3-BC99-3C56696E8B3F}" destId="{DC844681-F8CB-4670-873A-D264640A0D47}" srcOrd="3" destOrd="0" presId="urn:microsoft.com/office/officeart/2018/2/layout/IconLabelDescriptionList"/>
    <dgm:cxn modelId="{C9AEE1D0-1501-46E5-9606-12F1F8D06131}" type="presParOf" srcId="{7C7AFC45-5B37-4FD3-BC99-3C56696E8B3F}" destId="{F7696670-8BCE-498F-8FAC-101657C419BB}" srcOrd="4" destOrd="0" presId="urn:microsoft.com/office/officeart/2018/2/layout/IconLabelDescriptionList"/>
    <dgm:cxn modelId="{56C3642D-EF3D-4065-A076-C0A1E8014A26}" type="presParOf" srcId="{0B04BD89-F60C-4557-A3E4-B0EF5A14425F}" destId="{49B58AA0-30CD-4897-9D70-9F7EC13F4F43}" srcOrd="3" destOrd="0" presId="urn:microsoft.com/office/officeart/2018/2/layout/IconLabelDescriptionList"/>
    <dgm:cxn modelId="{4830062B-75F2-4554-A75F-3C7A6441FACF}" type="presParOf" srcId="{0B04BD89-F60C-4557-A3E4-B0EF5A14425F}" destId="{11ED265F-506D-45B8-91AA-DB0F179E10ED}" srcOrd="4" destOrd="0" presId="urn:microsoft.com/office/officeart/2018/2/layout/IconLabelDescriptionList"/>
    <dgm:cxn modelId="{135F4BE2-8018-497F-982E-97AC79BCC168}" type="presParOf" srcId="{11ED265F-506D-45B8-91AA-DB0F179E10ED}" destId="{E7DCF488-79B5-4E47-83AC-E10F9F69AEA0}" srcOrd="0" destOrd="0" presId="urn:microsoft.com/office/officeart/2018/2/layout/IconLabelDescriptionList"/>
    <dgm:cxn modelId="{BA82360D-B6FD-48D0-9805-174155F5AE54}" type="presParOf" srcId="{11ED265F-506D-45B8-91AA-DB0F179E10ED}" destId="{976D5836-52EF-4716-A57E-60643BBF216E}" srcOrd="1" destOrd="0" presId="urn:microsoft.com/office/officeart/2018/2/layout/IconLabelDescriptionList"/>
    <dgm:cxn modelId="{0735812D-62D4-4223-80F0-C6CD64750AF9}" type="presParOf" srcId="{11ED265F-506D-45B8-91AA-DB0F179E10ED}" destId="{9093C643-6303-4B24-9EF7-E898688512EE}" srcOrd="2" destOrd="0" presId="urn:microsoft.com/office/officeart/2018/2/layout/IconLabelDescriptionList"/>
    <dgm:cxn modelId="{8EB18A7A-7C08-4F17-A376-A42A965C89FA}" type="presParOf" srcId="{11ED265F-506D-45B8-91AA-DB0F179E10ED}" destId="{F327E878-54C6-4BB9-8A2D-2854E9057705}" srcOrd="3" destOrd="0" presId="urn:microsoft.com/office/officeart/2018/2/layout/IconLabelDescriptionList"/>
    <dgm:cxn modelId="{6B26C7ED-1417-4726-BB85-683056417F9E}" type="presParOf" srcId="{11ED265F-506D-45B8-91AA-DB0F179E10ED}" destId="{84F69412-D9DD-41E9-BE74-226D18FE6241}"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DF8E66B-D84E-4847-91F0-EBF5A371636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3346D65-CA16-48E4-B49F-640A848FE2E9}">
      <dgm:prSet/>
      <dgm:spPr/>
      <dgm:t>
        <a:bodyPr/>
        <a:lstStyle/>
        <a:p>
          <a:pPr>
            <a:lnSpc>
              <a:spcPct val="100000"/>
            </a:lnSpc>
          </a:pPr>
          <a:r>
            <a:rPr lang="en-US"/>
            <a:t>Unified API Access</a:t>
          </a:r>
        </a:p>
      </dgm:t>
    </dgm:pt>
    <dgm:pt modelId="{FE38F206-B191-4CB3-A3A2-3C4F2EB1E480}" type="parTrans" cxnId="{A8FE0671-365D-4A81-94E6-3DDBAF3339B5}">
      <dgm:prSet/>
      <dgm:spPr/>
      <dgm:t>
        <a:bodyPr/>
        <a:lstStyle/>
        <a:p>
          <a:endParaRPr lang="en-US"/>
        </a:p>
      </dgm:t>
    </dgm:pt>
    <dgm:pt modelId="{21CF7FC2-941E-47EA-A86F-8553C5751E8E}" type="sibTrans" cxnId="{A8FE0671-365D-4A81-94E6-3DDBAF3339B5}">
      <dgm:prSet/>
      <dgm:spPr/>
      <dgm:t>
        <a:bodyPr/>
        <a:lstStyle/>
        <a:p>
          <a:endParaRPr lang="en-US"/>
        </a:p>
      </dgm:t>
    </dgm:pt>
    <dgm:pt modelId="{029B7DA1-5D3D-4BD7-9EF8-518D8C930410}">
      <dgm:prSet/>
      <dgm:spPr/>
      <dgm:t>
        <a:bodyPr/>
        <a:lstStyle/>
        <a:p>
          <a:pPr>
            <a:lnSpc>
              <a:spcPct val="100000"/>
            </a:lnSpc>
          </a:pPr>
          <a:r>
            <a:rPr lang="en-US" baseline="0"/>
            <a:t>Unified APIs simplify device feature access across multiple device platforms.</a:t>
          </a:r>
          <a:endParaRPr lang="en-US"/>
        </a:p>
      </dgm:t>
    </dgm:pt>
    <dgm:pt modelId="{63B2DC7A-AA02-484D-934A-F88C8A85343C}" type="parTrans" cxnId="{EA037467-1A32-42D2-B15D-F856A6601881}">
      <dgm:prSet/>
      <dgm:spPr/>
      <dgm:t>
        <a:bodyPr/>
        <a:lstStyle/>
        <a:p>
          <a:endParaRPr lang="en-US"/>
        </a:p>
      </dgm:t>
    </dgm:pt>
    <dgm:pt modelId="{78A22931-BBB2-4DDE-A4EB-CD58F0DFCC7B}" type="sibTrans" cxnId="{EA037467-1A32-42D2-B15D-F856A6601881}">
      <dgm:prSet/>
      <dgm:spPr/>
      <dgm:t>
        <a:bodyPr/>
        <a:lstStyle/>
        <a:p>
          <a:endParaRPr lang="en-US"/>
        </a:p>
      </dgm:t>
    </dgm:pt>
    <dgm:pt modelId="{32243C32-70D8-4594-819F-0E0CFB349686}">
      <dgm:prSet/>
      <dgm:spPr/>
      <dgm:t>
        <a:bodyPr/>
        <a:lstStyle/>
        <a:p>
          <a:pPr>
            <a:lnSpc>
              <a:spcPct val="100000"/>
            </a:lnSpc>
          </a:pPr>
          <a:r>
            <a:rPr lang="en-US"/>
            <a:t>Sensors Integration</a:t>
          </a:r>
        </a:p>
      </dgm:t>
    </dgm:pt>
    <dgm:pt modelId="{6A3F32EC-09CC-4E91-8A3B-B23579B86DF0}" type="parTrans" cxnId="{FA97C3CC-0EB6-4787-812E-1116D00D6826}">
      <dgm:prSet/>
      <dgm:spPr/>
      <dgm:t>
        <a:bodyPr/>
        <a:lstStyle/>
        <a:p>
          <a:endParaRPr lang="en-US"/>
        </a:p>
      </dgm:t>
    </dgm:pt>
    <dgm:pt modelId="{1C79A363-D198-4D3C-893F-F995B7A55504}" type="sibTrans" cxnId="{FA97C3CC-0EB6-4787-812E-1116D00D6826}">
      <dgm:prSet/>
      <dgm:spPr/>
      <dgm:t>
        <a:bodyPr/>
        <a:lstStyle/>
        <a:p>
          <a:endParaRPr lang="en-US"/>
        </a:p>
      </dgm:t>
    </dgm:pt>
    <dgm:pt modelId="{CCA825FB-FAC9-4CE2-A24E-52A0219BBC44}">
      <dgm:prSet/>
      <dgm:spPr/>
      <dgm:t>
        <a:bodyPr/>
        <a:lstStyle/>
        <a:p>
          <a:pPr>
            <a:lnSpc>
              <a:spcPct val="100000"/>
            </a:lnSpc>
          </a:pPr>
          <a:r>
            <a:rPr lang="en-US" baseline="0"/>
            <a:t>APIs enable consistent access to device sensors like accelerometers &amp; gyroscopes.</a:t>
          </a:r>
          <a:endParaRPr lang="en-US"/>
        </a:p>
      </dgm:t>
    </dgm:pt>
    <dgm:pt modelId="{8BC6161E-58F9-449A-8AFE-579BF8ECD7F4}" type="parTrans" cxnId="{8D5084B9-6F7A-44B5-A576-6832063FF475}">
      <dgm:prSet/>
      <dgm:spPr/>
      <dgm:t>
        <a:bodyPr/>
        <a:lstStyle/>
        <a:p>
          <a:endParaRPr lang="en-US"/>
        </a:p>
      </dgm:t>
    </dgm:pt>
    <dgm:pt modelId="{9C1F51E7-10D1-4F7D-8E27-DB26B8AD7060}" type="sibTrans" cxnId="{8D5084B9-6F7A-44B5-A576-6832063FF475}">
      <dgm:prSet/>
      <dgm:spPr/>
      <dgm:t>
        <a:bodyPr/>
        <a:lstStyle/>
        <a:p>
          <a:endParaRPr lang="en-US"/>
        </a:p>
      </dgm:t>
    </dgm:pt>
    <dgm:pt modelId="{26258F4B-058F-4975-97EA-11E5809B008D}">
      <dgm:prSet/>
      <dgm:spPr/>
      <dgm:t>
        <a:bodyPr/>
        <a:lstStyle/>
        <a:p>
          <a:pPr>
            <a:lnSpc>
              <a:spcPct val="100000"/>
            </a:lnSpc>
          </a:pPr>
          <a:r>
            <a:rPr lang="en-US"/>
            <a:t>Camera and Storage</a:t>
          </a:r>
        </a:p>
      </dgm:t>
    </dgm:pt>
    <dgm:pt modelId="{32F82C14-679E-4BAA-904A-721794615784}" type="parTrans" cxnId="{3103B1C7-2341-439C-9029-A3686129290D}">
      <dgm:prSet/>
      <dgm:spPr/>
      <dgm:t>
        <a:bodyPr/>
        <a:lstStyle/>
        <a:p>
          <a:endParaRPr lang="en-US"/>
        </a:p>
      </dgm:t>
    </dgm:pt>
    <dgm:pt modelId="{432901C9-AC6F-4AB0-94ED-5F862BBE0F6D}" type="sibTrans" cxnId="{3103B1C7-2341-439C-9029-A3686129290D}">
      <dgm:prSet/>
      <dgm:spPr/>
      <dgm:t>
        <a:bodyPr/>
        <a:lstStyle/>
        <a:p>
          <a:endParaRPr lang="en-US"/>
        </a:p>
      </dgm:t>
    </dgm:pt>
    <dgm:pt modelId="{0BFF355F-619B-4F07-8180-5C5C85CC37FF}">
      <dgm:prSet/>
      <dgm:spPr/>
      <dgm:t>
        <a:bodyPr/>
        <a:lstStyle/>
        <a:p>
          <a:pPr>
            <a:lnSpc>
              <a:spcPct val="100000"/>
            </a:lnSpc>
          </a:pPr>
          <a:r>
            <a:rPr lang="en-US" baseline="0"/>
            <a:t>Support for camera use &amp; file management is streamlined via unified APIs.</a:t>
          </a:r>
          <a:endParaRPr lang="en-US"/>
        </a:p>
      </dgm:t>
    </dgm:pt>
    <dgm:pt modelId="{5E3E0130-A234-4C9D-91AD-D54209BC47DC}" type="parTrans" cxnId="{D1ECFF6F-8E91-4136-A061-E17445E9EC02}">
      <dgm:prSet/>
      <dgm:spPr/>
      <dgm:t>
        <a:bodyPr/>
        <a:lstStyle/>
        <a:p>
          <a:endParaRPr lang="en-US"/>
        </a:p>
      </dgm:t>
    </dgm:pt>
    <dgm:pt modelId="{C73B1C37-4F92-4DF9-815E-B6EFD670FDC4}" type="sibTrans" cxnId="{D1ECFF6F-8E91-4136-A061-E17445E9EC02}">
      <dgm:prSet/>
      <dgm:spPr/>
      <dgm:t>
        <a:bodyPr/>
        <a:lstStyle/>
        <a:p>
          <a:endParaRPr lang="en-US"/>
        </a:p>
      </dgm:t>
    </dgm:pt>
    <dgm:pt modelId="{57C59967-E05B-4B54-AE80-99731C55BEA1}">
      <dgm:prSet/>
      <dgm:spPr/>
      <dgm:t>
        <a:bodyPr/>
        <a:lstStyle/>
        <a:p>
          <a:pPr>
            <a:lnSpc>
              <a:spcPct val="100000"/>
            </a:lnSpc>
          </a:pPr>
          <a:r>
            <a:rPr lang="en-US"/>
            <a:t>Demo – View the Device Platform docs</a:t>
          </a:r>
        </a:p>
      </dgm:t>
    </dgm:pt>
    <dgm:pt modelId="{24594D8A-8329-4C9C-AD0A-457D0A804D9D}" type="parTrans" cxnId="{2957731B-6113-4A28-BA0E-4FC3165974DC}">
      <dgm:prSet/>
      <dgm:spPr/>
      <dgm:t>
        <a:bodyPr/>
        <a:lstStyle/>
        <a:p>
          <a:endParaRPr lang="en-US"/>
        </a:p>
      </dgm:t>
    </dgm:pt>
    <dgm:pt modelId="{44F1F3A6-6702-4B6E-B388-C1BD525585CC}" type="sibTrans" cxnId="{2957731B-6113-4A28-BA0E-4FC3165974DC}">
      <dgm:prSet/>
      <dgm:spPr/>
      <dgm:t>
        <a:bodyPr/>
        <a:lstStyle/>
        <a:p>
          <a:endParaRPr lang="en-US"/>
        </a:p>
      </dgm:t>
    </dgm:pt>
    <dgm:pt modelId="{DCBC9122-629A-462C-8F4D-2C15AA28CD52}" type="pres">
      <dgm:prSet presAssocID="{BDF8E66B-D84E-4847-91F0-EBF5A371636B}" presName="root" presStyleCnt="0">
        <dgm:presLayoutVars>
          <dgm:dir/>
          <dgm:resizeHandles val="exact"/>
        </dgm:presLayoutVars>
      </dgm:prSet>
      <dgm:spPr/>
    </dgm:pt>
    <dgm:pt modelId="{2DAF148E-6DB0-4A27-BF60-129C5F2C56B4}" type="pres">
      <dgm:prSet presAssocID="{A3346D65-CA16-48E4-B49F-640A848FE2E9}" presName="compNode" presStyleCnt="0"/>
      <dgm:spPr/>
    </dgm:pt>
    <dgm:pt modelId="{F399BB9E-55F3-47E7-ADC1-377745AB12C8}" type="pres">
      <dgm:prSet presAssocID="{A3346D65-CA16-48E4-B49F-640A848FE2E9}" presName="bgRect" presStyleLbl="bgShp" presStyleIdx="0" presStyleCnt="4"/>
      <dgm:spPr/>
    </dgm:pt>
    <dgm:pt modelId="{AA18D85D-2029-47A6-B93D-83F13C201C8F}" type="pres">
      <dgm:prSet presAssocID="{A3346D65-CA16-48E4-B49F-640A848FE2E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art Phone"/>
        </a:ext>
      </dgm:extLst>
    </dgm:pt>
    <dgm:pt modelId="{C26C78D2-A1ED-440A-A8B2-DE37E423E1D6}" type="pres">
      <dgm:prSet presAssocID="{A3346D65-CA16-48E4-B49F-640A848FE2E9}" presName="spaceRect" presStyleCnt="0"/>
      <dgm:spPr/>
    </dgm:pt>
    <dgm:pt modelId="{E643677A-524E-4D33-901F-71E5000CD7EB}" type="pres">
      <dgm:prSet presAssocID="{A3346D65-CA16-48E4-B49F-640A848FE2E9}" presName="parTx" presStyleLbl="revTx" presStyleIdx="0" presStyleCnt="7">
        <dgm:presLayoutVars>
          <dgm:chMax val="0"/>
          <dgm:chPref val="0"/>
        </dgm:presLayoutVars>
      </dgm:prSet>
      <dgm:spPr/>
    </dgm:pt>
    <dgm:pt modelId="{4C24321A-53AD-442F-BCE0-ADB65DACF6FB}" type="pres">
      <dgm:prSet presAssocID="{A3346D65-CA16-48E4-B49F-640A848FE2E9}" presName="desTx" presStyleLbl="revTx" presStyleIdx="1" presStyleCnt="7">
        <dgm:presLayoutVars/>
      </dgm:prSet>
      <dgm:spPr/>
    </dgm:pt>
    <dgm:pt modelId="{CABE2BFB-1901-40AD-8947-51E3B1E3AD40}" type="pres">
      <dgm:prSet presAssocID="{21CF7FC2-941E-47EA-A86F-8553C5751E8E}" presName="sibTrans" presStyleCnt="0"/>
      <dgm:spPr/>
    </dgm:pt>
    <dgm:pt modelId="{CDE1BBDD-7393-4B19-B007-EC2F216530F5}" type="pres">
      <dgm:prSet presAssocID="{32243C32-70D8-4594-819F-0E0CFB349686}" presName="compNode" presStyleCnt="0"/>
      <dgm:spPr/>
    </dgm:pt>
    <dgm:pt modelId="{8260EC85-AC1C-4E86-81DE-3AB0A812A879}" type="pres">
      <dgm:prSet presAssocID="{32243C32-70D8-4594-819F-0E0CFB349686}" presName="bgRect" presStyleLbl="bgShp" presStyleIdx="1" presStyleCnt="4"/>
      <dgm:spPr/>
    </dgm:pt>
    <dgm:pt modelId="{D46C6CA0-6CAC-4A8D-BC8D-B380ABBA06B0}" type="pres">
      <dgm:prSet presAssocID="{32243C32-70D8-4594-819F-0E0CFB34968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ain"/>
        </a:ext>
      </dgm:extLst>
    </dgm:pt>
    <dgm:pt modelId="{2C2CAF58-4B98-4AF7-B6C9-8FD58255F7B7}" type="pres">
      <dgm:prSet presAssocID="{32243C32-70D8-4594-819F-0E0CFB349686}" presName="spaceRect" presStyleCnt="0"/>
      <dgm:spPr/>
    </dgm:pt>
    <dgm:pt modelId="{E00D6017-1D51-4099-82EC-C7CF1ABB3E6A}" type="pres">
      <dgm:prSet presAssocID="{32243C32-70D8-4594-819F-0E0CFB349686}" presName="parTx" presStyleLbl="revTx" presStyleIdx="2" presStyleCnt="7">
        <dgm:presLayoutVars>
          <dgm:chMax val="0"/>
          <dgm:chPref val="0"/>
        </dgm:presLayoutVars>
      </dgm:prSet>
      <dgm:spPr/>
    </dgm:pt>
    <dgm:pt modelId="{2587E735-A66E-449C-ADDD-955A33C7D2BE}" type="pres">
      <dgm:prSet presAssocID="{32243C32-70D8-4594-819F-0E0CFB349686}" presName="desTx" presStyleLbl="revTx" presStyleIdx="3" presStyleCnt="7">
        <dgm:presLayoutVars/>
      </dgm:prSet>
      <dgm:spPr/>
    </dgm:pt>
    <dgm:pt modelId="{928ED436-2D02-4ED4-B96E-1E6B8C34D70D}" type="pres">
      <dgm:prSet presAssocID="{1C79A363-D198-4D3C-893F-F995B7A55504}" presName="sibTrans" presStyleCnt="0"/>
      <dgm:spPr/>
    </dgm:pt>
    <dgm:pt modelId="{76B1EFE4-604E-41DB-AFD9-8C5198D742F3}" type="pres">
      <dgm:prSet presAssocID="{26258F4B-058F-4975-97EA-11E5809B008D}" presName="compNode" presStyleCnt="0"/>
      <dgm:spPr/>
    </dgm:pt>
    <dgm:pt modelId="{8698D601-99CD-4348-BC4B-10D3780DDE3C}" type="pres">
      <dgm:prSet presAssocID="{26258F4B-058F-4975-97EA-11E5809B008D}" presName="bgRect" presStyleLbl="bgShp" presStyleIdx="2" presStyleCnt="4"/>
      <dgm:spPr/>
    </dgm:pt>
    <dgm:pt modelId="{9803536D-D498-4575-A16B-CCB757234E24}" type="pres">
      <dgm:prSet presAssocID="{26258F4B-058F-4975-97EA-11E5809B008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eb cam"/>
        </a:ext>
      </dgm:extLst>
    </dgm:pt>
    <dgm:pt modelId="{38A6EEF9-AD13-442D-B599-8D6531057187}" type="pres">
      <dgm:prSet presAssocID="{26258F4B-058F-4975-97EA-11E5809B008D}" presName="spaceRect" presStyleCnt="0"/>
      <dgm:spPr/>
    </dgm:pt>
    <dgm:pt modelId="{4AF06563-29AE-4308-89C2-3AF4A8459932}" type="pres">
      <dgm:prSet presAssocID="{26258F4B-058F-4975-97EA-11E5809B008D}" presName="parTx" presStyleLbl="revTx" presStyleIdx="4" presStyleCnt="7">
        <dgm:presLayoutVars>
          <dgm:chMax val="0"/>
          <dgm:chPref val="0"/>
        </dgm:presLayoutVars>
      </dgm:prSet>
      <dgm:spPr/>
    </dgm:pt>
    <dgm:pt modelId="{2E31FEB5-B2BA-4105-A83D-3CE298A34B85}" type="pres">
      <dgm:prSet presAssocID="{26258F4B-058F-4975-97EA-11E5809B008D}" presName="desTx" presStyleLbl="revTx" presStyleIdx="5" presStyleCnt="7">
        <dgm:presLayoutVars/>
      </dgm:prSet>
      <dgm:spPr/>
    </dgm:pt>
    <dgm:pt modelId="{4E0ED34D-6E0A-4B96-83EF-0F8AD686047F}" type="pres">
      <dgm:prSet presAssocID="{432901C9-AC6F-4AB0-94ED-5F862BBE0F6D}" presName="sibTrans" presStyleCnt="0"/>
      <dgm:spPr/>
    </dgm:pt>
    <dgm:pt modelId="{611F7921-5FED-4030-A3D5-C7C18D59383A}" type="pres">
      <dgm:prSet presAssocID="{57C59967-E05B-4B54-AE80-99731C55BEA1}" presName="compNode" presStyleCnt="0"/>
      <dgm:spPr/>
    </dgm:pt>
    <dgm:pt modelId="{3FA6EC3A-E631-4EFA-80CB-868CF8929549}" type="pres">
      <dgm:prSet presAssocID="{57C59967-E05B-4B54-AE80-99731C55BEA1}" presName="bgRect" presStyleLbl="bgShp" presStyleIdx="3" presStyleCnt="4"/>
      <dgm:spPr/>
    </dgm:pt>
    <dgm:pt modelId="{3A05DF32-BB57-4B5B-84B4-1ABD15F412AA}" type="pres">
      <dgm:prSet presAssocID="{57C59967-E05B-4B54-AE80-99731C55BEA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pen Folder"/>
        </a:ext>
      </dgm:extLst>
    </dgm:pt>
    <dgm:pt modelId="{3691169A-C2A0-4733-A9B4-04FAD8760EA8}" type="pres">
      <dgm:prSet presAssocID="{57C59967-E05B-4B54-AE80-99731C55BEA1}" presName="spaceRect" presStyleCnt="0"/>
      <dgm:spPr/>
    </dgm:pt>
    <dgm:pt modelId="{CF93FC02-4309-4009-9225-A7103AAC525F}" type="pres">
      <dgm:prSet presAssocID="{57C59967-E05B-4B54-AE80-99731C55BEA1}" presName="parTx" presStyleLbl="revTx" presStyleIdx="6" presStyleCnt="7">
        <dgm:presLayoutVars>
          <dgm:chMax val="0"/>
          <dgm:chPref val="0"/>
        </dgm:presLayoutVars>
      </dgm:prSet>
      <dgm:spPr/>
    </dgm:pt>
  </dgm:ptLst>
  <dgm:cxnLst>
    <dgm:cxn modelId="{2EBB4505-9DEF-4233-A6A8-2D45FE84229E}" type="presOf" srcId="{A3346D65-CA16-48E4-B49F-640A848FE2E9}" destId="{E643677A-524E-4D33-901F-71E5000CD7EB}" srcOrd="0" destOrd="0" presId="urn:microsoft.com/office/officeart/2018/2/layout/IconVerticalSolidList"/>
    <dgm:cxn modelId="{2957731B-6113-4A28-BA0E-4FC3165974DC}" srcId="{BDF8E66B-D84E-4847-91F0-EBF5A371636B}" destId="{57C59967-E05B-4B54-AE80-99731C55BEA1}" srcOrd="3" destOrd="0" parTransId="{24594D8A-8329-4C9C-AD0A-457D0A804D9D}" sibTransId="{44F1F3A6-6702-4B6E-B388-C1BD525585CC}"/>
    <dgm:cxn modelId="{514D4524-BCAD-4925-80C9-2A61F5698CD8}" type="presOf" srcId="{57C59967-E05B-4B54-AE80-99731C55BEA1}" destId="{CF93FC02-4309-4009-9225-A7103AAC525F}" srcOrd="0" destOrd="0" presId="urn:microsoft.com/office/officeart/2018/2/layout/IconVerticalSolidList"/>
    <dgm:cxn modelId="{6D857139-9959-476E-B8D2-723C1A09924E}" type="presOf" srcId="{32243C32-70D8-4594-819F-0E0CFB349686}" destId="{E00D6017-1D51-4099-82EC-C7CF1ABB3E6A}" srcOrd="0" destOrd="0" presId="urn:microsoft.com/office/officeart/2018/2/layout/IconVerticalSolidList"/>
    <dgm:cxn modelId="{EA037467-1A32-42D2-B15D-F856A6601881}" srcId="{A3346D65-CA16-48E4-B49F-640A848FE2E9}" destId="{029B7DA1-5D3D-4BD7-9EF8-518D8C930410}" srcOrd="0" destOrd="0" parTransId="{63B2DC7A-AA02-484D-934A-F88C8A85343C}" sibTransId="{78A22931-BBB2-4DDE-A4EB-CD58F0DFCC7B}"/>
    <dgm:cxn modelId="{D1ECFF6F-8E91-4136-A061-E17445E9EC02}" srcId="{26258F4B-058F-4975-97EA-11E5809B008D}" destId="{0BFF355F-619B-4F07-8180-5C5C85CC37FF}" srcOrd="0" destOrd="0" parTransId="{5E3E0130-A234-4C9D-91AD-D54209BC47DC}" sibTransId="{C73B1C37-4F92-4DF9-815E-B6EFD670FDC4}"/>
    <dgm:cxn modelId="{A8FE0671-365D-4A81-94E6-3DDBAF3339B5}" srcId="{BDF8E66B-D84E-4847-91F0-EBF5A371636B}" destId="{A3346D65-CA16-48E4-B49F-640A848FE2E9}" srcOrd="0" destOrd="0" parTransId="{FE38F206-B191-4CB3-A3A2-3C4F2EB1E480}" sibTransId="{21CF7FC2-941E-47EA-A86F-8553C5751E8E}"/>
    <dgm:cxn modelId="{7FB2909C-4230-4E99-A7A7-E1184F31FA46}" type="presOf" srcId="{0BFF355F-619B-4F07-8180-5C5C85CC37FF}" destId="{2E31FEB5-B2BA-4105-A83D-3CE298A34B85}" srcOrd="0" destOrd="0" presId="urn:microsoft.com/office/officeart/2018/2/layout/IconVerticalSolidList"/>
    <dgm:cxn modelId="{8D5084B9-6F7A-44B5-A576-6832063FF475}" srcId="{32243C32-70D8-4594-819F-0E0CFB349686}" destId="{CCA825FB-FAC9-4CE2-A24E-52A0219BBC44}" srcOrd="0" destOrd="0" parTransId="{8BC6161E-58F9-449A-8AFE-579BF8ECD7F4}" sibTransId="{9C1F51E7-10D1-4F7D-8E27-DB26B8AD7060}"/>
    <dgm:cxn modelId="{2DB445BC-5F7F-4E25-801E-001ADB1575F2}" type="presOf" srcId="{BDF8E66B-D84E-4847-91F0-EBF5A371636B}" destId="{DCBC9122-629A-462C-8F4D-2C15AA28CD52}" srcOrd="0" destOrd="0" presId="urn:microsoft.com/office/officeart/2018/2/layout/IconVerticalSolidList"/>
    <dgm:cxn modelId="{3103B1C7-2341-439C-9029-A3686129290D}" srcId="{BDF8E66B-D84E-4847-91F0-EBF5A371636B}" destId="{26258F4B-058F-4975-97EA-11E5809B008D}" srcOrd="2" destOrd="0" parTransId="{32F82C14-679E-4BAA-904A-721794615784}" sibTransId="{432901C9-AC6F-4AB0-94ED-5F862BBE0F6D}"/>
    <dgm:cxn modelId="{FA97C3CC-0EB6-4787-812E-1116D00D6826}" srcId="{BDF8E66B-D84E-4847-91F0-EBF5A371636B}" destId="{32243C32-70D8-4594-819F-0E0CFB349686}" srcOrd="1" destOrd="0" parTransId="{6A3F32EC-09CC-4E91-8A3B-B23579B86DF0}" sibTransId="{1C79A363-D198-4D3C-893F-F995B7A55504}"/>
    <dgm:cxn modelId="{352BB0E7-C487-48C8-8030-1CB5F030EA8F}" type="presOf" srcId="{029B7DA1-5D3D-4BD7-9EF8-518D8C930410}" destId="{4C24321A-53AD-442F-BCE0-ADB65DACF6FB}" srcOrd="0" destOrd="0" presId="urn:microsoft.com/office/officeart/2018/2/layout/IconVerticalSolidList"/>
    <dgm:cxn modelId="{6C786AF2-0E6E-42F7-BFE0-0CCA5200C728}" type="presOf" srcId="{CCA825FB-FAC9-4CE2-A24E-52A0219BBC44}" destId="{2587E735-A66E-449C-ADDD-955A33C7D2BE}" srcOrd="0" destOrd="0" presId="urn:microsoft.com/office/officeart/2018/2/layout/IconVerticalSolidList"/>
    <dgm:cxn modelId="{1246ABFC-8C61-4FA7-835A-096B4A269FEB}" type="presOf" srcId="{26258F4B-058F-4975-97EA-11E5809B008D}" destId="{4AF06563-29AE-4308-89C2-3AF4A8459932}" srcOrd="0" destOrd="0" presId="urn:microsoft.com/office/officeart/2018/2/layout/IconVerticalSolidList"/>
    <dgm:cxn modelId="{82A4B518-13E1-410D-B65D-119EC9D173D7}" type="presParOf" srcId="{DCBC9122-629A-462C-8F4D-2C15AA28CD52}" destId="{2DAF148E-6DB0-4A27-BF60-129C5F2C56B4}" srcOrd="0" destOrd="0" presId="urn:microsoft.com/office/officeart/2018/2/layout/IconVerticalSolidList"/>
    <dgm:cxn modelId="{56541496-A658-480B-96E3-6DBBB1EDB6A9}" type="presParOf" srcId="{2DAF148E-6DB0-4A27-BF60-129C5F2C56B4}" destId="{F399BB9E-55F3-47E7-ADC1-377745AB12C8}" srcOrd="0" destOrd="0" presId="urn:microsoft.com/office/officeart/2018/2/layout/IconVerticalSolidList"/>
    <dgm:cxn modelId="{2892631D-11FD-455E-B086-76348EB907B9}" type="presParOf" srcId="{2DAF148E-6DB0-4A27-BF60-129C5F2C56B4}" destId="{AA18D85D-2029-47A6-B93D-83F13C201C8F}" srcOrd="1" destOrd="0" presId="urn:microsoft.com/office/officeart/2018/2/layout/IconVerticalSolidList"/>
    <dgm:cxn modelId="{2BD483B0-0986-4AAB-A96A-02728B88A506}" type="presParOf" srcId="{2DAF148E-6DB0-4A27-BF60-129C5F2C56B4}" destId="{C26C78D2-A1ED-440A-A8B2-DE37E423E1D6}" srcOrd="2" destOrd="0" presId="urn:microsoft.com/office/officeart/2018/2/layout/IconVerticalSolidList"/>
    <dgm:cxn modelId="{70CCA810-1B2C-44C2-A868-D70509E4F02F}" type="presParOf" srcId="{2DAF148E-6DB0-4A27-BF60-129C5F2C56B4}" destId="{E643677A-524E-4D33-901F-71E5000CD7EB}" srcOrd="3" destOrd="0" presId="urn:microsoft.com/office/officeart/2018/2/layout/IconVerticalSolidList"/>
    <dgm:cxn modelId="{228EDE4C-120A-4148-8C6D-A1433C494FB7}" type="presParOf" srcId="{2DAF148E-6DB0-4A27-BF60-129C5F2C56B4}" destId="{4C24321A-53AD-442F-BCE0-ADB65DACF6FB}" srcOrd="4" destOrd="0" presId="urn:microsoft.com/office/officeart/2018/2/layout/IconVerticalSolidList"/>
    <dgm:cxn modelId="{9AA8E6ED-5385-475D-B322-925302FE421D}" type="presParOf" srcId="{DCBC9122-629A-462C-8F4D-2C15AA28CD52}" destId="{CABE2BFB-1901-40AD-8947-51E3B1E3AD40}" srcOrd="1" destOrd="0" presId="urn:microsoft.com/office/officeart/2018/2/layout/IconVerticalSolidList"/>
    <dgm:cxn modelId="{F7FDE1C8-2FA9-4082-A3EC-81200CB71791}" type="presParOf" srcId="{DCBC9122-629A-462C-8F4D-2C15AA28CD52}" destId="{CDE1BBDD-7393-4B19-B007-EC2F216530F5}" srcOrd="2" destOrd="0" presId="urn:microsoft.com/office/officeart/2018/2/layout/IconVerticalSolidList"/>
    <dgm:cxn modelId="{8D738B46-2263-4C75-BE8D-6CDDA5D3E424}" type="presParOf" srcId="{CDE1BBDD-7393-4B19-B007-EC2F216530F5}" destId="{8260EC85-AC1C-4E86-81DE-3AB0A812A879}" srcOrd="0" destOrd="0" presId="urn:microsoft.com/office/officeart/2018/2/layout/IconVerticalSolidList"/>
    <dgm:cxn modelId="{4464EFA6-B1B9-4C5A-8BD8-90059834DA4B}" type="presParOf" srcId="{CDE1BBDD-7393-4B19-B007-EC2F216530F5}" destId="{D46C6CA0-6CAC-4A8D-BC8D-B380ABBA06B0}" srcOrd="1" destOrd="0" presId="urn:microsoft.com/office/officeart/2018/2/layout/IconVerticalSolidList"/>
    <dgm:cxn modelId="{712C9C91-86A5-4DF9-8006-84740653D09D}" type="presParOf" srcId="{CDE1BBDD-7393-4B19-B007-EC2F216530F5}" destId="{2C2CAF58-4B98-4AF7-B6C9-8FD58255F7B7}" srcOrd="2" destOrd="0" presId="urn:microsoft.com/office/officeart/2018/2/layout/IconVerticalSolidList"/>
    <dgm:cxn modelId="{5A1D95C2-E7A1-4D69-A6F7-340E94259806}" type="presParOf" srcId="{CDE1BBDD-7393-4B19-B007-EC2F216530F5}" destId="{E00D6017-1D51-4099-82EC-C7CF1ABB3E6A}" srcOrd="3" destOrd="0" presId="urn:microsoft.com/office/officeart/2018/2/layout/IconVerticalSolidList"/>
    <dgm:cxn modelId="{71C6AD3A-F861-4176-9784-2BA88A41F2C2}" type="presParOf" srcId="{CDE1BBDD-7393-4B19-B007-EC2F216530F5}" destId="{2587E735-A66E-449C-ADDD-955A33C7D2BE}" srcOrd="4" destOrd="0" presId="urn:microsoft.com/office/officeart/2018/2/layout/IconVerticalSolidList"/>
    <dgm:cxn modelId="{8D6F88BC-8BE6-492B-894D-25756E082E0A}" type="presParOf" srcId="{DCBC9122-629A-462C-8F4D-2C15AA28CD52}" destId="{928ED436-2D02-4ED4-B96E-1E6B8C34D70D}" srcOrd="3" destOrd="0" presId="urn:microsoft.com/office/officeart/2018/2/layout/IconVerticalSolidList"/>
    <dgm:cxn modelId="{AE1F1A02-CAC5-4B8D-B340-9D43BE8110B8}" type="presParOf" srcId="{DCBC9122-629A-462C-8F4D-2C15AA28CD52}" destId="{76B1EFE4-604E-41DB-AFD9-8C5198D742F3}" srcOrd="4" destOrd="0" presId="urn:microsoft.com/office/officeart/2018/2/layout/IconVerticalSolidList"/>
    <dgm:cxn modelId="{458E7851-E296-4F85-A2AE-649D8CA4ACB3}" type="presParOf" srcId="{76B1EFE4-604E-41DB-AFD9-8C5198D742F3}" destId="{8698D601-99CD-4348-BC4B-10D3780DDE3C}" srcOrd="0" destOrd="0" presId="urn:microsoft.com/office/officeart/2018/2/layout/IconVerticalSolidList"/>
    <dgm:cxn modelId="{98BEE2E1-7FFB-46C9-81EA-B5DAB07665DF}" type="presParOf" srcId="{76B1EFE4-604E-41DB-AFD9-8C5198D742F3}" destId="{9803536D-D498-4575-A16B-CCB757234E24}" srcOrd="1" destOrd="0" presId="urn:microsoft.com/office/officeart/2018/2/layout/IconVerticalSolidList"/>
    <dgm:cxn modelId="{48737855-8EED-4993-9843-82CE86745D94}" type="presParOf" srcId="{76B1EFE4-604E-41DB-AFD9-8C5198D742F3}" destId="{38A6EEF9-AD13-442D-B599-8D6531057187}" srcOrd="2" destOrd="0" presId="urn:microsoft.com/office/officeart/2018/2/layout/IconVerticalSolidList"/>
    <dgm:cxn modelId="{23C7ABE3-BE84-4372-976F-688E94379298}" type="presParOf" srcId="{76B1EFE4-604E-41DB-AFD9-8C5198D742F3}" destId="{4AF06563-29AE-4308-89C2-3AF4A8459932}" srcOrd="3" destOrd="0" presId="urn:microsoft.com/office/officeart/2018/2/layout/IconVerticalSolidList"/>
    <dgm:cxn modelId="{5FBD9097-0ED8-42C4-9F36-D57D77124140}" type="presParOf" srcId="{76B1EFE4-604E-41DB-AFD9-8C5198D742F3}" destId="{2E31FEB5-B2BA-4105-A83D-3CE298A34B85}" srcOrd="4" destOrd="0" presId="urn:microsoft.com/office/officeart/2018/2/layout/IconVerticalSolidList"/>
    <dgm:cxn modelId="{6090D70C-9F9D-45F0-990C-1799635B49F5}" type="presParOf" srcId="{DCBC9122-629A-462C-8F4D-2C15AA28CD52}" destId="{4E0ED34D-6E0A-4B96-83EF-0F8AD686047F}" srcOrd="5" destOrd="0" presId="urn:microsoft.com/office/officeart/2018/2/layout/IconVerticalSolidList"/>
    <dgm:cxn modelId="{AC5691EE-845A-48A4-BC5C-50E21234DC14}" type="presParOf" srcId="{DCBC9122-629A-462C-8F4D-2C15AA28CD52}" destId="{611F7921-5FED-4030-A3D5-C7C18D59383A}" srcOrd="6" destOrd="0" presId="urn:microsoft.com/office/officeart/2018/2/layout/IconVerticalSolidList"/>
    <dgm:cxn modelId="{A1D38534-7DAC-4602-B22B-4938B220A056}" type="presParOf" srcId="{611F7921-5FED-4030-A3D5-C7C18D59383A}" destId="{3FA6EC3A-E631-4EFA-80CB-868CF8929549}" srcOrd="0" destOrd="0" presId="urn:microsoft.com/office/officeart/2018/2/layout/IconVerticalSolidList"/>
    <dgm:cxn modelId="{1E8B3FD1-29A4-4014-80BD-3D0021D35DF5}" type="presParOf" srcId="{611F7921-5FED-4030-A3D5-C7C18D59383A}" destId="{3A05DF32-BB57-4B5B-84B4-1ABD15F412AA}" srcOrd="1" destOrd="0" presId="urn:microsoft.com/office/officeart/2018/2/layout/IconVerticalSolidList"/>
    <dgm:cxn modelId="{26A2AB12-066A-4554-9877-AD0B38704671}" type="presParOf" srcId="{611F7921-5FED-4030-A3D5-C7C18D59383A}" destId="{3691169A-C2A0-4733-A9B4-04FAD8760EA8}" srcOrd="2" destOrd="0" presId="urn:microsoft.com/office/officeart/2018/2/layout/IconVerticalSolidList"/>
    <dgm:cxn modelId="{F351CDE9-F22C-4CCA-8EB9-C2237D9EC684}" type="presParOf" srcId="{611F7921-5FED-4030-A3D5-C7C18D59383A}" destId="{CF93FC02-4309-4009-9225-A7103AAC525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592EDE-0473-4DEF-A612-D31396FC64D6}">
      <dsp:nvSpPr>
        <dsp:cNvPr id="0" name=""/>
        <dsp:cNvSpPr/>
      </dsp:nvSpPr>
      <dsp:spPr>
        <a:xfrm>
          <a:off x="523116" y="180806"/>
          <a:ext cx="556120" cy="5561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C9E83A-86E6-4EAF-966A-C17701C6FBFA}">
      <dsp:nvSpPr>
        <dsp:cNvPr id="0" name=""/>
        <dsp:cNvSpPr/>
      </dsp:nvSpPr>
      <dsp:spPr>
        <a:xfrm>
          <a:off x="6719" y="841452"/>
          <a:ext cx="1588915" cy="83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dirty="0"/>
            <a:t>Software industry for 30+ years</a:t>
          </a:r>
        </a:p>
      </dsp:txBody>
      <dsp:txXfrm>
        <a:off x="6719" y="841452"/>
        <a:ext cx="1588915" cy="834996"/>
      </dsp:txXfrm>
    </dsp:sp>
    <dsp:sp modelId="{FEF567E7-7A7D-43F0-8C85-538C2D4E257C}">
      <dsp:nvSpPr>
        <dsp:cNvPr id="0" name=""/>
        <dsp:cNvSpPr/>
      </dsp:nvSpPr>
      <dsp:spPr>
        <a:xfrm>
          <a:off x="6719" y="1725064"/>
          <a:ext cx="1588915" cy="886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baseline="0"/>
            <a:t>Started programming in 1995 (VB 3 &amp; Microsoft Access)</a:t>
          </a:r>
          <a:endParaRPr lang="en-US" sz="1100" kern="1200"/>
        </a:p>
        <a:p>
          <a:pPr marL="0" lvl="0" indent="0" algn="ctr" defTabSz="488950">
            <a:lnSpc>
              <a:spcPct val="100000"/>
            </a:lnSpc>
            <a:spcBef>
              <a:spcPct val="0"/>
            </a:spcBef>
            <a:spcAft>
              <a:spcPct val="35000"/>
            </a:spcAft>
            <a:buNone/>
          </a:pPr>
          <a:r>
            <a:rPr lang="en-US" sz="1100" kern="1200" baseline="0"/>
            <a:t>Content developer at Microsoft since 2022</a:t>
          </a:r>
          <a:endParaRPr lang="en-US" sz="1100" kern="1200"/>
        </a:p>
      </dsp:txBody>
      <dsp:txXfrm>
        <a:off x="6719" y="1725064"/>
        <a:ext cx="1588915" cy="886549"/>
      </dsp:txXfrm>
    </dsp:sp>
    <dsp:sp modelId="{6A8BC65D-5FAB-4FBC-ADA8-EEFCD4F71B46}">
      <dsp:nvSpPr>
        <dsp:cNvPr id="0" name=""/>
        <dsp:cNvSpPr/>
      </dsp:nvSpPr>
      <dsp:spPr>
        <a:xfrm>
          <a:off x="2390092" y="180806"/>
          <a:ext cx="556120" cy="5561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CE5D06-D02E-43AA-AFFF-05CBD7E93B82}">
      <dsp:nvSpPr>
        <dsp:cNvPr id="0" name=""/>
        <dsp:cNvSpPr/>
      </dsp:nvSpPr>
      <dsp:spPr>
        <a:xfrm>
          <a:off x="1873694" y="841452"/>
          <a:ext cx="1588915" cy="83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Morning Dew link blog</a:t>
          </a:r>
        </a:p>
      </dsp:txBody>
      <dsp:txXfrm>
        <a:off x="1873694" y="841452"/>
        <a:ext cx="1588915" cy="834996"/>
      </dsp:txXfrm>
    </dsp:sp>
    <dsp:sp modelId="{EC4D7EB6-ACAD-41DA-9D2A-8902D5FD039F}">
      <dsp:nvSpPr>
        <dsp:cNvPr id="0" name=""/>
        <dsp:cNvSpPr/>
      </dsp:nvSpPr>
      <dsp:spPr>
        <a:xfrm>
          <a:off x="1873694" y="1725064"/>
          <a:ext cx="1588915" cy="886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baseline="0"/>
            <a:t>Daily links for .NET developers since 2007</a:t>
          </a:r>
          <a:endParaRPr lang="en-US" sz="1100" kern="1200"/>
        </a:p>
      </dsp:txBody>
      <dsp:txXfrm>
        <a:off x="1873694" y="1725064"/>
        <a:ext cx="1588915" cy="886549"/>
      </dsp:txXfrm>
    </dsp:sp>
    <dsp:sp modelId="{1986B473-6315-487A-AABE-5EDD9D402D06}">
      <dsp:nvSpPr>
        <dsp:cNvPr id="0" name=""/>
        <dsp:cNvSpPr/>
      </dsp:nvSpPr>
      <dsp:spPr>
        <a:xfrm>
          <a:off x="4257068" y="180806"/>
          <a:ext cx="556120" cy="5561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BDF2E7-7DC0-4C99-93CC-1B2A8A07F708}">
      <dsp:nvSpPr>
        <dsp:cNvPr id="0" name=""/>
        <dsp:cNvSpPr/>
      </dsp:nvSpPr>
      <dsp:spPr>
        <a:xfrm>
          <a:off x="3740670" y="841452"/>
          <a:ext cx="1588915" cy="83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dirty="0"/>
            <a:t>Three books for </a:t>
          </a:r>
          <a:r>
            <a:rPr lang="en-US" sz="1400" kern="1200" dirty="0" err="1"/>
            <a:t>Packt</a:t>
          </a:r>
          <a:r>
            <a:rPr lang="en-US" sz="1400" kern="1200" dirty="0"/>
            <a:t> Publishing</a:t>
          </a:r>
        </a:p>
      </dsp:txBody>
      <dsp:txXfrm>
        <a:off x="3740670" y="841452"/>
        <a:ext cx="1588915" cy="834996"/>
      </dsp:txXfrm>
    </dsp:sp>
    <dsp:sp modelId="{B532AB85-CF75-4DAD-BDF7-22595255FBA3}">
      <dsp:nvSpPr>
        <dsp:cNvPr id="0" name=""/>
        <dsp:cNvSpPr/>
      </dsp:nvSpPr>
      <dsp:spPr>
        <a:xfrm>
          <a:off x="3740670" y="1725064"/>
          <a:ext cx="1588915" cy="886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baseline="0" dirty="0"/>
            <a:t>Learn WinUI 3 (two editions)</a:t>
          </a:r>
          <a:endParaRPr lang="en-US" sz="1100" kern="1200" dirty="0"/>
        </a:p>
        <a:p>
          <a:pPr marL="0" lvl="0" indent="0" algn="ctr" defTabSz="488950">
            <a:lnSpc>
              <a:spcPct val="100000"/>
            </a:lnSpc>
            <a:spcBef>
              <a:spcPct val="0"/>
            </a:spcBef>
            <a:spcAft>
              <a:spcPct val="35000"/>
            </a:spcAft>
            <a:buNone/>
          </a:pPr>
          <a:r>
            <a:rPr lang="en-US" sz="1100" kern="1200" baseline="0" dirty="0"/>
            <a:t>Parallel Programming and Concurrency with C# and .NET</a:t>
          </a:r>
          <a:endParaRPr lang="en-US" sz="1100" kern="1200" dirty="0"/>
        </a:p>
      </dsp:txBody>
      <dsp:txXfrm>
        <a:off x="3740670" y="1725064"/>
        <a:ext cx="1588915" cy="886549"/>
      </dsp:txXfrm>
    </dsp:sp>
    <dsp:sp modelId="{439B57AA-FA4B-40A5-B01D-823FF003AE79}">
      <dsp:nvSpPr>
        <dsp:cNvPr id="0" name=""/>
        <dsp:cNvSpPr/>
      </dsp:nvSpPr>
      <dsp:spPr>
        <a:xfrm>
          <a:off x="6124043" y="180806"/>
          <a:ext cx="556120" cy="5561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99FA811-9A25-488F-BA19-ED7DB19166FE}">
      <dsp:nvSpPr>
        <dsp:cNvPr id="0" name=""/>
        <dsp:cNvSpPr/>
      </dsp:nvSpPr>
      <dsp:spPr>
        <a:xfrm>
          <a:off x="5607646" y="841452"/>
          <a:ext cx="1588915" cy="834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TechBash dev conference organizer since 2016</a:t>
          </a:r>
        </a:p>
      </dsp:txBody>
      <dsp:txXfrm>
        <a:off x="5607646" y="841452"/>
        <a:ext cx="1588915" cy="834996"/>
      </dsp:txXfrm>
    </dsp:sp>
    <dsp:sp modelId="{55B1D1AB-DA2C-405B-937B-22ED58B33D2F}">
      <dsp:nvSpPr>
        <dsp:cNvPr id="0" name=""/>
        <dsp:cNvSpPr/>
      </dsp:nvSpPr>
      <dsp:spPr>
        <a:xfrm>
          <a:off x="5607646" y="1725064"/>
          <a:ext cx="1588915" cy="886549"/>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2CD6A-F820-4A88-8107-7175BC03F654}">
      <dsp:nvSpPr>
        <dsp:cNvPr id="0" name=""/>
        <dsp:cNvSpPr/>
      </dsp:nvSpPr>
      <dsp:spPr>
        <a:xfrm>
          <a:off x="1078920" y="194747"/>
          <a:ext cx="1157969" cy="11579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B87874-5C8C-4024-A27D-990F80856C37}">
      <dsp:nvSpPr>
        <dsp:cNvPr id="0" name=""/>
        <dsp:cNvSpPr/>
      </dsp:nvSpPr>
      <dsp:spPr>
        <a:xfrm>
          <a:off x="3663" y="1456043"/>
          <a:ext cx="3308484" cy="496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kern="1200"/>
            <a:t>Minimizing Repetitive Code</a:t>
          </a:r>
        </a:p>
      </dsp:txBody>
      <dsp:txXfrm>
        <a:off x="3663" y="1456043"/>
        <a:ext cx="3308484" cy="496272"/>
      </dsp:txXfrm>
    </dsp:sp>
    <dsp:sp modelId="{BAEB7192-0D78-40F8-98B7-166A8F7E202E}">
      <dsp:nvSpPr>
        <dsp:cNvPr id="0" name=""/>
        <dsp:cNvSpPr/>
      </dsp:nvSpPr>
      <dsp:spPr>
        <a:xfrm>
          <a:off x="3663" y="2000374"/>
          <a:ext cx="3308484" cy="597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baseline="0"/>
            <a:t>Base classes designed to reduce repetitive coding tasks efficiently.</a:t>
          </a:r>
          <a:endParaRPr lang="en-US" sz="1500" kern="1200"/>
        </a:p>
      </dsp:txBody>
      <dsp:txXfrm>
        <a:off x="3663" y="2000374"/>
        <a:ext cx="3308484" cy="597298"/>
      </dsp:txXfrm>
    </dsp:sp>
    <dsp:sp modelId="{3497C6A7-1402-4728-8889-8ED1B5D6B5EB}">
      <dsp:nvSpPr>
        <dsp:cNvPr id="0" name=""/>
        <dsp:cNvSpPr/>
      </dsp:nvSpPr>
      <dsp:spPr>
        <a:xfrm>
          <a:off x="4966390" y="194747"/>
          <a:ext cx="1157969" cy="11579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AE7D19-349C-4486-ABB7-99BFE8C56D2B}">
      <dsp:nvSpPr>
        <dsp:cNvPr id="0" name=""/>
        <dsp:cNvSpPr/>
      </dsp:nvSpPr>
      <dsp:spPr>
        <a:xfrm>
          <a:off x="3891132" y="1456043"/>
          <a:ext cx="3308484" cy="4962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US" sz="2000" kern="1200"/>
            <a:t>Streamlining Development</a:t>
          </a:r>
        </a:p>
      </dsp:txBody>
      <dsp:txXfrm>
        <a:off x="3891132" y="1456043"/>
        <a:ext cx="3308484" cy="496272"/>
      </dsp:txXfrm>
    </dsp:sp>
    <dsp:sp modelId="{5FC63415-A873-4BF5-8207-0CD12E4A3D42}">
      <dsp:nvSpPr>
        <dsp:cNvPr id="0" name=""/>
        <dsp:cNvSpPr/>
      </dsp:nvSpPr>
      <dsp:spPr>
        <a:xfrm>
          <a:off x="3891132" y="2000374"/>
          <a:ext cx="3308484" cy="597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n-US" sz="1500" kern="1200" baseline="0"/>
            <a:t>Helpers in the toolkit streamline the development process, enhancing productivity &amp; maintainability.</a:t>
          </a:r>
          <a:endParaRPr lang="en-US" sz="1500" kern="1200"/>
        </a:p>
      </dsp:txBody>
      <dsp:txXfrm>
        <a:off x="3891132" y="2000374"/>
        <a:ext cx="3308484" cy="5972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862CFD-862E-4FE8-9CA4-2932A89BE2EA}">
      <dsp:nvSpPr>
        <dsp:cNvPr id="0" name=""/>
        <dsp:cNvSpPr/>
      </dsp:nvSpPr>
      <dsp:spPr>
        <a:xfrm>
          <a:off x="0" y="315"/>
          <a:ext cx="7202456" cy="7392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44C5B7-B737-466E-AE63-896B08DA5799}">
      <dsp:nvSpPr>
        <dsp:cNvPr id="0" name=""/>
        <dsp:cNvSpPr/>
      </dsp:nvSpPr>
      <dsp:spPr>
        <a:xfrm>
          <a:off x="223619" y="166644"/>
          <a:ext cx="406580" cy="4065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7351BB2-8C51-4A6A-B40E-DA152BFFEF41}">
      <dsp:nvSpPr>
        <dsp:cNvPr id="0" name=""/>
        <dsp:cNvSpPr/>
      </dsp:nvSpPr>
      <dsp:spPr>
        <a:xfrm>
          <a:off x="853818" y="315"/>
          <a:ext cx="3241105"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933450">
            <a:lnSpc>
              <a:spcPct val="100000"/>
            </a:lnSpc>
            <a:spcBef>
              <a:spcPct val="0"/>
            </a:spcBef>
            <a:spcAft>
              <a:spcPct val="35000"/>
            </a:spcAft>
            <a:buNone/>
          </a:pPr>
          <a:r>
            <a:rPr lang="en-US" sz="2100" kern="1200"/>
            <a:t>Programmatic UI Creation</a:t>
          </a:r>
        </a:p>
      </dsp:txBody>
      <dsp:txXfrm>
        <a:off x="853818" y="315"/>
        <a:ext cx="3241105" cy="739236"/>
      </dsp:txXfrm>
    </dsp:sp>
    <dsp:sp modelId="{D8364D52-A193-4665-936E-E752A1760277}">
      <dsp:nvSpPr>
        <dsp:cNvPr id="0" name=""/>
        <dsp:cNvSpPr/>
      </dsp:nvSpPr>
      <dsp:spPr>
        <a:xfrm>
          <a:off x="4094923" y="315"/>
          <a:ext cx="3107532"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577850">
            <a:lnSpc>
              <a:spcPct val="100000"/>
            </a:lnSpc>
            <a:spcBef>
              <a:spcPct val="0"/>
            </a:spcBef>
            <a:spcAft>
              <a:spcPct val="35000"/>
            </a:spcAft>
            <a:buNone/>
          </a:pPr>
          <a:r>
            <a:rPr lang="en-US" sz="1300" kern="1200" baseline="0"/>
            <a:t>Create and modify user interface elements using C# markup programmatically.</a:t>
          </a:r>
          <a:endParaRPr lang="en-US" sz="1300" kern="1200"/>
        </a:p>
      </dsp:txBody>
      <dsp:txXfrm>
        <a:off x="4094923" y="315"/>
        <a:ext cx="3107532" cy="739236"/>
      </dsp:txXfrm>
    </dsp:sp>
    <dsp:sp modelId="{6BB9A986-9EB1-4E31-9B51-D8B4D69EF2A6}">
      <dsp:nvSpPr>
        <dsp:cNvPr id="0" name=""/>
        <dsp:cNvSpPr/>
      </dsp:nvSpPr>
      <dsp:spPr>
        <a:xfrm>
          <a:off x="0" y="924361"/>
          <a:ext cx="7202456" cy="7392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F6D946-AB01-43DA-A603-C91B258F6D58}">
      <dsp:nvSpPr>
        <dsp:cNvPr id="0" name=""/>
        <dsp:cNvSpPr/>
      </dsp:nvSpPr>
      <dsp:spPr>
        <a:xfrm>
          <a:off x="223619" y="1090689"/>
          <a:ext cx="406580" cy="4065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2C4287-152E-4358-9324-988021339FAF}">
      <dsp:nvSpPr>
        <dsp:cNvPr id="0" name=""/>
        <dsp:cNvSpPr/>
      </dsp:nvSpPr>
      <dsp:spPr>
        <a:xfrm>
          <a:off x="853818" y="924361"/>
          <a:ext cx="3241105"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933450">
            <a:lnSpc>
              <a:spcPct val="100000"/>
            </a:lnSpc>
            <a:spcBef>
              <a:spcPct val="0"/>
            </a:spcBef>
            <a:spcAft>
              <a:spcPct val="35000"/>
            </a:spcAft>
            <a:buNone/>
          </a:pPr>
          <a:r>
            <a:rPr lang="en-US" sz="2100" kern="1200"/>
            <a:t>Improved Code Reuse</a:t>
          </a:r>
        </a:p>
      </dsp:txBody>
      <dsp:txXfrm>
        <a:off x="853818" y="924361"/>
        <a:ext cx="3241105" cy="739236"/>
      </dsp:txXfrm>
    </dsp:sp>
    <dsp:sp modelId="{96C20A32-D33C-4F53-B9CA-3A57C7F17002}">
      <dsp:nvSpPr>
        <dsp:cNvPr id="0" name=""/>
        <dsp:cNvSpPr/>
      </dsp:nvSpPr>
      <dsp:spPr>
        <a:xfrm>
          <a:off x="4094923" y="924361"/>
          <a:ext cx="3107532"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577850">
            <a:lnSpc>
              <a:spcPct val="100000"/>
            </a:lnSpc>
            <a:spcBef>
              <a:spcPct val="0"/>
            </a:spcBef>
            <a:spcAft>
              <a:spcPct val="35000"/>
            </a:spcAft>
            <a:buNone/>
          </a:pPr>
          <a:r>
            <a:rPr lang="en-US" sz="1300" kern="1200" baseline="0"/>
            <a:t>Enhance code reuse by allowing modular UI components to be managed efficiently.</a:t>
          </a:r>
          <a:endParaRPr lang="en-US" sz="1300" kern="1200"/>
        </a:p>
      </dsp:txBody>
      <dsp:txXfrm>
        <a:off x="4094923" y="924361"/>
        <a:ext cx="3107532" cy="739236"/>
      </dsp:txXfrm>
    </dsp:sp>
    <dsp:sp modelId="{92CBF1F3-9A41-4AF0-BBB4-A32482717E95}">
      <dsp:nvSpPr>
        <dsp:cNvPr id="0" name=""/>
        <dsp:cNvSpPr/>
      </dsp:nvSpPr>
      <dsp:spPr>
        <a:xfrm>
          <a:off x="0" y="1848407"/>
          <a:ext cx="7202456" cy="7392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DDA994-008F-4AB5-A014-AAE6C583F71A}">
      <dsp:nvSpPr>
        <dsp:cNvPr id="0" name=""/>
        <dsp:cNvSpPr/>
      </dsp:nvSpPr>
      <dsp:spPr>
        <a:xfrm>
          <a:off x="223619" y="2014735"/>
          <a:ext cx="406580" cy="4065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13FF78-CE21-4D20-BC75-2A565591287A}">
      <dsp:nvSpPr>
        <dsp:cNvPr id="0" name=""/>
        <dsp:cNvSpPr/>
      </dsp:nvSpPr>
      <dsp:spPr>
        <a:xfrm>
          <a:off x="853818" y="1848407"/>
          <a:ext cx="3241105"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933450">
            <a:lnSpc>
              <a:spcPct val="100000"/>
            </a:lnSpc>
            <a:spcBef>
              <a:spcPct val="0"/>
            </a:spcBef>
            <a:spcAft>
              <a:spcPct val="35000"/>
            </a:spcAft>
            <a:buNone/>
          </a:pPr>
          <a:r>
            <a:rPr lang="en-US" sz="2100" kern="1200"/>
            <a:t>Reduced Context Switching</a:t>
          </a:r>
        </a:p>
      </dsp:txBody>
      <dsp:txXfrm>
        <a:off x="853818" y="1848407"/>
        <a:ext cx="3241105" cy="739236"/>
      </dsp:txXfrm>
    </dsp:sp>
    <dsp:sp modelId="{C0346201-AE52-465A-B41E-8985AE902351}">
      <dsp:nvSpPr>
        <dsp:cNvPr id="0" name=""/>
        <dsp:cNvSpPr/>
      </dsp:nvSpPr>
      <dsp:spPr>
        <a:xfrm>
          <a:off x="4094923" y="1848407"/>
          <a:ext cx="3107532" cy="739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6" tIns="78236" rIns="78236" bIns="78236" numCol="1" spcCol="1270" anchor="ctr" anchorCtr="0">
          <a:noAutofit/>
        </a:bodyPr>
        <a:lstStyle/>
        <a:p>
          <a:pPr marL="0" lvl="0" indent="0" algn="l" defTabSz="577850">
            <a:lnSpc>
              <a:spcPct val="100000"/>
            </a:lnSpc>
            <a:spcBef>
              <a:spcPct val="0"/>
            </a:spcBef>
            <a:spcAft>
              <a:spcPct val="35000"/>
            </a:spcAft>
            <a:buNone/>
          </a:pPr>
          <a:r>
            <a:rPr lang="en-US" sz="1300" kern="1200" baseline="0"/>
            <a:t>Using C# markup reduces context switching between design and code environments for developers.</a:t>
          </a:r>
          <a:endParaRPr lang="en-US" sz="1300" kern="1200"/>
        </a:p>
      </dsp:txBody>
      <dsp:txXfrm>
        <a:off x="4094923" y="1848407"/>
        <a:ext cx="3107532" cy="73923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7FE82-AB4C-4CDD-95DC-BAB0F1AA2483}">
      <dsp:nvSpPr>
        <dsp:cNvPr id="0" name=""/>
        <dsp:cNvSpPr/>
      </dsp:nvSpPr>
      <dsp:spPr>
        <a:xfrm>
          <a:off x="4409" y="409170"/>
          <a:ext cx="751573" cy="7515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073AF3-B131-4434-B6DA-93F27B5F938B}">
      <dsp:nvSpPr>
        <dsp:cNvPr id="0" name=""/>
        <dsp:cNvSpPr/>
      </dsp:nvSpPr>
      <dsp:spPr>
        <a:xfrm>
          <a:off x="4409" y="1236838"/>
          <a:ext cx="2147354" cy="412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Leverage Web Development Skills</a:t>
          </a:r>
        </a:p>
      </dsp:txBody>
      <dsp:txXfrm>
        <a:off x="4409" y="1236838"/>
        <a:ext cx="2147354" cy="412694"/>
      </dsp:txXfrm>
    </dsp:sp>
    <dsp:sp modelId="{7CE59EBC-62E7-4FF7-98D5-280DFCC1A2A6}">
      <dsp:nvSpPr>
        <dsp:cNvPr id="0" name=""/>
        <dsp:cNvSpPr/>
      </dsp:nvSpPr>
      <dsp:spPr>
        <a:xfrm>
          <a:off x="4409" y="1684925"/>
          <a:ext cx="2147354" cy="49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baseline="0"/>
            <a:t>Utilize your existing web dev knowledge to efficiently style MAUI applications.</a:t>
          </a:r>
          <a:endParaRPr lang="en-US" sz="1100" kern="1200"/>
        </a:p>
      </dsp:txBody>
      <dsp:txXfrm>
        <a:off x="4409" y="1684925"/>
        <a:ext cx="2147354" cy="493864"/>
      </dsp:txXfrm>
    </dsp:sp>
    <dsp:sp modelId="{7CD63E64-1713-4AE4-90E7-451AA96BBCB5}">
      <dsp:nvSpPr>
        <dsp:cNvPr id="0" name=""/>
        <dsp:cNvSpPr/>
      </dsp:nvSpPr>
      <dsp:spPr>
        <a:xfrm>
          <a:off x="2527550" y="409170"/>
          <a:ext cx="751573" cy="7515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8452CB-1C41-4A39-952C-78726A9C20AC}">
      <dsp:nvSpPr>
        <dsp:cNvPr id="0" name=""/>
        <dsp:cNvSpPr/>
      </dsp:nvSpPr>
      <dsp:spPr>
        <a:xfrm>
          <a:off x="2527550" y="1236838"/>
          <a:ext cx="2147354" cy="412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Save Development Time</a:t>
          </a:r>
        </a:p>
      </dsp:txBody>
      <dsp:txXfrm>
        <a:off x="2527550" y="1236838"/>
        <a:ext cx="2147354" cy="412694"/>
      </dsp:txXfrm>
    </dsp:sp>
    <dsp:sp modelId="{F7696670-8BCE-498F-8FAC-101657C419BB}">
      <dsp:nvSpPr>
        <dsp:cNvPr id="0" name=""/>
        <dsp:cNvSpPr/>
      </dsp:nvSpPr>
      <dsp:spPr>
        <a:xfrm>
          <a:off x="2527550" y="1684925"/>
          <a:ext cx="2147354" cy="49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baseline="0"/>
            <a:t>Reusing web assets reduces styling time, accelerating app development &amp; deployment.</a:t>
          </a:r>
          <a:endParaRPr lang="en-US" sz="1100" kern="1200"/>
        </a:p>
      </dsp:txBody>
      <dsp:txXfrm>
        <a:off x="2527550" y="1684925"/>
        <a:ext cx="2147354" cy="493864"/>
      </dsp:txXfrm>
    </dsp:sp>
    <dsp:sp modelId="{E7DCF488-79B5-4E47-83AC-E10F9F69AEA0}">
      <dsp:nvSpPr>
        <dsp:cNvPr id="0" name=""/>
        <dsp:cNvSpPr/>
      </dsp:nvSpPr>
      <dsp:spPr>
        <a:xfrm>
          <a:off x="5050691" y="409170"/>
          <a:ext cx="751573" cy="75157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93C643-6303-4B24-9EF7-E898688512EE}">
      <dsp:nvSpPr>
        <dsp:cNvPr id="0" name=""/>
        <dsp:cNvSpPr/>
      </dsp:nvSpPr>
      <dsp:spPr>
        <a:xfrm>
          <a:off x="5050691" y="1236838"/>
          <a:ext cx="2147354" cy="412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Maintain Brand Consistency</a:t>
          </a:r>
        </a:p>
      </dsp:txBody>
      <dsp:txXfrm>
        <a:off x="5050691" y="1236838"/>
        <a:ext cx="2147354" cy="412694"/>
      </dsp:txXfrm>
    </dsp:sp>
    <dsp:sp modelId="{84F69412-D9DD-41E9-BE74-226D18FE6241}">
      <dsp:nvSpPr>
        <dsp:cNvPr id="0" name=""/>
        <dsp:cNvSpPr/>
      </dsp:nvSpPr>
      <dsp:spPr>
        <a:xfrm>
          <a:off x="5050691" y="1684925"/>
          <a:ext cx="2147354" cy="493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baseline="0"/>
            <a:t>Consistent styling across web &amp; MAUI apps ensures strong &amp; uniform brand identity.</a:t>
          </a:r>
          <a:endParaRPr lang="en-US" sz="1100" kern="1200"/>
        </a:p>
      </dsp:txBody>
      <dsp:txXfrm>
        <a:off x="5050691" y="1684925"/>
        <a:ext cx="2147354" cy="4938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99BB9E-55F3-47E7-ADC1-377745AB12C8}">
      <dsp:nvSpPr>
        <dsp:cNvPr id="0" name=""/>
        <dsp:cNvSpPr/>
      </dsp:nvSpPr>
      <dsp:spPr>
        <a:xfrm>
          <a:off x="0" y="1074"/>
          <a:ext cx="7202456" cy="54438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18D85D-2029-47A6-B93D-83F13C201C8F}">
      <dsp:nvSpPr>
        <dsp:cNvPr id="0" name=""/>
        <dsp:cNvSpPr/>
      </dsp:nvSpPr>
      <dsp:spPr>
        <a:xfrm>
          <a:off x="164675" y="123559"/>
          <a:ext cx="299409" cy="2994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43677A-524E-4D33-901F-71E5000CD7EB}">
      <dsp:nvSpPr>
        <dsp:cNvPr id="0" name=""/>
        <dsp:cNvSpPr/>
      </dsp:nvSpPr>
      <dsp:spPr>
        <a:xfrm>
          <a:off x="628760" y="1074"/>
          <a:ext cx="3241105"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977900">
            <a:lnSpc>
              <a:spcPct val="100000"/>
            </a:lnSpc>
            <a:spcBef>
              <a:spcPct val="0"/>
            </a:spcBef>
            <a:spcAft>
              <a:spcPct val="35000"/>
            </a:spcAft>
            <a:buNone/>
          </a:pPr>
          <a:r>
            <a:rPr lang="en-US" sz="2200" kern="1200"/>
            <a:t>Unified API Access</a:t>
          </a:r>
        </a:p>
      </dsp:txBody>
      <dsp:txXfrm>
        <a:off x="628760" y="1074"/>
        <a:ext cx="3241105" cy="544381"/>
      </dsp:txXfrm>
    </dsp:sp>
    <dsp:sp modelId="{4C24321A-53AD-442F-BCE0-ADB65DACF6FB}">
      <dsp:nvSpPr>
        <dsp:cNvPr id="0" name=""/>
        <dsp:cNvSpPr/>
      </dsp:nvSpPr>
      <dsp:spPr>
        <a:xfrm>
          <a:off x="3869865" y="1074"/>
          <a:ext cx="3332590"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577850">
            <a:lnSpc>
              <a:spcPct val="100000"/>
            </a:lnSpc>
            <a:spcBef>
              <a:spcPct val="0"/>
            </a:spcBef>
            <a:spcAft>
              <a:spcPct val="35000"/>
            </a:spcAft>
            <a:buNone/>
          </a:pPr>
          <a:r>
            <a:rPr lang="en-US" sz="1300" kern="1200" baseline="0"/>
            <a:t>Unified APIs simplify device feature access across multiple device platforms.</a:t>
          </a:r>
          <a:endParaRPr lang="en-US" sz="1300" kern="1200"/>
        </a:p>
      </dsp:txBody>
      <dsp:txXfrm>
        <a:off x="3869865" y="1074"/>
        <a:ext cx="3332590" cy="544381"/>
      </dsp:txXfrm>
    </dsp:sp>
    <dsp:sp modelId="{8260EC85-AC1C-4E86-81DE-3AB0A812A879}">
      <dsp:nvSpPr>
        <dsp:cNvPr id="0" name=""/>
        <dsp:cNvSpPr/>
      </dsp:nvSpPr>
      <dsp:spPr>
        <a:xfrm>
          <a:off x="0" y="681550"/>
          <a:ext cx="7202456" cy="54438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6C6CA0-6CAC-4A8D-BC8D-B380ABBA06B0}">
      <dsp:nvSpPr>
        <dsp:cNvPr id="0" name=""/>
        <dsp:cNvSpPr/>
      </dsp:nvSpPr>
      <dsp:spPr>
        <a:xfrm>
          <a:off x="164675" y="804036"/>
          <a:ext cx="299409" cy="2994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0D6017-1D51-4099-82EC-C7CF1ABB3E6A}">
      <dsp:nvSpPr>
        <dsp:cNvPr id="0" name=""/>
        <dsp:cNvSpPr/>
      </dsp:nvSpPr>
      <dsp:spPr>
        <a:xfrm>
          <a:off x="628760" y="681550"/>
          <a:ext cx="3241105"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977900">
            <a:lnSpc>
              <a:spcPct val="100000"/>
            </a:lnSpc>
            <a:spcBef>
              <a:spcPct val="0"/>
            </a:spcBef>
            <a:spcAft>
              <a:spcPct val="35000"/>
            </a:spcAft>
            <a:buNone/>
          </a:pPr>
          <a:r>
            <a:rPr lang="en-US" sz="2200" kern="1200"/>
            <a:t>Sensors Integration</a:t>
          </a:r>
        </a:p>
      </dsp:txBody>
      <dsp:txXfrm>
        <a:off x="628760" y="681550"/>
        <a:ext cx="3241105" cy="544381"/>
      </dsp:txXfrm>
    </dsp:sp>
    <dsp:sp modelId="{2587E735-A66E-449C-ADDD-955A33C7D2BE}">
      <dsp:nvSpPr>
        <dsp:cNvPr id="0" name=""/>
        <dsp:cNvSpPr/>
      </dsp:nvSpPr>
      <dsp:spPr>
        <a:xfrm>
          <a:off x="3869865" y="681550"/>
          <a:ext cx="3332590"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577850">
            <a:lnSpc>
              <a:spcPct val="100000"/>
            </a:lnSpc>
            <a:spcBef>
              <a:spcPct val="0"/>
            </a:spcBef>
            <a:spcAft>
              <a:spcPct val="35000"/>
            </a:spcAft>
            <a:buNone/>
          </a:pPr>
          <a:r>
            <a:rPr lang="en-US" sz="1300" kern="1200" baseline="0"/>
            <a:t>APIs enable consistent access to device sensors like accelerometers &amp; gyroscopes.</a:t>
          </a:r>
          <a:endParaRPr lang="en-US" sz="1300" kern="1200"/>
        </a:p>
      </dsp:txBody>
      <dsp:txXfrm>
        <a:off x="3869865" y="681550"/>
        <a:ext cx="3332590" cy="544381"/>
      </dsp:txXfrm>
    </dsp:sp>
    <dsp:sp modelId="{8698D601-99CD-4348-BC4B-10D3780DDE3C}">
      <dsp:nvSpPr>
        <dsp:cNvPr id="0" name=""/>
        <dsp:cNvSpPr/>
      </dsp:nvSpPr>
      <dsp:spPr>
        <a:xfrm>
          <a:off x="0" y="1362027"/>
          <a:ext cx="7202456" cy="54438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03536D-D498-4575-A16B-CCB757234E24}">
      <dsp:nvSpPr>
        <dsp:cNvPr id="0" name=""/>
        <dsp:cNvSpPr/>
      </dsp:nvSpPr>
      <dsp:spPr>
        <a:xfrm>
          <a:off x="164675" y="1484513"/>
          <a:ext cx="299409" cy="2994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F06563-29AE-4308-89C2-3AF4A8459932}">
      <dsp:nvSpPr>
        <dsp:cNvPr id="0" name=""/>
        <dsp:cNvSpPr/>
      </dsp:nvSpPr>
      <dsp:spPr>
        <a:xfrm>
          <a:off x="628760" y="1362027"/>
          <a:ext cx="3241105"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977900">
            <a:lnSpc>
              <a:spcPct val="100000"/>
            </a:lnSpc>
            <a:spcBef>
              <a:spcPct val="0"/>
            </a:spcBef>
            <a:spcAft>
              <a:spcPct val="35000"/>
            </a:spcAft>
            <a:buNone/>
          </a:pPr>
          <a:r>
            <a:rPr lang="en-US" sz="2200" kern="1200"/>
            <a:t>Camera and Storage</a:t>
          </a:r>
        </a:p>
      </dsp:txBody>
      <dsp:txXfrm>
        <a:off x="628760" y="1362027"/>
        <a:ext cx="3241105" cy="544381"/>
      </dsp:txXfrm>
    </dsp:sp>
    <dsp:sp modelId="{2E31FEB5-B2BA-4105-A83D-3CE298A34B85}">
      <dsp:nvSpPr>
        <dsp:cNvPr id="0" name=""/>
        <dsp:cNvSpPr/>
      </dsp:nvSpPr>
      <dsp:spPr>
        <a:xfrm>
          <a:off x="3869865" y="1362027"/>
          <a:ext cx="3332590"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577850">
            <a:lnSpc>
              <a:spcPct val="100000"/>
            </a:lnSpc>
            <a:spcBef>
              <a:spcPct val="0"/>
            </a:spcBef>
            <a:spcAft>
              <a:spcPct val="35000"/>
            </a:spcAft>
            <a:buNone/>
          </a:pPr>
          <a:r>
            <a:rPr lang="en-US" sz="1300" kern="1200" baseline="0"/>
            <a:t>Support for camera use &amp; file management is streamlined via unified APIs.</a:t>
          </a:r>
          <a:endParaRPr lang="en-US" sz="1300" kern="1200"/>
        </a:p>
      </dsp:txBody>
      <dsp:txXfrm>
        <a:off x="3869865" y="1362027"/>
        <a:ext cx="3332590" cy="544381"/>
      </dsp:txXfrm>
    </dsp:sp>
    <dsp:sp modelId="{3FA6EC3A-E631-4EFA-80CB-868CF8929549}">
      <dsp:nvSpPr>
        <dsp:cNvPr id="0" name=""/>
        <dsp:cNvSpPr/>
      </dsp:nvSpPr>
      <dsp:spPr>
        <a:xfrm>
          <a:off x="0" y="2042504"/>
          <a:ext cx="7202456" cy="54438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05DF32-BB57-4B5B-84B4-1ABD15F412AA}">
      <dsp:nvSpPr>
        <dsp:cNvPr id="0" name=""/>
        <dsp:cNvSpPr/>
      </dsp:nvSpPr>
      <dsp:spPr>
        <a:xfrm>
          <a:off x="164675" y="2164990"/>
          <a:ext cx="299409" cy="2994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93FC02-4309-4009-9225-A7103AAC525F}">
      <dsp:nvSpPr>
        <dsp:cNvPr id="0" name=""/>
        <dsp:cNvSpPr/>
      </dsp:nvSpPr>
      <dsp:spPr>
        <a:xfrm>
          <a:off x="628760" y="2042504"/>
          <a:ext cx="6573695" cy="544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614" tIns="57614" rIns="57614" bIns="57614" numCol="1" spcCol="1270" anchor="ctr" anchorCtr="0">
          <a:noAutofit/>
        </a:bodyPr>
        <a:lstStyle/>
        <a:p>
          <a:pPr marL="0" lvl="0" indent="0" algn="l" defTabSz="977900">
            <a:lnSpc>
              <a:spcPct val="100000"/>
            </a:lnSpc>
            <a:spcBef>
              <a:spcPct val="0"/>
            </a:spcBef>
            <a:spcAft>
              <a:spcPct val="35000"/>
            </a:spcAft>
            <a:buNone/>
          </a:pPr>
          <a:r>
            <a:rPr lang="en-US" sz="2200" kern="1200"/>
            <a:t>Demo – View the Device Platform docs</a:t>
          </a:r>
        </a:p>
      </dsp:txBody>
      <dsp:txXfrm>
        <a:off x="628760" y="2042504"/>
        <a:ext cx="6573695" cy="544381"/>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57800" cy="457200"/>
          </a:xfrm>
          <a:prstGeom prst="rect">
            <a:avLst/>
          </a:prstGeom>
        </p:spPr>
        <p:txBody>
          <a:bodyPr vert="horz" lIns="91440" tIns="45720" rIns="91440" bIns="45720" rtlCol="0"/>
          <a:lstStyle>
            <a:lvl1pPr algn="l" fontAlgn="auto">
              <a:spcBef>
                <a:spcPts val="0"/>
              </a:spcBef>
              <a:spcAft>
                <a:spcPts val="0"/>
              </a:spcAft>
              <a:defRPr sz="1300" b="1" dirty="0" smtClean="0">
                <a:latin typeface="Arial" pitchFamily="34" charset="0"/>
                <a:ea typeface="+mn-ea"/>
                <a:cs typeface="Arial" pitchFamily="34" charset="0"/>
              </a:defRPr>
            </a:lvl1pPr>
          </a:lstStyle>
          <a:p>
            <a:pPr>
              <a:defRPr/>
            </a:pPr>
            <a:r>
              <a:rPr lang="en-US" dirty="0"/>
              <a:t>Live! 360 Orlando 2025</a:t>
            </a:r>
          </a:p>
        </p:txBody>
      </p:sp>
      <p:sp>
        <p:nvSpPr>
          <p:cNvPr id="4" name="Footer Placeholder 3"/>
          <p:cNvSpPr>
            <a:spLocks noGrp="1"/>
          </p:cNvSpPr>
          <p:nvPr>
            <p:ph type="ftr" sz="quarter" idx="2"/>
          </p:nvPr>
        </p:nvSpPr>
        <p:spPr>
          <a:xfrm>
            <a:off x="0" y="8685213"/>
            <a:ext cx="55626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Tree>
    <p:extLst>
      <p:ext uri="{BB962C8B-B14F-4D97-AF65-F5344CB8AC3E}">
        <p14:creationId xmlns:p14="http://schemas.microsoft.com/office/powerpoint/2010/main" val="37389489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74D1145D-0C6A-427A-BFFB-BA49C7DEF5D3}" type="datetimeFigureOut">
              <a:rPr lang="en-US"/>
              <a:pPr>
                <a:defRPr/>
              </a:pPr>
              <a:t>1/14/2026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E5AA1C-3A4A-4E86-88DD-FDD0A0056FE6}" type="slidenum">
              <a:rPr lang="en-US"/>
              <a:pPr>
                <a:defRPr/>
              </a:pPr>
              <a:t>‹#›</a:t>
            </a:fld>
            <a:endParaRPr lang="en-US"/>
          </a:p>
        </p:txBody>
      </p:sp>
    </p:spTree>
    <p:extLst>
      <p:ext uri="{BB962C8B-B14F-4D97-AF65-F5344CB8AC3E}">
        <p14:creationId xmlns:p14="http://schemas.microsoft.com/office/powerpoint/2010/main" val="383142828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ＭＳ Ｐゴシック" pitchFamily="-72" charset="-128"/>
        <a:cs typeface="ＭＳ Ｐゴシック" pitchFamily="-72" charset="-128"/>
      </a:defRPr>
    </a:lvl1pPr>
    <a:lvl2pPr marL="457200" algn="l" rtl="0" fontAlgn="base">
      <a:spcBef>
        <a:spcPct val="30000"/>
      </a:spcBef>
      <a:spcAft>
        <a:spcPct val="0"/>
      </a:spcAft>
      <a:defRPr sz="1200" kern="1200">
        <a:solidFill>
          <a:schemeClr val="tx1"/>
        </a:solidFill>
        <a:latin typeface="+mn-lt"/>
        <a:ea typeface="ＭＳ Ｐゴシック" pitchFamily="-72" charset="-128"/>
        <a:cs typeface="+mn-cs"/>
      </a:defRPr>
    </a:lvl2pPr>
    <a:lvl3pPr marL="914400" algn="l" rtl="0" fontAlgn="base">
      <a:spcBef>
        <a:spcPct val="30000"/>
      </a:spcBef>
      <a:spcAft>
        <a:spcPct val="0"/>
      </a:spcAft>
      <a:defRPr sz="1200" kern="1200">
        <a:solidFill>
          <a:schemeClr val="tx1"/>
        </a:solidFill>
        <a:latin typeface="+mn-lt"/>
        <a:ea typeface="ＭＳ Ｐゴシック" pitchFamily="-72" charset="-128"/>
        <a:cs typeface="+mn-cs"/>
      </a:defRPr>
    </a:lvl3pPr>
    <a:lvl4pPr marL="1371600" algn="l" rtl="0" fontAlgn="base">
      <a:spcBef>
        <a:spcPct val="30000"/>
      </a:spcBef>
      <a:spcAft>
        <a:spcPct val="0"/>
      </a:spcAft>
      <a:defRPr sz="1200" kern="1200">
        <a:solidFill>
          <a:schemeClr val="tx1"/>
        </a:solidFill>
        <a:latin typeface="+mn-lt"/>
        <a:ea typeface="ＭＳ Ｐゴシック" pitchFamily="-72" charset="-128"/>
        <a:cs typeface="+mn-cs"/>
      </a:defRPr>
    </a:lvl4pPr>
    <a:lvl5pPr marL="1828800" algn="l" rtl="0" fontAlgn="base">
      <a:spcBef>
        <a:spcPct val="30000"/>
      </a:spcBef>
      <a:spcAft>
        <a:spcPct val="0"/>
      </a:spcAft>
      <a:defRPr sz="1200" kern="1200">
        <a:solidFill>
          <a:schemeClr val="tx1"/>
        </a:solidFill>
        <a:latin typeface="+mn-lt"/>
        <a:ea typeface="ＭＳ Ｐゴシック" pitchFamily="-72"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Welcome, folks! I hope you’re having a great week at </a:t>
            </a:r>
            <a:r>
              <a:rPr lang="en-US" dirty="0" err="1"/>
              <a:t>CodeMash</a:t>
            </a:r>
            <a:r>
              <a:rPr lang="en-US" dirty="0"/>
              <a:t>! Welcome to the first day of regular sessions. In this session, we’ll be looking at .NET MAUI and the Community Toolkits.</a:t>
            </a:r>
          </a:p>
        </p:txBody>
      </p:sp>
      <p:sp>
        <p:nvSpPr>
          <p:cNvPr id="163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46988B0C-D0FA-4593-BF38-A7BA3E9A5D69}" type="slidenum">
              <a:rPr lang="en-US">
                <a:ea typeface="ＭＳ Ｐゴシック" pitchFamily="-72" charset="-128"/>
                <a:cs typeface="ＭＳ Ｐゴシック" pitchFamily="-72" charset="-128"/>
              </a:rPr>
              <a:pPr fontAlgn="base">
                <a:spcBef>
                  <a:spcPct val="0"/>
                </a:spcBef>
                <a:spcAft>
                  <a:spcPct val="0"/>
                </a:spcAft>
              </a:pPr>
              <a:t>1</a:t>
            </a:fld>
            <a:endParaRPr lang="en-US">
              <a:ea typeface="ＭＳ Ｐゴシック" pitchFamily="-72" charset="-128"/>
              <a:cs typeface="ＭＳ Ｐゴシック" pitchFamily="-72"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don’t forget to visit the </a:t>
            </a:r>
            <a:r>
              <a:rPr lang="en-US" dirty="0" err="1"/>
              <a:t>CodeMash</a:t>
            </a:r>
            <a:r>
              <a:rPr lang="en-US" dirty="0"/>
              <a:t> sponsors this week and thank them for making this event possible.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a:t>
            </a:fld>
            <a:endParaRPr lang="en-US"/>
          </a:p>
        </p:txBody>
      </p:sp>
    </p:spTree>
    <p:extLst>
      <p:ext uri="{BB962C8B-B14F-4D97-AF65-F5344CB8AC3E}">
        <p14:creationId xmlns:p14="http://schemas.microsoft.com/office/powerpoint/2010/main" val="2955038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We will cover an introduction to .NET MAUI, development tools, rapid app building techniques, enhancing apps with the MAUI Community Toolkit, architectural patterns like MVVM, styling options, platform-specific features, and conclude with a Q&amp;A session.</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3</a:t>
            </a:fld>
            <a:endParaRPr lang="en-US"/>
          </a:p>
        </p:txBody>
      </p:sp>
    </p:spTree>
    <p:extLst>
      <p:ext uri="{BB962C8B-B14F-4D97-AF65-F5344CB8AC3E}">
        <p14:creationId xmlns:p14="http://schemas.microsoft.com/office/powerpoint/2010/main" val="3557484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background about me…</a:t>
            </a:r>
          </a:p>
          <a:p>
            <a:endParaRPr lang="en-US" dirty="0"/>
          </a:p>
          <a:p>
            <a:r>
              <a:rPr lang="en-US" dirty="0"/>
              <a:t>For those who don’t know me, I’ve been in the software industry since 1995, with most of that time (over 25) years spent as a developer and architect using various Microsoft technologies.</a:t>
            </a:r>
          </a:p>
          <a:p>
            <a:endParaRPr lang="en-US" dirty="0"/>
          </a:p>
          <a:p>
            <a:r>
              <a:rPr lang="en-US" dirty="0"/>
              <a:t>Some of you may also be familiar with my blog, the Morning Dew, where I’ve been posting daily links for .NET developers since 2007.</a:t>
            </a:r>
          </a:p>
          <a:p>
            <a:endParaRPr lang="en-US" dirty="0"/>
          </a:p>
          <a:p>
            <a:r>
              <a:rPr lang="en-US" dirty="0"/>
              <a:t>I also have three books from </a:t>
            </a:r>
            <a:r>
              <a:rPr lang="en-US" dirty="0" err="1"/>
              <a:t>Packt</a:t>
            </a:r>
            <a:r>
              <a:rPr lang="en-US" dirty="0"/>
              <a:t> Publishing. You can check those out on </a:t>
            </a:r>
            <a:r>
              <a:rPr lang="en-US" dirty="0" err="1"/>
              <a:t>Packt’s</a:t>
            </a:r>
            <a:r>
              <a:rPr lang="en-US" dirty="0"/>
              <a:t> website or on Amazon. Just search for my name.</a:t>
            </a:r>
          </a:p>
          <a:p>
            <a:endParaRPr lang="en-US" dirty="0"/>
          </a:p>
          <a:p>
            <a:r>
              <a:rPr lang="en-US" dirty="0"/>
              <a:t>Writing those books led me to pivot my career to technical writing. I joined Microsoft almost four years ago as a content developer. I write documentation, training modules, and code samples on Microsoft Learn. I work on the Microsoft Foundry docs team, helping to maintain the docs for Foundry’s agent tools.</a:t>
            </a:r>
          </a:p>
          <a:p>
            <a:endParaRPr lang="en-US" dirty="0"/>
          </a:p>
          <a:p>
            <a:r>
              <a:rPr lang="en-US" dirty="0"/>
              <a:t>Finally, I’m one of the founding organizers of the TechBash developer conference. We’ve been running the event in the Poconos since 2016.</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4</a:t>
            </a:fld>
            <a:endParaRPr lang="en-US"/>
          </a:p>
        </p:txBody>
      </p:sp>
    </p:spTree>
    <p:extLst>
      <p:ext uri="{BB962C8B-B14F-4D97-AF65-F5344CB8AC3E}">
        <p14:creationId xmlns:p14="http://schemas.microsoft.com/office/powerpoint/2010/main" val="3938245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TechBash 2026, our 9</a:t>
            </a:r>
            <a:r>
              <a:rPr lang="en-US" baseline="30000" dirty="0"/>
              <a:t>th</a:t>
            </a:r>
            <a:r>
              <a:rPr lang="en-US" dirty="0"/>
              <a:t> event, will be happening this fall at the Kalahari Resort in the Poconos.</a:t>
            </a:r>
          </a:p>
          <a:p>
            <a:endParaRPr lang="en-US" dirty="0"/>
          </a:p>
          <a:p>
            <a:r>
              <a:rPr lang="en-US" dirty="0"/>
              <a:t>Our content is similar to </a:t>
            </a:r>
            <a:r>
              <a:rPr lang="en-US" dirty="0" err="1"/>
              <a:t>CodeMash</a:t>
            </a:r>
            <a:r>
              <a:rPr lang="en-US" dirty="0"/>
              <a:t>, but we have one day of workshops, three days of sessions, and Family Day with kids’ sessions on Friday.</a:t>
            </a:r>
          </a:p>
          <a:p>
            <a:endParaRPr lang="en-US" dirty="0"/>
          </a:p>
          <a:p>
            <a:r>
              <a:rPr lang="en-US" dirty="0"/>
              <a:t>Check us out at techbash.com and look for our Call for Speakers next month.</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5</a:t>
            </a:fld>
            <a:endParaRPr lang="en-US"/>
          </a:p>
        </p:txBody>
      </p:sp>
    </p:spTree>
    <p:extLst>
      <p:ext uri="{BB962C8B-B14F-4D97-AF65-F5344CB8AC3E}">
        <p14:creationId xmlns:p14="http://schemas.microsoft.com/office/powerpoint/2010/main" val="36509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Before diving into the intro material, how many of you are at least somewhat familiar with MAUI? Maybe you’ve created and run a basic Hello World app?</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fontAlgn="t"/>
            <a:r>
              <a:rPr lang="en-US" sz="1200" b="0" i="0" kern="1200" dirty="0">
                <a:solidFill>
                  <a:schemeClr val="tx1"/>
                </a:solidFill>
                <a:effectLst/>
                <a:latin typeface="+mn-lt"/>
                <a:ea typeface="ＭＳ Ｐゴシック" pitchFamily="-72" charset="-128"/>
                <a:cs typeface="ＭＳ Ｐゴシック" pitchFamily="-72" charset="-128"/>
              </a:rPr>
              <a:t>.NET MAUI stands for </a:t>
            </a:r>
            <a:r>
              <a:rPr lang="en-US" sz="1200" b="0" i="1" kern="1200" dirty="0">
                <a:solidFill>
                  <a:schemeClr val="tx1"/>
                </a:solidFill>
                <a:effectLst/>
                <a:latin typeface="+mn-lt"/>
                <a:ea typeface="ＭＳ Ｐゴシック" pitchFamily="-72" charset="-128"/>
                <a:cs typeface="ＭＳ Ｐゴシック" pitchFamily="-72" charset="-128"/>
              </a:rPr>
              <a:t>Multi‑platform App UI</a:t>
            </a:r>
            <a:r>
              <a:rPr lang="en-US" sz="1200" b="0" i="0" kern="1200" dirty="0">
                <a:solidFill>
                  <a:schemeClr val="tx1"/>
                </a:solidFill>
                <a:effectLst/>
                <a:latin typeface="+mn-lt"/>
                <a:ea typeface="ＭＳ Ｐゴシック" pitchFamily="-72" charset="-128"/>
                <a:cs typeface="ＭＳ Ｐゴシック" pitchFamily="-72" charset="-128"/>
              </a:rPr>
              <a:t>. It’s the evolution of </a:t>
            </a:r>
            <a:r>
              <a:rPr lang="en-US" sz="1200" b="0" i="0" kern="1200" dirty="0" err="1">
                <a:solidFill>
                  <a:schemeClr val="tx1"/>
                </a:solidFill>
                <a:effectLst/>
                <a:latin typeface="+mn-lt"/>
                <a:ea typeface="ＭＳ Ｐゴシック" pitchFamily="-72" charset="-128"/>
                <a:cs typeface="ＭＳ Ｐゴシック" pitchFamily="-72" charset="-128"/>
              </a:rPr>
              <a:t>Xamarin.Forms</a:t>
            </a:r>
            <a:r>
              <a:rPr lang="en-US" sz="1200" b="0" i="0" kern="1200" dirty="0">
                <a:solidFill>
                  <a:schemeClr val="tx1"/>
                </a:solidFill>
                <a:effectLst/>
                <a:latin typeface="+mn-lt"/>
                <a:ea typeface="ＭＳ Ｐゴシック" pitchFamily="-72" charset="-128"/>
                <a:cs typeface="ＭＳ Ｐゴシック" pitchFamily="-72" charset="-128"/>
              </a:rPr>
              <a:t> with a modern project structure and better performance. It was created for .NET developers who want to ship on desktop and mobile from a shared codebase.</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A single codebase reduces maintenance and accelerates development. You write once and deploy to multiple platforms, while still delivering a native look and feel. Later in the talk we’ll show how tooling and the Community Toolkits make this even faster.</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6</a:t>
            </a:fld>
            <a:endParaRPr lang="en-US"/>
          </a:p>
        </p:txBody>
      </p:sp>
    </p:spTree>
    <p:extLst>
      <p:ext uri="{BB962C8B-B14F-4D97-AF65-F5344CB8AC3E}">
        <p14:creationId xmlns:p14="http://schemas.microsoft.com/office/powerpoint/2010/main" val="1844951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Let’s talk about why a single codebase matters. With .NET MAUI, you write once and deliver to </a:t>
            </a:r>
            <a:r>
              <a:rPr lang="en-US" sz="1200" b="1" i="0" kern="1200" dirty="0">
                <a:solidFill>
                  <a:schemeClr val="tx1"/>
                </a:solidFill>
                <a:effectLst/>
                <a:latin typeface="+mn-lt"/>
                <a:ea typeface="ＭＳ Ｐゴシック" pitchFamily="-72" charset="-128"/>
                <a:cs typeface="ＭＳ Ｐゴシック" pitchFamily="-72" charset="-128"/>
              </a:rPr>
              <a:t>Windows, macOS, iOS, and Android</a:t>
            </a:r>
            <a:r>
              <a:rPr lang="en-US" sz="1200" b="0" i="0" kern="1200" dirty="0">
                <a:solidFill>
                  <a:schemeClr val="tx1"/>
                </a:solidFill>
                <a:effectLst/>
                <a:latin typeface="+mn-lt"/>
                <a:ea typeface="ＭＳ Ｐゴシック" pitchFamily="-72" charset="-128"/>
                <a:cs typeface="ＭＳ Ｐゴシック" pitchFamily="-72" charset="-128"/>
              </a:rPr>
              <a:t>—all from the same project.</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Reduced maintenance</a:t>
            </a:r>
            <a:r>
              <a:rPr lang="en-US" sz="1200" b="0" i="0" kern="1200" dirty="0">
                <a:solidFill>
                  <a:schemeClr val="tx1"/>
                </a:solidFill>
                <a:effectLst/>
                <a:latin typeface="+mn-lt"/>
                <a:ea typeface="ＭＳ Ｐゴシック" pitchFamily="-72" charset="-128"/>
                <a:cs typeface="ＭＳ Ｐゴシック" pitchFamily="-72" charset="-128"/>
              </a:rPr>
              <a:t> means fewer projects, fewer duplicated fixes. One change in shared code propagates across platforms, which lowers our bug surface and speeds up updates.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Faster development:</a:t>
            </a:r>
            <a:r>
              <a:rPr lang="en-US" sz="1200" b="0" i="0" kern="1200" dirty="0">
                <a:solidFill>
                  <a:schemeClr val="tx1"/>
                </a:solidFill>
                <a:effectLst/>
                <a:latin typeface="+mn-lt"/>
                <a:ea typeface="ＭＳ Ｐゴシック" pitchFamily="-72" charset="-128"/>
                <a:cs typeface="ＭＳ Ｐゴシック" pitchFamily="-72" charset="-128"/>
              </a:rPr>
              <a:t> Reuse UI, services, and business logic. With a single project and shared resources, you spend more time building features and less time wiring platform-specific plumbing.</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Consistent user experience:</a:t>
            </a:r>
            <a:r>
              <a:rPr lang="en-US" sz="1200" b="0" i="0" kern="1200" dirty="0">
                <a:solidFill>
                  <a:schemeClr val="tx1"/>
                </a:solidFill>
                <a:effectLst/>
                <a:latin typeface="+mn-lt"/>
                <a:ea typeface="ＭＳ Ｐゴシック" pitchFamily="-72" charset="-128"/>
                <a:cs typeface="ＭＳ Ｐゴシック" pitchFamily="-72" charset="-128"/>
              </a:rPr>
              <a:t> A unified codebase makes it easier to keep behavior and design consistent across devices, while still using native controls under the hood for platform fidelity.</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MAUI’s single-project model and cross-platform APIs simplify targeting multiple OSes, and you can still access platform-specific features when needed.</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Think about a shared settings page or an app theme—implement it once, and it runs on desktop and mobile with native look &amp; feel.</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7</a:t>
            </a:fld>
            <a:endParaRPr lang="en-US"/>
          </a:p>
        </p:txBody>
      </p:sp>
    </p:spTree>
    <p:extLst>
      <p:ext uri="{BB962C8B-B14F-4D97-AF65-F5344CB8AC3E}">
        <p14:creationId xmlns:p14="http://schemas.microsoft.com/office/powerpoint/2010/main" val="2870781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Let’s talk about .NET MAUI vs. other cross‑platform options. The core idea is with MAUI you get a single .NET codebase that targets </a:t>
            </a:r>
            <a:r>
              <a:rPr lang="en-US" sz="1200" b="1" i="0" kern="1200" dirty="0">
                <a:solidFill>
                  <a:schemeClr val="tx1"/>
                </a:solidFill>
                <a:effectLst/>
                <a:latin typeface="+mn-lt"/>
                <a:ea typeface="ＭＳ Ｐゴシック" pitchFamily="-72" charset="-128"/>
                <a:cs typeface="ＭＳ Ｐゴシック" pitchFamily="-72" charset="-128"/>
              </a:rPr>
              <a:t>Windows, macOS, iOS, and Android</a:t>
            </a:r>
            <a:r>
              <a:rPr lang="en-US" sz="1200" b="0" i="0" kern="1200" dirty="0">
                <a:solidFill>
                  <a:schemeClr val="tx1"/>
                </a:solidFill>
                <a:effectLst/>
                <a:latin typeface="+mn-lt"/>
                <a:ea typeface="ＭＳ Ｐゴシック" pitchFamily="-72" charset="-128"/>
                <a:cs typeface="ＭＳ Ｐゴシック" pitchFamily="-72" charset="-128"/>
              </a:rPr>
              <a:t>, while still delivering native UI and performance on each platform. .NET is the key advantage. If you’re already a C# developer, you have a leg up when choosing MAUI.</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MAUI is the evolution of </a:t>
            </a:r>
            <a:r>
              <a:rPr lang="en-US" sz="1200" b="0" i="0" kern="1200" dirty="0" err="1">
                <a:solidFill>
                  <a:schemeClr val="tx1"/>
                </a:solidFill>
                <a:effectLst/>
                <a:latin typeface="+mn-lt"/>
                <a:ea typeface="ＭＳ Ｐゴシック" pitchFamily="-72" charset="-128"/>
                <a:cs typeface="ＭＳ Ｐゴシック" pitchFamily="-72" charset="-128"/>
              </a:rPr>
              <a:t>Xamarin.Forms</a:t>
            </a:r>
            <a:r>
              <a:rPr lang="en-US" sz="1200" b="0" i="0" kern="1200" dirty="0">
                <a:solidFill>
                  <a:schemeClr val="tx1"/>
                </a:solidFill>
                <a:effectLst/>
                <a:latin typeface="+mn-lt"/>
                <a:ea typeface="ＭＳ Ｐゴシック" pitchFamily="-72" charset="-128"/>
                <a:cs typeface="ＭＳ Ｐゴシック" pitchFamily="-72" charset="-128"/>
              </a:rPr>
              <a:t>, rebuilt for performance and a single‑project model. On Windows it uses </a:t>
            </a:r>
            <a:r>
              <a:rPr lang="en-US" sz="1200" b="1" i="0" kern="1200" dirty="0">
                <a:solidFill>
                  <a:schemeClr val="tx1"/>
                </a:solidFill>
                <a:effectLst/>
                <a:latin typeface="+mn-lt"/>
                <a:ea typeface="ＭＳ Ｐゴシック" pitchFamily="-72" charset="-128"/>
                <a:cs typeface="ＭＳ Ｐゴシック" pitchFamily="-72" charset="-128"/>
              </a:rPr>
              <a:t>WinUI 3</a:t>
            </a:r>
            <a:r>
              <a:rPr lang="en-US" sz="1200" b="0" i="0" kern="1200" dirty="0">
                <a:solidFill>
                  <a:schemeClr val="tx1"/>
                </a:solidFill>
                <a:effectLst/>
                <a:latin typeface="+mn-lt"/>
                <a:ea typeface="ＭＳ Ｐゴシック" pitchFamily="-72" charset="-128"/>
                <a:cs typeface="ＭＳ Ｐゴシック" pitchFamily="-72" charset="-128"/>
              </a:rPr>
              <a:t> and the Windows App SDK, so your MAUI app on Windows feels like a native WinUI app while sharing most code across platforms.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You can write UI in XAML or C# and access platform APIs via a unified .NET surface; when you need it, you can add platform‑specific code. That balance keeps the ‘write once, run anywhere’ workflow practical.</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React Native (and React Native for Windows)</a:t>
            </a:r>
            <a:r>
              <a:rPr lang="en-US" sz="1200" b="0" i="0" kern="1200" dirty="0">
                <a:solidFill>
                  <a:schemeClr val="tx1"/>
                </a:solidFill>
                <a:effectLst/>
                <a:latin typeface="+mn-lt"/>
                <a:ea typeface="ＭＳ Ｐゴシック" pitchFamily="-72" charset="-128"/>
                <a:cs typeface="ＭＳ Ｐゴシック" pitchFamily="-72" charset="-128"/>
              </a:rPr>
              <a:t> — JavaScript/TypeScript with a bridge to native controls; strong for teams already invested in React. MAUI’s advantage is </a:t>
            </a:r>
            <a:r>
              <a:rPr lang="en-US" sz="1200" b="1" i="0" kern="1200" dirty="0">
                <a:solidFill>
                  <a:schemeClr val="tx1"/>
                </a:solidFill>
                <a:effectLst/>
                <a:latin typeface="+mn-lt"/>
                <a:ea typeface="ＭＳ Ｐゴシック" pitchFamily="-72" charset="-128"/>
                <a:cs typeface="ＭＳ Ｐゴシック" pitchFamily="-72" charset="-128"/>
              </a:rPr>
              <a:t>C#/.NET</a:t>
            </a:r>
            <a:r>
              <a:rPr lang="en-US" sz="1200" b="0" i="0" kern="1200" dirty="0">
                <a:solidFill>
                  <a:schemeClr val="tx1"/>
                </a:solidFill>
                <a:effectLst/>
                <a:latin typeface="+mn-lt"/>
                <a:ea typeface="ＭＳ Ｐゴシック" pitchFamily="-72" charset="-128"/>
                <a:cs typeface="ＭＳ Ｐゴシック" pitchFamily="-72" charset="-128"/>
              </a:rPr>
              <a:t> end‑to‑end and first‑class WinUI support on Windows.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Flutter</a:t>
            </a:r>
            <a:r>
              <a:rPr lang="en-US" sz="1200" b="0" i="0" kern="1200" dirty="0">
                <a:solidFill>
                  <a:schemeClr val="tx1"/>
                </a:solidFill>
                <a:effectLst/>
                <a:latin typeface="+mn-lt"/>
                <a:ea typeface="ＭＳ Ｐゴシック" pitchFamily="-72" charset="-128"/>
                <a:cs typeface="ＭＳ Ｐゴシック" pitchFamily="-72" charset="-128"/>
              </a:rPr>
              <a:t> — Dart + </a:t>
            </a:r>
            <a:r>
              <a:rPr lang="en-US" sz="1200" b="0" i="0" kern="1200" dirty="0" err="1">
                <a:solidFill>
                  <a:schemeClr val="tx1"/>
                </a:solidFill>
                <a:effectLst/>
                <a:latin typeface="+mn-lt"/>
                <a:ea typeface="ＭＳ Ｐゴシック" pitchFamily="-72" charset="-128"/>
                <a:cs typeface="ＭＳ Ｐゴシック" pitchFamily="-72" charset="-128"/>
              </a:rPr>
              <a:t>Skia</a:t>
            </a:r>
            <a:r>
              <a:rPr lang="en-US" sz="1200" b="0" i="0" kern="1200" dirty="0">
                <a:solidFill>
                  <a:schemeClr val="tx1"/>
                </a:solidFill>
                <a:effectLst/>
                <a:latin typeface="+mn-lt"/>
                <a:ea typeface="ＭＳ Ｐゴシック" pitchFamily="-72" charset="-128"/>
                <a:cs typeface="ＭＳ Ｐゴシック" pitchFamily="-72" charset="-128"/>
              </a:rPr>
              <a:t> rendering gives consistent UI across platforms, but it’s not using native platform elements on Windows; MAUI uses the native UI on each platform, which can improve platform‑specific behavior and accessibility.</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Blazor Hybrid</a:t>
            </a:r>
            <a:r>
              <a:rPr lang="en-US" sz="1200" b="0" i="0" kern="1200" dirty="0">
                <a:solidFill>
                  <a:schemeClr val="tx1"/>
                </a:solidFill>
                <a:effectLst/>
                <a:latin typeface="+mn-lt"/>
                <a:ea typeface="ＭＳ Ｐゴシック" pitchFamily="-72" charset="-128"/>
                <a:cs typeface="ＭＳ Ｐゴシック" pitchFamily="-72" charset="-128"/>
              </a:rPr>
              <a:t> — Great when you want to reuse web UI with .NET; it’s a strong fit if your team is already Blazor‑centric. MAUI remains the go‑to for native UI scenarios with XAML/C# while still allowing Blazor where it makes sense.</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1"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PWAs</a:t>
            </a:r>
            <a:r>
              <a:rPr lang="en-US" sz="1200" b="0" i="0" kern="1200" dirty="0">
                <a:solidFill>
                  <a:schemeClr val="tx1"/>
                </a:solidFill>
                <a:effectLst/>
                <a:latin typeface="+mn-lt"/>
                <a:ea typeface="ＭＳ Ｐゴシック" pitchFamily="-72" charset="-128"/>
                <a:cs typeface="ＭＳ Ｐゴシック" pitchFamily="-72" charset="-128"/>
              </a:rPr>
              <a:t> — Fast to ship and easy to update, but they’re web‑first and don’t provide native controls or the same access to device features as MAUI.</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Next, we’ll look at the tooling that makes this practical.</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8</a:t>
            </a:fld>
            <a:endParaRPr lang="en-US"/>
          </a:p>
        </p:txBody>
      </p:sp>
    </p:spTree>
    <p:extLst>
      <p:ext uri="{BB962C8B-B14F-4D97-AF65-F5344CB8AC3E}">
        <p14:creationId xmlns:p14="http://schemas.microsoft.com/office/powerpoint/2010/main" val="3794117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Now, the tools you’ll use to build .NET MAUI apps. The two primary IDEs are </a:t>
            </a:r>
            <a:r>
              <a:rPr lang="en-US" sz="1200" b="1" i="0" kern="1200" dirty="0">
                <a:solidFill>
                  <a:schemeClr val="tx1"/>
                </a:solidFill>
                <a:effectLst/>
                <a:latin typeface="+mn-lt"/>
                <a:ea typeface="ＭＳ Ｐゴシック" pitchFamily="-72" charset="-128"/>
                <a:cs typeface="ＭＳ Ｐゴシック" pitchFamily="-72" charset="-128"/>
              </a:rPr>
              <a:t>Visual Studio</a:t>
            </a:r>
            <a:r>
              <a:rPr lang="en-US" sz="1200" b="0" i="0" kern="1200" dirty="0">
                <a:solidFill>
                  <a:schemeClr val="tx1"/>
                </a:solidFill>
                <a:effectLst/>
                <a:latin typeface="+mn-lt"/>
                <a:ea typeface="ＭＳ Ｐゴシック" pitchFamily="-72" charset="-128"/>
                <a:cs typeface="ＭＳ Ｐゴシック" pitchFamily="-72" charset="-128"/>
              </a:rPr>
              <a:t> (Windows) and </a:t>
            </a:r>
            <a:r>
              <a:rPr lang="en-US" sz="1200" b="1" i="0" kern="1200" dirty="0">
                <a:solidFill>
                  <a:schemeClr val="tx1"/>
                </a:solidFill>
                <a:effectLst/>
                <a:latin typeface="+mn-lt"/>
                <a:ea typeface="ＭＳ Ｐゴシック" pitchFamily="-72" charset="-128"/>
                <a:cs typeface="ＭＳ Ｐゴシック" pitchFamily="-72" charset="-128"/>
              </a:rPr>
              <a:t>VS Code</a:t>
            </a:r>
            <a:r>
              <a:rPr lang="en-US" sz="1200" b="0" i="0" kern="1200" dirty="0">
                <a:solidFill>
                  <a:schemeClr val="tx1"/>
                </a:solidFill>
                <a:effectLst/>
                <a:latin typeface="+mn-lt"/>
                <a:ea typeface="ＭＳ Ｐゴシック" pitchFamily="-72" charset="-128"/>
                <a:cs typeface="ＭＳ Ｐゴシック" pitchFamily="-72" charset="-128"/>
              </a:rPr>
              <a:t> (Windows and macOS), with </a:t>
            </a:r>
            <a:r>
              <a:rPr lang="en-US" sz="1200" b="1" i="0" kern="1200" dirty="0">
                <a:solidFill>
                  <a:schemeClr val="tx1"/>
                </a:solidFill>
                <a:effectLst/>
                <a:latin typeface="+mn-lt"/>
                <a:ea typeface="ＭＳ Ｐゴシック" pitchFamily="-72" charset="-128"/>
                <a:cs typeface="ＭＳ Ｐゴシック" pitchFamily="-72" charset="-128"/>
              </a:rPr>
              <a:t>JetBrains Rider</a:t>
            </a:r>
            <a:r>
              <a:rPr lang="en-US" sz="1200" b="0" i="0" kern="1200" dirty="0">
                <a:solidFill>
                  <a:schemeClr val="tx1"/>
                </a:solidFill>
                <a:effectLst/>
                <a:latin typeface="+mn-lt"/>
                <a:ea typeface="ＭＳ Ｐゴシック" pitchFamily="-72" charset="-128"/>
                <a:cs typeface="ＭＳ Ｐゴシック" pitchFamily="-72" charset="-128"/>
              </a:rPr>
              <a:t> as an alternative for Mac and Windows users who prefer it. All of them support the .NET MAUI workflows we’ll cover.</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Visual Studio is the most fully featured option for MAUI with built‑in project templates, device emulators, the </a:t>
            </a:r>
            <a:r>
              <a:rPr lang="en-US" sz="1200" b="1" i="0" kern="1200" dirty="0">
                <a:solidFill>
                  <a:schemeClr val="tx1"/>
                </a:solidFill>
                <a:effectLst/>
                <a:latin typeface="+mn-lt"/>
                <a:ea typeface="ＭＳ Ｐゴシック" pitchFamily="-72" charset="-128"/>
                <a:cs typeface="ＭＳ Ｐゴシック" pitchFamily="-72" charset="-128"/>
              </a:rPr>
              <a:t>Hot Reload</a:t>
            </a:r>
            <a:r>
              <a:rPr lang="en-US" sz="1200" b="0" i="0" kern="1200" dirty="0">
                <a:solidFill>
                  <a:schemeClr val="tx1"/>
                </a:solidFill>
                <a:effectLst/>
                <a:latin typeface="+mn-lt"/>
                <a:ea typeface="ＭＳ Ｐゴシック" pitchFamily="-72" charset="-128"/>
                <a:cs typeface="ＭＳ Ｐゴシック" pitchFamily="-72" charset="-128"/>
              </a:rPr>
              <a:t> experience for both XAML and C# code, and the </a:t>
            </a:r>
            <a:r>
              <a:rPr lang="en-US" sz="1200" b="1" i="0" kern="1200" dirty="0">
                <a:solidFill>
                  <a:schemeClr val="tx1"/>
                </a:solidFill>
                <a:effectLst/>
                <a:latin typeface="+mn-lt"/>
                <a:ea typeface="ＭＳ Ｐゴシック" pitchFamily="-72" charset="-128"/>
                <a:cs typeface="ＭＳ Ｐゴシック" pitchFamily="-72" charset="-128"/>
              </a:rPr>
              <a:t>Live Visual Tree</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Binding Failures</a:t>
            </a:r>
            <a:r>
              <a:rPr lang="en-US" sz="1200" b="0" i="0" kern="1200" dirty="0">
                <a:solidFill>
                  <a:schemeClr val="tx1"/>
                </a:solidFill>
                <a:effectLst/>
                <a:latin typeface="+mn-lt"/>
                <a:ea typeface="ＭＳ Ｐゴシック" pitchFamily="-72" charset="-128"/>
                <a:cs typeface="ＭＳ Ｐゴシック" pitchFamily="-72" charset="-128"/>
              </a:rPr>
              <a:t> windows for rapid UI debugging.</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VS Code is a lighter, cross‑platform editor that can still be very productive for MAUI with the right extensions—project scaffolding, build/publish helpers, and the </a:t>
            </a:r>
            <a:r>
              <a:rPr lang="en-US" sz="1200" b="1" i="0" kern="1200" dirty="0">
                <a:solidFill>
                  <a:schemeClr val="tx1"/>
                </a:solidFill>
                <a:effectLst/>
                <a:latin typeface="+mn-lt"/>
                <a:ea typeface="ＭＳ Ｐゴシック" pitchFamily="-72" charset="-128"/>
                <a:cs typeface="ＭＳ Ｐゴシック" pitchFamily="-72" charset="-128"/>
              </a:rPr>
              <a:t>MAUI Archive &amp; Publish</a:t>
            </a:r>
            <a:r>
              <a:rPr lang="en-US" sz="1200" b="0" i="0" kern="1200" dirty="0">
                <a:solidFill>
                  <a:schemeClr val="tx1"/>
                </a:solidFill>
                <a:effectLst/>
                <a:latin typeface="+mn-lt"/>
                <a:ea typeface="ＭＳ Ｐゴシック" pitchFamily="-72" charset="-128"/>
                <a:cs typeface="ＭＳ Ｐゴシック" pitchFamily="-72" charset="-128"/>
              </a:rPr>
              <a:t> extension for packaging iOS/Android from VS Code.</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It’s great for quick iterations, C# Markup work, and people who prefer a lean editor while keeping the same .NET toolchain.</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Rider is a solid alternative if you’re already in the JetBrains ecosystem; it supports .NET MAUI projects with the usual Rider tooling, debugging, and </a:t>
            </a:r>
            <a:r>
              <a:rPr lang="en-US" sz="1200" b="0" i="0" kern="1200" dirty="0" err="1">
                <a:solidFill>
                  <a:schemeClr val="tx1"/>
                </a:solidFill>
                <a:effectLst/>
                <a:latin typeface="+mn-lt"/>
                <a:ea typeface="ＭＳ Ｐゴシック" pitchFamily="-72" charset="-128"/>
                <a:cs typeface="ＭＳ Ｐゴシック" pitchFamily="-72" charset="-128"/>
              </a:rPr>
              <a:t>refactorings</a:t>
            </a:r>
            <a:r>
              <a:rPr lang="en-US" sz="1200" b="0" i="0" kern="1200" dirty="0">
                <a:solidFill>
                  <a:schemeClr val="tx1"/>
                </a:solidFill>
                <a:effectLst/>
                <a:latin typeface="+mn-lt"/>
                <a:ea typeface="ＭＳ Ｐゴシック" pitchFamily="-72" charset="-128"/>
                <a:cs typeface="ＭＳ Ｐゴシック" pitchFamily="-72" charset="-128"/>
              </a:rPr>
              <a:t>. It’s a good choice when your team standardizes on Rider or you need a richer </a:t>
            </a:r>
            <a:r>
              <a:rPr lang="en-US" sz="1200" b="0" i="0" kern="1200">
                <a:solidFill>
                  <a:schemeClr val="tx1"/>
                </a:solidFill>
                <a:effectLst/>
                <a:latin typeface="+mn-lt"/>
                <a:ea typeface="ＭＳ Ｐゴシック" pitchFamily="-72" charset="-128"/>
                <a:cs typeface="ＭＳ Ｐゴシック" pitchFamily="-72" charset="-128"/>
              </a:rPr>
              <a:t>dev experience on macOS.</a:t>
            </a: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 </a:t>
            </a:r>
            <a:r>
              <a:rPr lang="en-US" sz="1200" b="1" i="0" kern="1200" dirty="0">
                <a:solidFill>
                  <a:schemeClr val="tx1"/>
                </a:solidFill>
                <a:effectLst/>
                <a:latin typeface="+mn-lt"/>
                <a:ea typeface="ＭＳ Ｐゴシック" pitchFamily="-72" charset="-128"/>
                <a:cs typeface="ＭＳ Ｐゴシック" pitchFamily="-72" charset="-128"/>
              </a:rPr>
              <a:t>.NET CLI</a:t>
            </a:r>
            <a:r>
              <a:rPr lang="en-US" sz="1200" b="0" i="0" kern="1200" dirty="0">
                <a:solidFill>
                  <a:schemeClr val="tx1"/>
                </a:solidFill>
                <a:effectLst/>
                <a:latin typeface="+mn-lt"/>
                <a:ea typeface="ＭＳ Ｐゴシック" pitchFamily="-72" charset="-128"/>
                <a:cs typeface="ＭＳ Ｐゴシック" pitchFamily="-72" charset="-128"/>
              </a:rPr>
              <a:t> powers builds, workloads, and templates.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9</a:t>
            </a:fld>
            <a:endParaRPr lang="en-US"/>
          </a:p>
        </p:txBody>
      </p:sp>
    </p:spTree>
    <p:extLst>
      <p:ext uri="{BB962C8B-B14F-4D97-AF65-F5344CB8AC3E}">
        <p14:creationId xmlns:p14="http://schemas.microsoft.com/office/powerpoint/2010/main" val="3368702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Let’s highlight the tooling that makes cross‑platform development fast and reliable in .NET MAUI. These are the core features I use every day: Hot Reload, the Live Visual Tree, the Binding Failures window, and testing across device emulators and real hardware.</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With XAML Hot Reload you can change XAML while the app is running and see updates instantly—no stop/start cycle. It works for .NET MAUI (and other platforms like WPF and WinUI). It’s a big time‑saver when tuning layouts and styles. </a:t>
            </a:r>
            <a:r>
              <a:rPr lang="en-US" sz="1200" b="0" i="1" kern="1200" dirty="0">
                <a:solidFill>
                  <a:schemeClr val="tx1"/>
                </a:solidFill>
                <a:effectLst/>
                <a:latin typeface="+mn-lt"/>
                <a:ea typeface="ＭＳ Ｐゴシック" pitchFamily="-72" charset="-128"/>
                <a:cs typeface="ＭＳ Ｐゴシック" pitchFamily="-72" charset="-128"/>
              </a:rPr>
              <a:t>Tip:</a:t>
            </a:r>
            <a:r>
              <a:rPr lang="en-US" sz="1200" b="0" i="0" kern="1200" dirty="0">
                <a:solidFill>
                  <a:schemeClr val="tx1"/>
                </a:solidFill>
                <a:effectLst/>
                <a:latin typeface="+mn-lt"/>
                <a:ea typeface="ＭＳ Ｐゴシック" pitchFamily="-72" charset="-128"/>
                <a:cs typeface="ＭＳ Ｐゴシック" pitchFamily="-72" charset="-128"/>
              </a:rPr>
              <a:t> If you’re doing performance profiling, consider turning Hot Reload off, because it adds diagnostic overhead that can affect CPU/memory readings.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the Live Visual Tree to inspect the runtime UI hierarchy and quickly locate elements. If a binding isn’t working, the </a:t>
            </a:r>
            <a:r>
              <a:rPr lang="en-US" sz="1200" b="1" i="0" kern="1200" dirty="0">
                <a:solidFill>
                  <a:schemeClr val="tx1"/>
                </a:solidFill>
                <a:effectLst/>
                <a:latin typeface="+mn-lt"/>
                <a:ea typeface="ＭＳ Ｐゴシック" pitchFamily="-72" charset="-128"/>
                <a:cs typeface="ＭＳ Ｐゴシック" pitchFamily="-72" charset="-128"/>
              </a:rPr>
              <a:t>XAML Binding Failures</a:t>
            </a:r>
            <a:r>
              <a:rPr lang="en-US" sz="1200" b="0" i="0" kern="1200" dirty="0">
                <a:solidFill>
                  <a:schemeClr val="tx1"/>
                </a:solidFill>
                <a:effectLst/>
                <a:latin typeface="+mn-lt"/>
                <a:ea typeface="ＭＳ Ｐゴシック" pitchFamily="-72" charset="-128"/>
                <a:cs typeface="ＭＳ Ｐゴシック" pitchFamily="-72" charset="-128"/>
              </a:rPr>
              <a:t> window shows failures in a searchable, sortable list. This is far better than digging through the Output window, which is what we used to do to find failures. It’s especially helpful when your view model properties or </a:t>
            </a:r>
            <a:r>
              <a:rPr lang="en-US" sz="1200" b="0" i="0" kern="1200" dirty="0" err="1">
                <a:solidFill>
                  <a:schemeClr val="tx1"/>
                </a:solidFill>
                <a:effectLst/>
                <a:latin typeface="+mn-lt"/>
                <a:ea typeface="ＭＳ Ｐゴシック" pitchFamily="-72" charset="-128"/>
                <a:cs typeface="ＭＳ Ｐゴシック" pitchFamily="-72" charset="-128"/>
              </a:rPr>
              <a:t>DataContext</a:t>
            </a:r>
            <a:r>
              <a:rPr lang="en-US" sz="1200" b="0" i="0" kern="1200" dirty="0">
                <a:solidFill>
                  <a:schemeClr val="tx1"/>
                </a:solidFill>
                <a:effectLst/>
                <a:latin typeface="+mn-lt"/>
                <a:ea typeface="ＭＳ Ｐゴシック" pitchFamily="-72" charset="-128"/>
                <a:cs typeface="ＭＳ Ｐゴシック" pitchFamily="-72" charset="-128"/>
              </a:rPr>
              <a:t> change.</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Run and debug apps on Android emulators and iOS simulators to catch platform‑specific layout or behavior issues early. For macOS/iOS debugging from Windows, you can </a:t>
            </a:r>
            <a:r>
              <a:rPr lang="en-US" sz="1200" b="1" i="0" kern="1200" dirty="0">
                <a:solidFill>
                  <a:schemeClr val="tx1"/>
                </a:solidFill>
                <a:effectLst/>
                <a:latin typeface="+mn-lt"/>
                <a:ea typeface="ＭＳ Ｐゴシック" pitchFamily="-72" charset="-128"/>
                <a:cs typeface="ＭＳ Ｐゴシック" pitchFamily="-72" charset="-128"/>
              </a:rPr>
              <a:t>connect to a Mac</a:t>
            </a:r>
            <a:r>
              <a:rPr lang="en-US" sz="1200" b="0" i="0" kern="1200" dirty="0">
                <a:solidFill>
                  <a:schemeClr val="tx1"/>
                </a:solidFill>
                <a:effectLst/>
                <a:latin typeface="+mn-lt"/>
                <a:ea typeface="ＭＳ Ｐゴシック" pitchFamily="-72" charset="-128"/>
                <a:cs typeface="ＭＳ Ｐゴシック" pitchFamily="-72" charset="-128"/>
              </a:rPr>
              <a:t>. You still get the full debugger experience.</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When you need to validate sensors, camera, or file access, run on a provisioned device. This helps confirm permissions and platform quirks that emulators sometimes mask.</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Together, these tools reduce iteration time and surface issues early—so you can keep the single codebase advantage without the risk platform quirks. In short: edit fast, inspect deeply, and test everywhere.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10</a:t>
            </a:fld>
            <a:endParaRPr lang="en-US"/>
          </a:p>
        </p:txBody>
      </p:sp>
    </p:spTree>
    <p:extLst>
      <p:ext uri="{BB962C8B-B14F-4D97-AF65-F5344CB8AC3E}">
        <p14:creationId xmlns:p14="http://schemas.microsoft.com/office/powerpoint/2010/main" val="1395849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ＭＳ Ｐゴシック" pitchFamily="-72" charset="-128"/>
                <a:cs typeface="ＭＳ Ｐゴシック" pitchFamily="-72" charset="-128"/>
              </a:rPr>
              <a:t>This slide is all about small habits and tools that add up to big productivity gains when you build .NET MAUI apps. I’ll call out a few quick wins you can use right away.</a:t>
            </a:r>
          </a:p>
          <a:p>
            <a:pPr fontAlgn="t"/>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a:t>
            </a:r>
            <a:r>
              <a:rPr lang="en-US" sz="1200" b="1" i="0" kern="1200" dirty="0">
                <a:solidFill>
                  <a:schemeClr val="tx1"/>
                </a:solidFill>
                <a:effectLst/>
                <a:latin typeface="+mn-lt"/>
                <a:ea typeface="ＭＳ Ｐゴシック" pitchFamily="-72" charset="-128"/>
                <a:cs typeface="ＭＳ Ｐゴシック" pitchFamily="-72" charset="-128"/>
              </a:rPr>
              <a:t>XAML Hot Reload</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.NET Hot Reload</a:t>
            </a:r>
            <a:r>
              <a:rPr lang="en-US" sz="1200" b="0" i="0" kern="1200" dirty="0">
                <a:solidFill>
                  <a:schemeClr val="tx1"/>
                </a:solidFill>
                <a:effectLst/>
                <a:latin typeface="+mn-lt"/>
                <a:ea typeface="ＭＳ Ｐゴシック" pitchFamily="-72" charset="-128"/>
                <a:cs typeface="ＭＳ Ｐゴシック" pitchFamily="-72" charset="-128"/>
              </a:rPr>
              <a:t> to iterate without restarting the app. Change XAML or C# code, and the running app updates in seconds—huge time‑saver for UI tweaks and layout fixes.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Start with the built‑in </a:t>
            </a:r>
            <a:r>
              <a:rPr lang="en-US" sz="1200" b="1" i="0" kern="1200" dirty="0">
                <a:solidFill>
                  <a:schemeClr val="tx1"/>
                </a:solidFill>
                <a:effectLst/>
                <a:latin typeface="+mn-lt"/>
                <a:ea typeface="ＭＳ Ｐゴシック" pitchFamily="-72" charset="-128"/>
                <a:cs typeface="ＭＳ Ｐゴシック" pitchFamily="-72" charset="-128"/>
              </a:rPr>
              <a:t>.NET MAUI project templates</a:t>
            </a:r>
            <a:r>
              <a:rPr lang="en-US" sz="1200" b="0" i="0" kern="1200" dirty="0">
                <a:solidFill>
                  <a:schemeClr val="tx1"/>
                </a:solidFill>
                <a:effectLst/>
                <a:latin typeface="+mn-lt"/>
                <a:ea typeface="ＭＳ Ｐゴシック" pitchFamily="-72" charset="-128"/>
                <a:cs typeface="ＭＳ Ｐゴシック" pitchFamily="-72" charset="-128"/>
              </a:rPr>
              <a:t> to get the right structure, SDK refs, and platform targets. They reduce setup friction and keep projects consistent.</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On </a:t>
            </a:r>
            <a:r>
              <a:rPr lang="en-US" sz="1200" b="1" i="0" kern="1200" dirty="0">
                <a:solidFill>
                  <a:schemeClr val="tx1"/>
                </a:solidFill>
                <a:effectLst/>
                <a:latin typeface="+mn-lt"/>
                <a:ea typeface="ＭＳ Ｐゴシック" pitchFamily="-72" charset="-128"/>
                <a:cs typeface="ＭＳ Ｐゴシック" pitchFamily="-72" charset="-128"/>
              </a:rPr>
              <a:t>VS Code</a:t>
            </a:r>
            <a:r>
              <a:rPr lang="en-US" sz="1200" b="0" i="0" kern="1200" dirty="0">
                <a:solidFill>
                  <a:schemeClr val="tx1"/>
                </a:solidFill>
                <a:effectLst/>
                <a:latin typeface="+mn-lt"/>
                <a:ea typeface="ＭＳ Ｐゴシック" pitchFamily="-72" charset="-128"/>
                <a:cs typeface="ＭＳ Ｐゴシック" pitchFamily="-72" charset="-128"/>
              </a:rPr>
              <a:t>, the </a:t>
            </a:r>
            <a:r>
              <a:rPr lang="en-US" sz="1200" b="1" i="0" kern="1200" dirty="0">
                <a:solidFill>
                  <a:schemeClr val="tx1"/>
                </a:solidFill>
                <a:effectLst/>
                <a:latin typeface="+mn-lt"/>
                <a:ea typeface="ＭＳ Ｐゴシック" pitchFamily="-72" charset="-128"/>
                <a:cs typeface="ＭＳ Ｐゴシック" pitchFamily="-72" charset="-128"/>
              </a:rPr>
              <a:t>MAUI Archive &amp; Publish</a:t>
            </a:r>
            <a:r>
              <a:rPr lang="en-US" sz="1200" b="0" i="0" kern="1200" dirty="0">
                <a:solidFill>
                  <a:schemeClr val="tx1"/>
                </a:solidFill>
                <a:effectLst/>
                <a:latin typeface="+mn-lt"/>
                <a:ea typeface="ＭＳ Ｐゴシック" pitchFamily="-72" charset="-128"/>
                <a:cs typeface="ＭＳ Ｐゴシック" pitchFamily="-72" charset="-128"/>
              </a:rPr>
              <a:t> extension speeds packaging and publishing workflows—especially handy if you like a lighter editor or CI scripts.</a:t>
            </a:r>
          </a:p>
          <a:p>
            <a:pPr marL="0" marR="0" lvl="0" indent="0" algn="l" defTabSz="914400" rtl="0" eaLnBrk="1" fontAlgn="t"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t"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In </a:t>
            </a:r>
            <a:r>
              <a:rPr lang="en-US" sz="1200" b="1" i="0" kern="1200" dirty="0">
                <a:solidFill>
                  <a:schemeClr val="tx1"/>
                </a:solidFill>
                <a:effectLst/>
                <a:latin typeface="+mn-lt"/>
                <a:ea typeface="ＭＳ Ｐゴシック" pitchFamily="-72" charset="-128"/>
                <a:cs typeface="ＭＳ Ｐゴシック" pitchFamily="-72" charset="-128"/>
              </a:rPr>
              <a:t>Visual Studio</a:t>
            </a:r>
            <a:r>
              <a:rPr lang="en-US" sz="1200" b="0" i="0" kern="1200" dirty="0">
                <a:solidFill>
                  <a:schemeClr val="tx1"/>
                </a:solidFill>
                <a:effectLst/>
                <a:latin typeface="+mn-lt"/>
                <a:ea typeface="ＭＳ Ｐゴシック" pitchFamily="-72" charset="-128"/>
                <a:cs typeface="ＭＳ Ｐゴシック" pitchFamily="-72" charset="-128"/>
              </a:rPr>
              <a:t>, use the built‑in publish tooling for Windows (MSIX) and platform‑specific publishing; it keeps your release path clear. You can also leverage GitHub Copilot VS or VS Code to generate unit tests for the code in your MAUI projects.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11</a:t>
            </a:fld>
            <a:endParaRPr lang="en-US"/>
          </a:p>
        </p:txBody>
      </p:sp>
    </p:spTree>
    <p:extLst>
      <p:ext uri="{BB962C8B-B14F-4D97-AF65-F5344CB8AC3E}">
        <p14:creationId xmlns:p14="http://schemas.microsoft.com/office/powerpoint/2010/main" val="1141200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Here we’re looking at two ways to define UI in .NET MAUI: </a:t>
            </a:r>
            <a:r>
              <a:rPr lang="en-US" sz="1200" b="1" i="0" kern="1200" dirty="0">
                <a:solidFill>
                  <a:schemeClr val="tx1"/>
                </a:solidFill>
                <a:effectLst/>
                <a:latin typeface="+mn-lt"/>
                <a:ea typeface="ＭＳ Ｐゴシック" pitchFamily="-72" charset="-128"/>
                <a:cs typeface="ＭＳ Ｐゴシック" pitchFamily="-72" charset="-128"/>
              </a:rPr>
              <a:t>XAML</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C# Markup</a:t>
            </a:r>
            <a:r>
              <a:rPr lang="en-US" sz="1200" b="0" i="0" kern="1200" dirty="0">
                <a:solidFill>
                  <a:schemeClr val="tx1"/>
                </a:solidFill>
                <a:effectLst/>
                <a:latin typeface="+mn-lt"/>
                <a:ea typeface="ＭＳ Ｐゴシック" pitchFamily="-72" charset="-128"/>
                <a:cs typeface="ＭＳ Ｐゴシック" pitchFamily="-72" charset="-128"/>
              </a:rPr>
              <a: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Why choose XAML?</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Declarative, familiar, and tool‑friendly:</a:t>
            </a:r>
            <a:r>
              <a:rPr lang="en-US" sz="1200" b="0" i="0" kern="1200" dirty="0">
                <a:solidFill>
                  <a:schemeClr val="tx1"/>
                </a:solidFill>
                <a:effectLst/>
                <a:latin typeface="+mn-lt"/>
                <a:ea typeface="ＭＳ Ｐゴシック" pitchFamily="-72" charset="-128"/>
                <a:cs typeface="ＭＳ Ｐゴシック" pitchFamily="-72" charset="-128"/>
              </a:rPr>
              <a:t> XAML is an XML‑based markup that cleanly separates UI from code‑behind and works seamlessly with data binding, styles, and behaviors. It’s the default for many .NET developers and has strong editor support in Visual Studio and VS Code.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Great for design‑centric or complex pages:</a:t>
            </a:r>
            <a:r>
              <a:rPr lang="en-US" sz="1200" b="0" i="0" kern="1200" dirty="0">
                <a:solidFill>
                  <a:schemeClr val="tx1"/>
                </a:solidFill>
                <a:effectLst/>
                <a:latin typeface="+mn-lt"/>
                <a:ea typeface="ＭＳ Ｐゴシック" pitchFamily="-72" charset="-128"/>
                <a:cs typeface="ＭＳ Ｐゴシック" pitchFamily="-72" charset="-128"/>
              </a:rPr>
              <a:t> When you want clear, readable layout definitions, resource dictionaries, and platform‑specific values, XAML is a solid choice.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Hot Reload friendly:</a:t>
            </a:r>
            <a:r>
              <a:rPr lang="en-US" sz="1200" b="0" i="0" kern="1200" dirty="0">
                <a:solidFill>
                  <a:schemeClr val="tx1"/>
                </a:solidFill>
                <a:effectLst/>
                <a:latin typeface="+mn-lt"/>
                <a:ea typeface="ＭＳ Ｐゴシック" pitchFamily="-72" charset="-128"/>
                <a:cs typeface="ＭＳ Ｐゴシック" pitchFamily="-72" charset="-128"/>
              </a:rPr>
              <a:t> XAML Hot Reload speeds iteration by applying changes while the app runs.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Why choose C# Markup?</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Programmatic UI with fluent APIs:</a:t>
            </a:r>
            <a:r>
              <a:rPr lang="en-US" sz="1200" b="0" i="0" kern="1200" dirty="0">
                <a:solidFill>
                  <a:schemeClr val="tx1"/>
                </a:solidFill>
                <a:effectLst/>
                <a:latin typeface="+mn-lt"/>
                <a:ea typeface="ＭＳ Ｐゴシック" pitchFamily="-72" charset="-128"/>
                <a:cs typeface="ＭＳ Ｐゴシック" pitchFamily="-72" charset="-128"/>
              </a:rPr>
              <a:t> The .NET MAUI Community Toolkit’s </a:t>
            </a:r>
            <a:r>
              <a:rPr lang="en-US" sz="1200" b="1" i="0" kern="1200" dirty="0">
                <a:solidFill>
                  <a:schemeClr val="tx1"/>
                </a:solidFill>
                <a:effectLst/>
                <a:latin typeface="+mn-lt"/>
                <a:ea typeface="ＭＳ Ｐゴシック" pitchFamily="-72" charset="-128"/>
                <a:cs typeface="ＭＳ Ｐゴシック" pitchFamily="-72" charset="-128"/>
              </a:rPr>
              <a:t>C# Markup</a:t>
            </a:r>
            <a:r>
              <a:rPr lang="en-US" sz="1200" b="0" i="0" kern="1200" dirty="0">
                <a:solidFill>
                  <a:schemeClr val="tx1"/>
                </a:solidFill>
                <a:effectLst/>
                <a:latin typeface="+mn-lt"/>
                <a:ea typeface="ＭＳ Ｐゴシック" pitchFamily="-72" charset="-128"/>
                <a:cs typeface="ＭＳ Ｐゴシック" pitchFamily="-72" charset="-128"/>
              </a:rPr>
              <a:t> provides fluent helpers to build UI in code. This is useful when UI is highly dynamic or generated from data.</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Single‑language flow:</a:t>
            </a:r>
            <a:r>
              <a:rPr lang="en-US" sz="1200" b="0" i="0" kern="1200" dirty="0">
                <a:solidFill>
                  <a:schemeClr val="tx1"/>
                </a:solidFill>
                <a:effectLst/>
                <a:latin typeface="+mn-lt"/>
                <a:ea typeface="ＭＳ Ｐゴシック" pitchFamily="-72" charset="-128"/>
                <a:cs typeface="ＭＳ Ｐゴシック" pitchFamily="-72" charset="-128"/>
              </a:rPr>
              <a:t> If your team prefers staying in C# across pages and view models, C# Markup keeps everything in one language and works with .NET Hot Reload.</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i="0" kern="1200" dirty="0">
                <a:solidFill>
                  <a:schemeClr val="tx1"/>
                </a:solidFill>
                <a:effectLst/>
                <a:latin typeface="+mn-lt"/>
                <a:ea typeface="ＭＳ Ｐゴシック" pitchFamily="-72" charset="-128"/>
                <a:cs typeface="ＭＳ Ｐゴシック" pitchFamily="-72" charset="-128"/>
              </a:rPr>
              <a:t>Easy to compose and reuse:</a:t>
            </a:r>
            <a:r>
              <a:rPr lang="en-US" sz="1200" b="0" i="0" kern="1200" dirty="0">
                <a:solidFill>
                  <a:schemeClr val="tx1"/>
                </a:solidFill>
                <a:effectLst/>
                <a:latin typeface="+mn-lt"/>
                <a:ea typeface="ＭＳ Ｐゴシック" pitchFamily="-72" charset="-128"/>
                <a:cs typeface="ＭＳ Ｐゴシック" pitchFamily="-72" charset="-128"/>
              </a:rPr>
              <a:t> Fluent extensions make it straightforward to define layouts, bindings, and converters inline, which can reduce boilerplate for certain patterns.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Some best practices…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Keep </a:t>
            </a:r>
            <a:r>
              <a:rPr lang="en-US" sz="1200" b="1" i="0" kern="1200" dirty="0">
                <a:solidFill>
                  <a:schemeClr val="tx1"/>
                </a:solidFill>
                <a:effectLst/>
                <a:latin typeface="+mn-lt"/>
                <a:ea typeface="ＭＳ Ｐゴシック" pitchFamily="-72" charset="-128"/>
                <a:cs typeface="ＭＳ Ｐゴシック" pitchFamily="-72" charset="-128"/>
              </a:rPr>
              <a:t>view models</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logic</a:t>
            </a:r>
            <a:r>
              <a:rPr lang="en-US" sz="1200" b="0" i="0" kern="1200" dirty="0">
                <a:solidFill>
                  <a:schemeClr val="tx1"/>
                </a:solidFill>
                <a:effectLst/>
                <a:latin typeface="+mn-lt"/>
                <a:ea typeface="ＭＳ Ｐゴシック" pitchFamily="-72" charset="-128"/>
                <a:cs typeface="ＭＳ Ｐゴシック" pitchFamily="-72" charset="-128"/>
              </a:rPr>
              <a:t> out of the UI layer; use binding and commands in both XAML and C# Markup.</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a:t>
            </a:r>
            <a:r>
              <a:rPr lang="en-US" sz="1200" b="1" i="0" kern="1200" dirty="0" err="1">
                <a:solidFill>
                  <a:schemeClr val="tx1"/>
                </a:solidFill>
                <a:effectLst/>
                <a:latin typeface="+mn-lt"/>
                <a:ea typeface="ＭＳ Ｐゴシック" pitchFamily="-72" charset="-128"/>
                <a:cs typeface="ＭＳ Ｐゴシック" pitchFamily="-72" charset="-128"/>
              </a:rPr>
              <a:t>ResourceDictionaries</a:t>
            </a:r>
            <a:r>
              <a:rPr lang="en-US" sz="1200" b="0" i="0" kern="1200" dirty="0">
                <a:solidFill>
                  <a:schemeClr val="tx1"/>
                </a:solidFill>
                <a:effectLst/>
                <a:latin typeface="+mn-lt"/>
                <a:ea typeface="ＭＳ Ｐゴシック" pitchFamily="-72" charset="-128"/>
                <a:cs typeface="ＭＳ Ｐゴシック" pitchFamily="-72" charset="-128"/>
              </a:rPr>
              <a:t> for shared styles and themes (works for both XAML and code).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Leverage the </a:t>
            </a:r>
            <a:r>
              <a:rPr lang="en-US" sz="1200" b="1" i="0" kern="1200" dirty="0">
                <a:solidFill>
                  <a:schemeClr val="tx1"/>
                </a:solidFill>
                <a:effectLst/>
                <a:latin typeface="+mn-lt"/>
                <a:ea typeface="ＭＳ Ｐゴシック" pitchFamily="-72" charset="-128"/>
                <a:cs typeface="ＭＳ Ｐゴシック" pitchFamily="-72" charset="-128"/>
              </a:rPr>
              <a:t>Community Toolkit</a:t>
            </a:r>
            <a:r>
              <a:rPr lang="en-US" sz="1200" b="0" i="0" kern="1200" dirty="0">
                <a:solidFill>
                  <a:schemeClr val="tx1"/>
                </a:solidFill>
                <a:effectLst/>
                <a:latin typeface="+mn-lt"/>
                <a:ea typeface="ＭＳ Ｐゴシック" pitchFamily="-72" charset="-128"/>
                <a:cs typeface="ＭＳ Ｐゴシック" pitchFamily="-72" charset="-128"/>
              </a:rPr>
              <a:t> for converters, behaviors, and the Markup helpers to reduce boilerplate.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look at a couple of demos to see what you get out of the box with MAUI templates in Visual Studio. (Not C# markup yet.)</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12</a:t>
            </a:fld>
            <a:endParaRPr lang="en-US"/>
          </a:p>
        </p:txBody>
      </p:sp>
    </p:spTree>
    <p:extLst>
      <p:ext uri="{BB962C8B-B14F-4D97-AF65-F5344CB8AC3E}">
        <p14:creationId xmlns:p14="http://schemas.microsoft.com/office/powerpoint/2010/main" val="334794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&lt;&lt;&lt;Time check – 8:55am&gt;&gt;&gt;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 </a:t>
            </a:r>
            <a:r>
              <a:rPr lang="en-US" sz="1200" b="1" i="0" kern="1200" dirty="0">
                <a:solidFill>
                  <a:schemeClr val="tx1"/>
                </a:solidFill>
                <a:effectLst/>
                <a:latin typeface="+mn-lt"/>
                <a:ea typeface="ＭＳ Ｐゴシック" pitchFamily="-72" charset="-128"/>
                <a:cs typeface="ＭＳ Ｐゴシック" pitchFamily="-72" charset="-128"/>
              </a:rPr>
              <a:t>.NET MAUI Community Toolkit</a:t>
            </a:r>
            <a:r>
              <a:rPr lang="en-US" sz="1200" b="0" i="0" kern="1200" dirty="0">
                <a:solidFill>
                  <a:schemeClr val="tx1"/>
                </a:solidFill>
                <a:effectLst/>
                <a:latin typeface="+mn-lt"/>
                <a:ea typeface="ＭＳ Ｐゴシック" pitchFamily="-72" charset="-128"/>
                <a:cs typeface="ＭＳ Ｐゴシック" pitchFamily="-72" charset="-128"/>
              </a:rPr>
              <a:t> is a collection of reusable building blocks—controls, behaviors, converters, and helpers—that speed up common tasks in MAUI apps and reduce boilerplate. It’s community‑driven and open source, with Microsoft engineers and contributors maintaining the docs and samples.</a:t>
            </a:r>
          </a:p>
          <a:p>
            <a:endParaRPr lang="en-US" dirty="0"/>
          </a:p>
          <a:p>
            <a:r>
              <a:rPr lang="en-US" dirty="0"/>
              <a:t>What’s in the Toolkit?</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It’s organized into logical areas: </a:t>
            </a:r>
            <a:r>
              <a:rPr lang="en-US" sz="1200" b="1" i="0" kern="1200" dirty="0">
                <a:solidFill>
                  <a:schemeClr val="tx1"/>
                </a:solidFill>
                <a:effectLst/>
                <a:latin typeface="+mn-lt"/>
                <a:ea typeface="ＭＳ Ｐゴシック" pitchFamily="-72" charset="-128"/>
                <a:cs typeface="ＭＳ Ｐゴシック" pitchFamily="-72" charset="-128"/>
              </a:rPr>
              <a:t>Animations, Behaviors, Converters, Extensions, Image Sources, Layouts, Views, and C# Markup</a:t>
            </a:r>
            <a:r>
              <a:rPr lang="en-US" sz="1200" b="0" i="0" kern="1200" dirty="0">
                <a:solidFill>
                  <a:schemeClr val="tx1"/>
                </a:solidFill>
                <a:effectLst/>
                <a:latin typeface="+mn-lt"/>
                <a:ea typeface="ＭＳ Ｐゴシック" pitchFamily="-72" charset="-128"/>
                <a:cs typeface="ＭＳ Ｐゴシック" pitchFamily="-72" charset="-128"/>
              </a:rPr>
              <a:t> helpers. You’ll also find essentials like popups, drawing, and clipboard helpers. These are ready‑to‑use and plug into your MAUI app with a NuGet package reference.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 docs list each feature with usage examples and API references—handy when you’re deciding whether to build a small helper yourself or reuse a vetted component.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 Toolkit frees you from reinventing common UI patterns, improves consistency across screens, and keeps your app codebase lean—especially useful when you’re targeting </a:t>
            </a:r>
            <a:r>
              <a:rPr lang="en-US" sz="1200" b="1" i="0" kern="1200" dirty="0">
                <a:solidFill>
                  <a:schemeClr val="tx1"/>
                </a:solidFill>
                <a:effectLst/>
                <a:latin typeface="+mn-lt"/>
                <a:ea typeface="ＭＳ Ｐゴシック" pitchFamily="-72" charset="-128"/>
                <a:cs typeface="ＭＳ Ｐゴシック" pitchFamily="-72" charset="-128"/>
              </a:rPr>
              <a:t>Windows, macOS, iOS, and Android</a:t>
            </a:r>
            <a:r>
              <a:rPr lang="en-US" sz="1200" b="0" i="0" kern="1200" dirty="0">
                <a:solidFill>
                  <a:schemeClr val="tx1"/>
                </a:solidFill>
                <a:effectLst/>
                <a:latin typeface="+mn-lt"/>
                <a:ea typeface="ＭＳ Ｐゴシック" pitchFamily="-72" charset="-128"/>
                <a:cs typeface="ＭＳ Ｐゴシック" pitchFamily="-72" charset="-128"/>
              </a:rPr>
              <a:t> from the same project.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dive back into demos. We’ll look at the Community Toolkit on GitHub and the docs for it on Learn. Then we’ll look at the sample app and a little sample that I created. You’ll see how easy it is to integrate.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Next, we’ll look at the MVVM Toolkit, part of the .NET Community Toolkit.</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13</a:t>
            </a:fld>
            <a:endParaRPr lang="en-US"/>
          </a:p>
        </p:txBody>
      </p:sp>
    </p:spTree>
    <p:extLst>
      <p:ext uri="{BB962C8B-B14F-4D97-AF65-F5344CB8AC3E}">
        <p14:creationId xmlns:p14="http://schemas.microsoft.com/office/powerpoint/2010/main" val="1910318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Model-View-</a:t>
            </a:r>
            <a:r>
              <a:rPr lang="en-US" dirty="0" err="1"/>
              <a:t>ViewModel</a:t>
            </a:r>
            <a:r>
              <a:rPr lang="en-US" dirty="0"/>
              <a:t> or MVVM.</a:t>
            </a:r>
          </a:p>
          <a:p>
            <a:endParaRPr lang="en-US" dirty="0"/>
          </a:p>
          <a:p>
            <a:r>
              <a:rPr lang="en-US" dirty="0"/>
              <a:t>You may have used it in other XAML-based frameworks like WinUI or WPF. You can even leverage it in modern WinForms apps. How many people are already familiar with the pattern?</a:t>
            </a:r>
          </a:p>
          <a:p>
            <a:endParaRPr lang="en-US" dirty="0"/>
          </a:p>
          <a:p>
            <a:r>
              <a:rPr lang="en-US" dirty="0"/>
              <a:t>The core of MVVM is the separation of UI elements in the view from the presentation logic in the view models, and the data and business logic in the model.</a:t>
            </a:r>
          </a:p>
          <a:p>
            <a:endParaRPr lang="en-US" dirty="0"/>
          </a:p>
          <a:p>
            <a:r>
              <a:rPr lang="en-US" dirty="0"/>
              <a:t>The separation of concerns makes it possible to unit test the logic in your view model and model layers without any dependencies on the UI.</a:t>
            </a:r>
          </a:p>
          <a:p>
            <a:endParaRPr lang="en-US" dirty="0"/>
          </a:p>
          <a:p>
            <a:r>
              <a:rPr lang="en-US" dirty="0"/>
              <a:t>Model types are exposed and bound through the view model to the view. Property change and collection change notifications notify the view when it needs to refresh to display new or changed data. Actions are triggered in the view model through commands rather than event handlers.</a:t>
            </a:r>
          </a:p>
          <a:p>
            <a:endParaRPr lang="en-US" dirty="0"/>
          </a:p>
          <a:p>
            <a:r>
              <a:rPr lang="en-US" dirty="0"/>
              <a:t>Next, let’s see how the MVVM Toolkit simplifies MVVM for developers.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14</a:t>
            </a:fld>
            <a:endParaRPr lang="en-US"/>
          </a:p>
        </p:txBody>
      </p:sp>
    </p:spTree>
    <p:extLst>
      <p:ext uri="{BB962C8B-B14F-4D97-AF65-F5344CB8AC3E}">
        <p14:creationId xmlns:p14="http://schemas.microsoft.com/office/powerpoint/2010/main" val="833315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traditional MVVM approaches, you either implement the </a:t>
            </a:r>
            <a:r>
              <a:rPr lang="en-US" dirty="0" err="1"/>
              <a:t>INotifyPropertyChanged</a:t>
            </a:r>
            <a:r>
              <a:rPr lang="en-US" dirty="0"/>
              <a:t> interface in each of your view models or more likely in a shared base class.</a:t>
            </a:r>
          </a:p>
          <a:p>
            <a:endParaRPr lang="en-US" dirty="0"/>
          </a:p>
          <a:p>
            <a:r>
              <a:rPr lang="en-US" dirty="0"/>
              <a:t>The MVVM Toolkit provides this base class for you. Not only that, but there are also helpers and source generators that allow you to decorate your private fields and methods with attributes, so you never have to write the corresponding public properties and commands that are bound in the view. They’re generated for you in a partial class. We’ll see how this works shortly.</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15</a:t>
            </a:fld>
            <a:endParaRPr lang="en-US"/>
          </a:p>
        </p:txBody>
      </p:sp>
    </p:spTree>
    <p:extLst>
      <p:ext uri="{BB962C8B-B14F-4D97-AF65-F5344CB8AC3E}">
        <p14:creationId xmlns:p14="http://schemas.microsoft.com/office/powerpoint/2010/main" val="3268436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talk about the core concepts we use to scale .NET MAUI apps: </a:t>
            </a:r>
            <a:r>
              <a:rPr lang="en-US" sz="1200" b="1" i="0" kern="1200" dirty="0">
                <a:solidFill>
                  <a:schemeClr val="tx1"/>
                </a:solidFill>
                <a:effectLst/>
                <a:latin typeface="+mn-lt"/>
                <a:ea typeface="ＭＳ Ｐゴシック" pitchFamily="-72" charset="-128"/>
                <a:cs typeface="ＭＳ Ｐゴシック" pitchFamily="-72" charset="-128"/>
              </a:rPr>
              <a:t>data binding</a:t>
            </a:r>
            <a:r>
              <a:rPr lang="en-US" sz="1200" b="0" i="0" kern="1200" dirty="0">
                <a:solidFill>
                  <a:schemeClr val="tx1"/>
                </a:solidFill>
                <a:effectLst/>
                <a:latin typeface="+mn-lt"/>
                <a:ea typeface="ＭＳ Ｐゴシック" pitchFamily="-72" charset="-128"/>
                <a:cs typeface="ＭＳ Ｐゴシック" pitchFamily="-72" charset="-128"/>
              </a:rPr>
              <a:t>, </a:t>
            </a:r>
            <a:r>
              <a:rPr lang="en-US" sz="1200" b="1" i="0" kern="1200" dirty="0">
                <a:solidFill>
                  <a:schemeClr val="tx1"/>
                </a:solidFill>
                <a:effectLst/>
                <a:latin typeface="+mn-lt"/>
                <a:ea typeface="ＭＳ Ｐゴシック" pitchFamily="-72" charset="-128"/>
                <a:cs typeface="ＭＳ Ｐゴシック" pitchFamily="-72" charset="-128"/>
              </a:rPr>
              <a:t>commands</a:t>
            </a:r>
            <a:r>
              <a:rPr lang="en-US" sz="1200" b="0" i="0" kern="1200" dirty="0">
                <a:solidFill>
                  <a:schemeClr val="tx1"/>
                </a:solidFill>
                <a:effectLst/>
                <a:latin typeface="+mn-lt"/>
                <a:ea typeface="ＭＳ Ｐゴシック" pitchFamily="-72" charset="-128"/>
                <a:cs typeface="ＭＳ Ｐゴシック" pitchFamily="-72" charset="-128"/>
              </a:rPr>
              <a:t>, and </a:t>
            </a:r>
            <a:r>
              <a:rPr lang="en-US" sz="1200" b="1" i="0" kern="1200" dirty="0">
                <a:solidFill>
                  <a:schemeClr val="tx1"/>
                </a:solidFill>
                <a:effectLst/>
                <a:latin typeface="+mn-lt"/>
                <a:ea typeface="ＭＳ Ｐゴシック" pitchFamily="-72" charset="-128"/>
                <a:cs typeface="ＭＳ Ｐゴシック" pitchFamily="-72" charset="-128"/>
              </a:rPr>
              <a:t>dependency injection</a:t>
            </a:r>
            <a:r>
              <a:rPr lang="en-US" sz="1200" b="0" i="0" kern="1200" dirty="0">
                <a:solidFill>
                  <a:schemeClr val="tx1"/>
                </a:solidFill>
                <a:effectLst/>
                <a:latin typeface="+mn-lt"/>
                <a:ea typeface="ＭＳ Ｐゴシック" pitchFamily="-72" charset="-128"/>
                <a:cs typeface="ＭＳ Ｐゴシック" pitchFamily="-72" charset="-128"/>
              </a:rPr>
              <a:t>. Together, they keep UI, logic, and services loosely coupled so the app stays manageable as it grows.</a:t>
            </a:r>
          </a:p>
          <a:p>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Data binding connects UI properties to view‑model properties, so the UI updates automatically when data changes, without manual UI code. In XAML, you set the </a:t>
            </a:r>
            <a:r>
              <a:rPr lang="en-US" sz="1200" b="0" i="0" kern="1200" dirty="0" err="1">
                <a:solidFill>
                  <a:schemeClr val="tx1"/>
                </a:solidFill>
                <a:effectLst/>
                <a:latin typeface="+mn-lt"/>
                <a:ea typeface="ＭＳ Ｐゴシック" pitchFamily="-72" charset="-128"/>
                <a:cs typeface="ＭＳ Ｐゴシック" pitchFamily="-72" charset="-128"/>
              </a:rPr>
              <a:t>BindingContext</a:t>
            </a:r>
            <a:r>
              <a:rPr lang="en-US" sz="1200" b="0" i="0" kern="1200" dirty="0">
                <a:solidFill>
                  <a:schemeClr val="tx1"/>
                </a:solidFill>
                <a:effectLst/>
                <a:latin typeface="+mn-lt"/>
                <a:ea typeface="ＭＳ Ｐゴシック" pitchFamily="-72" charset="-128"/>
                <a:cs typeface="ＭＳ Ｐゴシック" pitchFamily="-72" charset="-128"/>
              </a:rPr>
              <a:t> and use binding expressions; in code, you call </a:t>
            </a:r>
            <a:r>
              <a:rPr lang="en-US" sz="1200" b="0" i="0" kern="1200" dirty="0" err="1">
                <a:solidFill>
                  <a:schemeClr val="tx1"/>
                </a:solidFill>
                <a:effectLst/>
                <a:latin typeface="+mn-lt"/>
                <a:ea typeface="ＭＳ Ｐゴシック" pitchFamily="-72" charset="-128"/>
                <a:cs typeface="ＭＳ Ｐゴシック" pitchFamily="-72" charset="-128"/>
              </a:rPr>
              <a:t>SetBinding</a:t>
            </a:r>
            <a:r>
              <a:rPr lang="en-US" sz="1200" b="0" i="0" kern="1200" dirty="0">
                <a:solidFill>
                  <a:schemeClr val="tx1"/>
                </a:solidFill>
                <a:effectLst/>
                <a:latin typeface="+mn-lt"/>
                <a:ea typeface="ＭＳ Ｐゴシック" pitchFamily="-72" charset="-128"/>
                <a:cs typeface="ＭＳ Ｐゴシック" pitchFamily="-72" charset="-128"/>
              </a:rPr>
              <a:t>. Compiled bindings (</a:t>
            </a:r>
            <a:r>
              <a:rPr lang="en-US" sz="1200" b="0" i="0" kern="1200" dirty="0" err="1">
                <a:solidFill>
                  <a:schemeClr val="tx1"/>
                </a:solidFill>
                <a:effectLst/>
                <a:latin typeface="+mn-lt"/>
                <a:ea typeface="ＭＳ Ｐゴシック" pitchFamily="-72" charset="-128"/>
                <a:cs typeface="ＭＳ Ｐゴシック" pitchFamily="-72" charset="-128"/>
              </a:rPr>
              <a:t>x:Bind</a:t>
            </a:r>
            <a:r>
              <a:rPr lang="en-US" sz="1200" b="0" i="0" kern="1200" dirty="0">
                <a:solidFill>
                  <a:schemeClr val="tx1"/>
                </a:solidFill>
                <a:effectLst/>
                <a:latin typeface="+mn-lt"/>
                <a:ea typeface="ＭＳ Ｐゴシック" pitchFamily="-72" charset="-128"/>
                <a:cs typeface="ＭＳ Ｐゴシック" pitchFamily="-72" charset="-128"/>
              </a:rPr>
              <a:t>) add type safety and performance.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This reduces boilerplate and keeps your views declarative, which is key for maintainability as screens multiply.</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Commands move action logic out of event handlers in the code‑behind into the view model methods. Controls bind to </a:t>
            </a:r>
            <a:r>
              <a:rPr lang="en-US" sz="1200" b="0" i="0" kern="1200" dirty="0" err="1">
                <a:solidFill>
                  <a:schemeClr val="tx1"/>
                </a:solidFill>
                <a:effectLst/>
                <a:latin typeface="+mn-lt"/>
                <a:ea typeface="ＭＳ Ｐゴシック" pitchFamily="-72" charset="-128"/>
                <a:cs typeface="ＭＳ Ｐゴシック" pitchFamily="-72" charset="-128"/>
              </a:rPr>
              <a:t>ICommand</a:t>
            </a:r>
            <a:r>
              <a:rPr lang="en-US" sz="1200" b="0" i="0" kern="1200" dirty="0">
                <a:solidFill>
                  <a:schemeClr val="tx1"/>
                </a:solidFill>
                <a:effectLst/>
                <a:latin typeface="+mn-lt"/>
                <a:ea typeface="ＭＳ Ｐゴシック" pitchFamily="-72" charset="-128"/>
                <a:cs typeface="ＭＳ Ｐゴシック" pitchFamily="-72" charset="-128"/>
              </a:rPr>
              <a:t>, so button clicks, menu actions, and gestures invoke view‑model logic consistently across platforms.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That makes behaviors easier to test and reuse, and it keeps UI layers thin—exactly what you want as your app grows.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the Microsoft Dependency Injection container to register services, view models, and pages. DI removes the need for classes to locate their dependencies and manages lifetimes, which improves testability and maintainability. In a MAUI app, you typically register your services and view models in </a:t>
            </a:r>
            <a:r>
              <a:rPr lang="en-US" sz="1200" b="0" i="0" kern="1200" dirty="0" err="1">
                <a:solidFill>
                  <a:schemeClr val="tx1"/>
                </a:solidFill>
                <a:effectLst/>
                <a:latin typeface="+mn-lt"/>
                <a:ea typeface="ＭＳ Ｐゴシック" pitchFamily="-72" charset="-128"/>
                <a:cs typeface="ＭＳ Ｐゴシック" pitchFamily="-72" charset="-128"/>
              </a:rPr>
              <a:t>MauiProgram.CreateMauiApp</a:t>
            </a:r>
            <a:r>
              <a:rPr lang="en-US" sz="1200" b="0" i="0" kern="1200" dirty="0">
                <a:solidFill>
                  <a:schemeClr val="tx1"/>
                </a:solidFill>
                <a:effectLst/>
                <a:latin typeface="+mn-lt"/>
                <a:ea typeface="ＭＳ Ｐゴシック" pitchFamily="-72" charset="-128"/>
                <a:cs typeface="ＭＳ Ｐゴシック" pitchFamily="-72" charset="-128"/>
              </a:rPr>
              <a:t> with </a:t>
            </a:r>
            <a:r>
              <a:rPr lang="en-US" sz="1200" b="0" i="0" kern="1200" dirty="0" err="1">
                <a:solidFill>
                  <a:schemeClr val="tx1"/>
                </a:solidFill>
                <a:effectLst/>
                <a:latin typeface="+mn-lt"/>
                <a:ea typeface="ＭＳ Ｐゴシック" pitchFamily="-72" charset="-128"/>
                <a:cs typeface="ＭＳ Ｐゴシック" pitchFamily="-72" charset="-128"/>
              </a:rPr>
              <a:t>ConfigureServices</a:t>
            </a:r>
            <a:r>
              <a:rPr lang="en-US" sz="1200" b="0" i="0" kern="1200" dirty="0">
                <a:solidFill>
                  <a:schemeClr val="tx1"/>
                </a:solidFill>
                <a:effectLst/>
                <a:latin typeface="+mn-lt"/>
                <a:ea typeface="ＭＳ Ｐゴシック" pitchFamily="-72" charset="-128"/>
                <a:cs typeface="ＭＳ Ｐゴシック" pitchFamily="-72" charset="-128"/>
              </a:rPr>
              <a:t>, then inject them into constructors.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Together, these patterns let teams add features without tight coupling: views stay simple, presentation logic lives in view models, and services and models are faked or mocked easily for testing.</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look at a demo app and how it uses the MVVM Toolkit.</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Next, we’ll look at building MAUI apps without XAML.</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16</a:t>
            </a:fld>
            <a:endParaRPr lang="en-US"/>
          </a:p>
        </p:txBody>
      </p:sp>
    </p:spTree>
    <p:extLst>
      <p:ext uri="{BB962C8B-B14F-4D97-AF65-F5344CB8AC3E}">
        <p14:creationId xmlns:p14="http://schemas.microsoft.com/office/powerpoint/2010/main" val="3226454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Markup is part of the MAUI Community Toolkit. </a:t>
            </a:r>
          </a:p>
          <a:p>
            <a:endParaRPr lang="en-US" dirty="0"/>
          </a:p>
          <a:p>
            <a:r>
              <a:rPr lang="en-US" dirty="0"/>
              <a:t>If you or your team aren’t comfortable working with XAML, you can leverage C# Markup to declaratively build your UI entirely in C# with fluent helpers.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17</a:t>
            </a:fld>
            <a:endParaRPr lang="en-US"/>
          </a:p>
        </p:txBody>
      </p:sp>
    </p:spTree>
    <p:extLst>
      <p:ext uri="{BB962C8B-B14F-4D97-AF65-F5344CB8AC3E}">
        <p14:creationId xmlns:p14="http://schemas.microsoft.com/office/powerpoint/2010/main" val="4078408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Markup is a great option if you need to create UI layouts dynamically based on data and user actions.</a:t>
            </a:r>
          </a:p>
          <a:p>
            <a:endParaRPr lang="en-US" dirty="0"/>
          </a:p>
          <a:p>
            <a:r>
              <a:rPr lang="en-US" dirty="0"/>
              <a:t>Let’s look at a simple C# Markup project.</a:t>
            </a:r>
          </a:p>
          <a:p>
            <a:endParaRPr lang="en-US" dirty="0"/>
          </a:p>
          <a:p>
            <a:r>
              <a:rPr lang="en-US" dirty="0"/>
              <a:t>If there’s time, we’ll also open a sample from the GitHub repo.</a:t>
            </a:r>
          </a:p>
          <a:p>
            <a:endParaRPr lang="en-US" dirty="0"/>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18</a:t>
            </a:fld>
            <a:endParaRPr lang="en-US"/>
          </a:p>
        </p:txBody>
      </p:sp>
    </p:spTree>
    <p:extLst>
      <p:ext uri="{BB962C8B-B14F-4D97-AF65-F5344CB8AC3E}">
        <p14:creationId xmlns:p14="http://schemas.microsoft.com/office/powerpoint/2010/main" val="3260748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developer or designers are comfortable with CSS, there is some support for using those styles in your MAUI apps.</a:t>
            </a:r>
          </a:p>
          <a:p>
            <a:endParaRPr lang="en-US" dirty="0"/>
          </a:p>
          <a:p>
            <a:r>
              <a:rPr lang="en-US" dirty="0"/>
              <a:t>This can be a time saver if they aren’t comfortable with XAML styles and allows for sharing some style resources with your web apps.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19</a:t>
            </a:fld>
            <a:endParaRPr lang="en-US"/>
          </a:p>
        </p:txBody>
      </p:sp>
    </p:spTree>
    <p:extLst>
      <p:ext uri="{BB962C8B-B14F-4D97-AF65-F5344CB8AC3E}">
        <p14:creationId xmlns:p14="http://schemas.microsoft.com/office/powerpoint/2010/main" val="256521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include the CSS file in your MAUI project and reference those styles in your app’s controls.</a:t>
            </a:r>
          </a:p>
          <a:p>
            <a:endParaRPr lang="en-US" dirty="0"/>
          </a:p>
          <a:p>
            <a:r>
              <a:rPr lang="en-US" dirty="0"/>
              <a:t>Let’s see how that’s done.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20</a:t>
            </a:fld>
            <a:endParaRPr lang="en-US"/>
          </a:p>
        </p:txBody>
      </p:sp>
    </p:spTree>
    <p:extLst>
      <p:ext uri="{BB962C8B-B14F-4D97-AF65-F5344CB8AC3E}">
        <p14:creationId xmlns:p14="http://schemas.microsoft.com/office/powerpoint/2010/main" val="24267626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With .NET MAUI, you get </a:t>
            </a:r>
            <a:r>
              <a:rPr lang="en-US" sz="1200" b="1" i="0" kern="1200" dirty="0">
                <a:solidFill>
                  <a:schemeClr val="tx1"/>
                </a:solidFill>
                <a:effectLst/>
                <a:latin typeface="+mn-lt"/>
                <a:ea typeface="ＭＳ Ｐゴシック" pitchFamily="-72" charset="-128"/>
                <a:cs typeface="ＭＳ Ｐゴシック" pitchFamily="-72" charset="-128"/>
              </a:rPr>
              <a:t>cross‑platform access to device features</a:t>
            </a:r>
            <a:r>
              <a:rPr lang="en-US" sz="1200" b="0" i="0" kern="1200" dirty="0">
                <a:solidFill>
                  <a:schemeClr val="tx1"/>
                </a:solidFill>
                <a:effectLst/>
                <a:latin typeface="+mn-lt"/>
                <a:ea typeface="ＭＳ Ｐゴシック" pitchFamily="-72" charset="-128"/>
                <a:cs typeface="ＭＳ Ｐゴシック" pitchFamily="-72" charset="-128"/>
              </a:rPr>
              <a:t> in a single shared project. That means the same code can read sensors, check battery/display info, pick files, and more across Windows, macOS, iOS, and Android—without rewriting per platform.</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Use the </a:t>
            </a:r>
            <a:r>
              <a:rPr lang="en-US" sz="1200" b="1" i="0" kern="1200" dirty="0" err="1">
                <a:solidFill>
                  <a:schemeClr val="tx1"/>
                </a:solidFill>
                <a:effectLst/>
                <a:latin typeface="+mn-lt"/>
                <a:ea typeface="ＭＳ Ｐゴシック" pitchFamily="-72" charset="-128"/>
                <a:cs typeface="ＭＳ Ｐゴシック" pitchFamily="-72" charset="-128"/>
              </a:rPr>
              <a:t>Microsoft.Maui.Devices.Sensors</a:t>
            </a:r>
            <a:r>
              <a:rPr lang="en-US" sz="1200" b="0" i="0" kern="1200" dirty="0">
                <a:solidFill>
                  <a:schemeClr val="tx1"/>
                </a:solidFill>
                <a:effectLst/>
                <a:latin typeface="+mn-lt"/>
                <a:ea typeface="ＭＳ Ｐゴシック" pitchFamily="-72" charset="-128"/>
                <a:cs typeface="ＭＳ Ｐゴシック" pitchFamily="-72" charset="-128"/>
              </a:rPr>
              <a:t> APIs to read motion and orientation, which is great for fitness, navigation, or context‑aware UI.</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Get the device’s location with </a:t>
            </a:r>
            <a:r>
              <a:rPr lang="en-US" sz="1200" b="1" i="0" kern="1200" dirty="0">
                <a:solidFill>
                  <a:schemeClr val="tx1"/>
                </a:solidFill>
                <a:effectLst/>
                <a:latin typeface="+mn-lt"/>
                <a:ea typeface="ＭＳ Ｐゴシック" pitchFamily="-72" charset="-128"/>
                <a:cs typeface="ＭＳ Ｐゴシック" pitchFamily="-72" charset="-128"/>
              </a:rPr>
              <a:t>Geolocation</a:t>
            </a:r>
            <a:r>
              <a:rPr lang="en-US" sz="1200" b="0" i="0" kern="1200" dirty="0">
                <a:solidFill>
                  <a:schemeClr val="tx1"/>
                </a:solidFill>
                <a:effectLst/>
                <a:latin typeface="+mn-lt"/>
                <a:ea typeface="ＭＳ Ｐゴシック" pitchFamily="-72" charset="-128"/>
                <a:cs typeface="ＭＳ Ｐゴシック" pitchFamily="-72" charset="-128"/>
              </a:rPr>
              <a:t> and translate between coordinates and addresses with </a:t>
            </a:r>
            <a:r>
              <a:rPr lang="en-US" sz="1200" b="1" i="0" kern="1200" dirty="0">
                <a:solidFill>
                  <a:schemeClr val="tx1"/>
                </a:solidFill>
                <a:effectLst/>
                <a:latin typeface="+mn-lt"/>
                <a:ea typeface="ＭＳ Ｐゴシック" pitchFamily="-72" charset="-128"/>
                <a:cs typeface="ＭＳ Ｐゴシック" pitchFamily="-72" charset="-128"/>
              </a:rPr>
              <a:t>Geocoding</a:t>
            </a:r>
            <a:r>
              <a:rPr lang="en-US" sz="1200" b="0" i="0" kern="1200" dirty="0">
                <a:solidFill>
                  <a:schemeClr val="tx1"/>
                </a:solidFill>
                <a:effectLst/>
                <a:latin typeface="+mn-lt"/>
                <a:ea typeface="ＭＳ Ｐゴシック" pitchFamily="-72" charset="-128"/>
                <a:cs typeface="ＭＳ Ｐゴシック" pitchFamily="-72" charset="-128"/>
              </a:rPr>
              <a:t>. These are the same APIs across platforms.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Check </a:t>
            </a:r>
            <a:r>
              <a:rPr lang="en-US" sz="1200" b="1" i="0" kern="1200" dirty="0">
                <a:solidFill>
                  <a:schemeClr val="tx1"/>
                </a:solidFill>
                <a:effectLst/>
                <a:latin typeface="+mn-lt"/>
                <a:ea typeface="ＭＳ Ｐゴシック" pitchFamily="-72" charset="-128"/>
                <a:cs typeface="ＭＳ Ｐゴシック" pitchFamily="-72" charset="-128"/>
              </a:rPr>
              <a:t>Battery</a:t>
            </a:r>
            <a:r>
              <a:rPr lang="en-US" sz="1200" b="0" i="0" kern="1200" dirty="0">
                <a:solidFill>
                  <a:schemeClr val="tx1"/>
                </a:solidFill>
                <a:effectLst/>
                <a:latin typeface="+mn-lt"/>
                <a:ea typeface="ＭＳ Ｐゴシック" pitchFamily="-72" charset="-128"/>
                <a:cs typeface="ＭＳ Ｐゴシック" pitchFamily="-72" charset="-128"/>
              </a:rPr>
              <a:t> status, </a:t>
            </a:r>
            <a:r>
              <a:rPr lang="en-US" sz="1200" b="1" i="0" kern="1200" dirty="0" err="1">
                <a:solidFill>
                  <a:schemeClr val="tx1"/>
                </a:solidFill>
                <a:effectLst/>
                <a:latin typeface="+mn-lt"/>
                <a:ea typeface="ＭＳ Ｐゴシック" pitchFamily="-72" charset="-128"/>
                <a:cs typeface="ＭＳ Ｐゴシック" pitchFamily="-72" charset="-128"/>
              </a:rPr>
              <a:t>DeviceDisplay</a:t>
            </a:r>
            <a:r>
              <a:rPr lang="en-US" sz="1200" b="0" i="0" kern="1200" dirty="0">
                <a:solidFill>
                  <a:schemeClr val="tx1"/>
                </a:solidFill>
                <a:effectLst/>
                <a:latin typeface="+mn-lt"/>
                <a:ea typeface="ＭＳ Ｐゴシック" pitchFamily="-72" charset="-128"/>
                <a:cs typeface="ＭＳ Ｐゴシック" pitchFamily="-72" charset="-128"/>
              </a:rPr>
              <a:t> metrics (screen size/density), and </a:t>
            </a:r>
            <a:r>
              <a:rPr lang="en-US" sz="1200" b="1" i="0" kern="1200" dirty="0" err="1">
                <a:solidFill>
                  <a:schemeClr val="tx1"/>
                </a:solidFill>
                <a:effectLst/>
                <a:latin typeface="+mn-lt"/>
                <a:ea typeface="ＭＳ Ｐゴシック" pitchFamily="-72" charset="-128"/>
                <a:cs typeface="ＭＳ Ｐゴシック" pitchFamily="-72" charset="-128"/>
              </a:rPr>
              <a:t>DeviceInfo</a:t>
            </a:r>
            <a:r>
              <a:rPr lang="en-US" sz="1200" b="0" i="0" kern="1200" dirty="0">
                <a:solidFill>
                  <a:schemeClr val="tx1"/>
                </a:solidFill>
                <a:effectLst/>
                <a:latin typeface="+mn-lt"/>
                <a:ea typeface="ＭＳ Ｐゴシック" pitchFamily="-72" charset="-128"/>
                <a:cs typeface="ＭＳ Ｐゴシック" pitchFamily="-72" charset="-128"/>
              </a:rPr>
              <a:t> (model, platform, version) to tune layouts, throttling, or feature flags.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Trigger </a:t>
            </a:r>
            <a:r>
              <a:rPr lang="en-US" sz="1200" b="1" i="0" kern="1200" dirty="0">
                <a:solidFill>
                  <a:schemeClr val="tx1"/>
                </a:solidFill>
                <a:effectLst/>
                <a:latin typeface="+mn-lt"/>
                <a:ea typeface="ＭＳ Ｐゴシック" pitchFamily="-72" charset="-128"/>
                <a:cs typeface="ＭＳ Ｐゴシック" pitchFamily="-72" charset="-128"/>
              </a:rPr>
              <a:t>HapticFeedback</a:t>
            </a:r>
            <a:r>
              <a:rPr lang="en-US" sz="1200" b="0" i="0" kern="1200" dirty="0">
                <a:solidFill>
                  <a:schemeClr val="tx1"/>
                </a:solidFill>
                <a:effectLst/>
                <a:latin typeface="+mn-lt"/>
                <a:ea typeface="ＭＳ Ｐゴシック" pitchFamily="-72" charset="-128"/>
                <a:cs typeface="ＭＳ Ｐゴシック" pitchFamily="-72" charset="-128"/>
              </a:rPr>
              <a:t> or </a:t>
            </a:r>
            <a:r>
              <a:rPr lang="en-US" sz="1200" b="1" i="0" kern="1200" dirty="0">
                <a:solidFill>
                  <a:schemeClr val="tx1"/>
                </a:solidFill>
                <a:effectLst/>
                <a:latin typeface="+mn-lt"/>
                <a:ea typeface="ＭＳ Ｐゴシック" pitchFamily="-72" charset="-128"/>
                <a:cs typeface="ＭＳ Ｐゴシック" pitchFamily="-72" charset="-128"/>
              </a:rPr>
              <a:t>Vibration</a:t>
            </a:r>
            <a:r>
              <a:rPr lang="en-US" sz="1200" b="0" i="0" kern="1200" dirty="0">
                <a:solidFill>
                  <a:schemeClr val="tx1"/>
                </a:solidFill>
                <a:effectLst/>
                <a:latin typeface="+mn-lt"/>
                <a:ea typeface="ＭＳ Ｐゴシック" pitchFamily="-72" charset="-128"/>
                <a:cs typeface="ＭＳ Ｐゴシック" pitchFamily="-72" charset="-128"/>
              </a:rPr>
              <a:t> for tactile responses on supported devices—useful for confirmations or game‑like feedback.</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Control the flashlight with </a:t>
            </a:r>
            <a:r>
              <a:rPr lang="en-US" sz="1200" b="1" i="0" kern="1200" dirty="0">
                <a:solidFill>
                  <a:schemeClr val="tx1"/>
                </a:solidFill>
                <a:effectLst/>
                <a:latin typeface="+mn-lt"/>
                <a:ea typeface="ＭＳ Ｐゴシック" pitchFamily="-72" charset="-128"/>
                <a:cs typeface="ＭＳ Ｐゴシック" pitchFamily="-72" charset="-128"/>
              </a:rPr>
              <a:t>Flashlight</a:t>
            </a:r>
            <a:r>
              <a:rPr lang="en-US" sz="1200" b="0" i="0" kern="1200" dirty="0">
                <a:solidFill>
                  <a:schemeClr val="tx1"/>
                </a:solidFill>
                <a:effectLst/>
                <a:latin typeface="+mn-lt"/>
                <a:ea typeface="ＭＳ Ｐゴシック" pitchFamily="-72" charset="-128"/>
                <a:cs typeface="ＭＳ Ｐゴシック" pitchFamily="-72" charset="-128"/>
              </a:rPr>
              <a:t> and copy/paste with the </a:t>
            </a:r>
            <a:r>
              <a:rPr lang="en-US" sz="1200" b="1" i="0" kern="1200" dirty="0">
                <a:solidFill>
                  <a:schemeClr val="tx1"/>
                </a:solidFill>
                <a:effectLst/>
                <a:latin typeface="+mn-lt"/>
                <a:ea typeface="ＭＳ Ｐゴシック" pitchFamily="-72" charset="-128"/>
                <a:cs typeface="ＭＳ Ｐゴシック" pitchFamily="-72" charset="-128"/>
              </a:rPr>
              <a:t>Clipboard</a:t>
            </a:r>
            <a:r>
              <a:rPr lang="en-US" sz="1200" b="0" i="0" kern="1200" dirty="0">
                <a:solidFill>
                  <a:schemeClr val="tx1"/>
                </a:solidFill>
                <a:effectLst/>
                <a:latin typeface="+mn-lt"/>
                <a:ea typeface="ＭＳ Ｐゴシック" pitchFamily="-72" charset="-128"/>
                <a:cs typeface="ＭＳ Ｐゴシック" pitchFamily="-72" charset="-128"/>
              </a:rPr>
              <a:t> APIs; small but often essential UX pieces.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Pick files with the cross‑platform picker and store secrets with </a:t>
            </a:r>
            <a:r>
              <a:rPr lang="en-US" sz="1200" b="1" i="0" kern="1200" dirty="0" err="1">
                <a:solidFill>
                  <a:schemeClr val="tx1"/>
                </a:solidFill>
                <a:effectLst/>
                <a:latin typeface="+mn-lt"/>
                <a:ea typeface="ＭＳ Ｐゴシック" pitchFamily="-72" charset="-128"/>
                <a:cs typeface="ＭＳ Ｐゴシック" pitchFamily="-72" charset="-128"/>
              </a:rPr>
              <a:t>SecureStorage</a:t>
            </a:r>
            <a:r>
              <a:rPr lang="en-US" sz="1200" b="0" i="0" kern="1200" dirty="0">
                <a:solidFill>
                  <a:schemeClr val="tx1"/>
                </a:solidFill>
                <a:effectLst/>
                <a:latin typeface="+mn-lt"/>
                <a:ea typeface="ＭＳ Ｐゴシック" pitchFamily="-72" charset="-128"/>
                <a:cs typeface="ＭＳ Ｐゴシック" pitchFamily="-72" charset="-128"/>
              </a:rPr>
              <a:t>. You can also check </a:t>
            </a:r>
            <a:r>
              <a:rPr lang="en-US" sz="1200" b="1" i="0" kern="1200" dirty="0" err="1">
                <a:solidFill>
                  <a:schemeClr val="tx1"/>
                </a:solidFill>
                <a:effectLst/>
                <a:latin typeface="+mn-lt"/>
                <a:ea typeface="ＭＳ Ｐゴシック" pitchFamily="-72" charset="-128"/>
                <a:cs typeface="ＭＳ Ｐゴシック" pitchFamily="-72" charset="-128"/>
              </a:rPr>
              <a:t>NetworkAccess</a:t>
            </a:r>
            <a:r>
              <a:rPr lang="en-US" sz="1200" b="0" i="0" kern="1200" dirty="0">
                <a:solidFill>
                  <a:schemeClr val="tx1"/>
                </a:solidFill>
                <a:effectLst/>
                <a:latin typeface="+mn-lt"/>
                <a:ea typeface="ＭＳ Ｐゴシック" pitchFamily="-72" charset="-128"/>
                <a:cs typeface="ＭＳ Ｐゴシック" pitchFamily="-72" charset="-128"/>
              </a:rPr>
              <a:t> to adapt behavior when connectivity changes.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If you do need deeper platform integration, MAUI still lets you call native APIs or use dependency injection to abstract per‑platform services—while keeping your shared code clean.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These unified APIs let you </a:t>
            </a:r>
            <a:r>
              <a:rPr lang="en-US" sz="1200" b="1" i="0" kern="1200" dirty="0">
                <a:solidFill>
                  <a:schemeClr val="tx1"/>
                </a:solidFill>
                <a:effectLst/>
                <a:latin typeface="+mn-lt"/>
                <a:ea typeface="ＭＳ Ｐゴシック" pitchFamily="-72" charset="-128"/>
                <a:cs typeface="ＭＳ Ｐゴシック" pitchFamily="-72" charset="-128"/>
              </a:rPr>
              <a:t>build once, run everywhere</a:t>
            </a:r>
            <a:r>
              <a:rPr lang="en-US" sz="1200" b="0" i="0" kern="1200" dirty="0">
                <a:solidFill>
                  <a:schemeClr val="tx1"/>
                </a:solidFill>
                <a:effectLst/>
                <a:latin typeface="+mn-lt"/>
                <a:ea typeface="ＭＳ Ｐゴシック" pitchFamily="-72" charset="-128"/>
                <a:cs typeface="ＭＳ Ｐゴシック" pitchFamily="-72" charset="-128"/>
              </a:rPr>
              <a:t> while preserving native behavior and performance. You avoid fragmentation and get predictable, maintainable code across desktop and mobile.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Let’s look at a demo project that uses some of these device APIs.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dirty="0">
              <a:solidFill>
                <a:schemeClr val="tx1"/>
              </a:solidFill>
              <a:effectLst/>
              <a:latin typeface="+mn-lt"/>
              <a:ea typeface="ＭＳ Ｐゴシック" pitchFamily="-72" charset="-128"/>
              <a:cs typeface="ＭＳ Ｐゴシック" pitchFamily="-72"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a:solidFill>
                  <a:schemeClr val="tx1"/>
                </a:solidFill>
                <a:effectLst/>
                <a:latin typeface="+mn-lt"/>
                <a:ea typeface="ＭＳ Ｐゴシック" pitchFamily="-72" charset="-128"/>
                <a:cs typeface="ＭＳ Ｐゴシック" pitchFamily="-72" charset="-128"/>
              </a:rPr>
              <a:t>Next, we’ll look at </a:t>
            </a:r>
            <a:r>
              <a:rPr lang="en-US" sz="1200" b="1" i="0" kern="1200" dirty="0">
                <a:solidFill>
                  <a:schemeClr val="tx1"/>
                </a:solidFill>
                <a:effectLst/>
                <a:latin typeface="+mn-lt"/>
                <a:ea typeface="ＭＳ Ｐゴシック" pitchFamily="-72" charset="-128"/>
                <a:cs typeface="ＭＳ Ｐゴシック" pitchFamily="-72" charset="-128"/>
              </a:rPr>
              <a:t>Resources and do some Q&amp;A</a:t>
            </a:r>
            <a:r>
              <a:rPr lang="en-US" sz="1200" b="0" i="0" kern="1200" dirty="0">
                <a:solidFill>
                  <a:schemeClr val="tx1"/>
                </a:solidFill>
                <a:effectLst/>
                <a:latin typeface="+mn-lt"/>
                <a:ea typeface="ＭＳ Ｐゴシック" pitchFamily="-72" charset="-128"/>
                <a:cs typeface="ＭＳ Ｐゴシック" pitchFamily="-72" charset="-128"/>
              </a:rPr>
              <a:t>, and I’ll share links for the docs and samples for each of these APIs.</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21</a:t>
            </a:fld>
            <a:endParaRPr lang="en-US"/>
          </a:p>
        </p:txBody>
      </p:sp>
    </p:spTree>
    <p:extLst>
      <p:ext uri="{BB962C8B-B14F-4D97-AF65-F5344CB8AC3E}">
        <p14:creationId xmlns:p14="http://schemas.microsoft.com/office/powerpoint/2010/main" val="1238099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Here are some links you can check out later. All of these slides are up on the Live360 site and my GitHub speaking repo.</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22</a:t>
            </a:fld>
            <a:endParaRPr lang="en-US"/>
          </a:p>
        </p:txBody>
      </p:sp>
    </p:spTree>
    <p:extLst>
      <p:ext uri="{BB962C8B-B14F-4D97-AF65-F5344CB8AC3E}">
        <p14:creationId xmlns:p14="http://schemas.microsoft.com/office/powerpoint/2010/main" val="3973955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have time to dive into any samples with Microsoft Foundry integration, but Foundry Local models are now available on Windows, macOS, and Android.</a:t>
            </a:r>
          </a:p>
          <a:p>
            <a:endParaRPr lang="en-US" dirty="0"/>
          </a:p>
          <a:p>
            <a:r>
              <a:rPr lang="en-US" dirty="0"/>
              <a:t>You can develop against local models, and when you’re ready to deploy your app, update your configuration to use more scalable models in the cloud.</a:t>
            </a:r>
          </a:p>
          <a:p>
            <a:endParaRPr lang="en-US" dirty="0"/>
          </a:p>
          <a:p>
            <a:r>
              <a:rPr lang="en-US" dirty="0"/>
              <a:t>You can use the cached local models in your app but be prepared for challenges with the performance across different hardware.</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23</a:t>
            </a:fld>
            <a:endParaRPr lang="en-US"/>
          </a:p>
        </p:txBody>
      </p:sp>
    </p:spTree>
    <p:extLst>
      <p:ext uri="{BB962C8B-B14F-4D97-AF65-F5344CB8AC3E}">
        <p14:creationId xmlns:p14="http://schemas.microsoft.com/office/powerpoint/2010/main" val="30249274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Thank you! Any questions?</a:t>
            </a:r>
          </a:p>
          <a:p>
            <a:endParaRPr lang="en-US" dirty="0"/>
          </a:p>
          <a:p>
            <a:r>
              <a:rPr lang="en-US" dirty="0"/>
              <a:t>Make sure you leave feedback. Let us know what you liked and what I can do better. Scan the QR code here to send feedback to </a:t>
            </a:r>
            <a:r>
              <a:rPr lang="en-US" dirty="0" err="1"/>
              <a:t>CodeMash</a:t>
            </a:r>
            <a:r>
              <a:rPr lang="en-US" dirty="0"/>
              <a:t>. Your comments help me improve my sessions and helps the event provide the best content for you.</a:t>
            </a:r>
          </a:p>
        </p:txBody>
      </p:sp>
      <p:sp>
        <p:nvSpPr>
          <p:cNvPr id="4" name="Slide Number Placeholder 3"/>
          <p:cNvSpPr>
            <a:spLocks noGrp="1"/>
          </p:cNvSpPr>
          <p:nvPr>
            <p:ph type="sldNum" sz="quarter" idx="5"/>
          </p:nvPr>
        </p:nvSpPr>
        <p:spPr/>
        <p:txBody>
          <a:bodyPr/>
          <a:lstStyle/>
          <a:p>
            <a:pPr>
              <a:defRPr/>
            </a:pPr>
            <a:fld id="{7BE5AA1C-3A4A-4E86-88DD-FDD0A0056FE6}" type="slidenum">
              <a:rPr lang="en-US" smtClean="0"/>
              <a:pPr>
                <a:defRPr/>
              </a:pPr>
              <a:t>24</a:t>
            </a:fld>
            <a:endParaRPr lang="en-US"/>
          </a:p>
        </p:txBody>
      </p:sp>
    </p:spTree>
    <p:extLst>
      <p:ext uri="{BB962C8B-B14F-4D97-AF65-F5344CB8AC3E}">
        <p14:creationId xmlns:p14="http://schemas.microsoft.com/office/powerpoint/2010/main" val="1839523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a:pPr>
                <a:defRPr/>
              </a:pPr>
              <a:t>1/14/2026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a:pPr>
                <a:defRPr/>
              </a:pPr>
              <a:t>1/14/2026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a:pPr>
                <a:defRPr/>
              </a:pPr>
              <a:t>1/14/2026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a:pPr>
                <a:defRPr/>
              </a:pPr>
              <a:t>1/14/2026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Visual Studio Live! Redmond 2014">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F63CDA3-A2DE-473C-A81C-F73D2A1BFF69}"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Visual Studio Live! Washington, D.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3173A4F-54E2-42AD-AEE7-525DC08E7D5E}" type="datetimeFigureOut">
              <a:rPr lang="en-US" smtClean="0"/>
              <a:pPr>
                <a:defRPr/>
              </a:pPr>
              <a:t>1/14/2026</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7"/>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6014562E-E191-4140-8CA7-D81566904FD6}"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2886AD8-D031-4E57-A880-97BEE7625BF5}" type="datetimeFigureOut">
              <a:rPr lang="en-US" smtClean="0"/>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80"/>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F146D33-8E80-4809-BCCA-EEFDCA7877C6}" type="datetimeFigureOut">
              <a:rPr lang="en-US" smtClean="0"/>
              <a:pPr>
                <a:defRPr/>
              </a:pPr>
              <a:t>1/14/2026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475E31E-3DDB-4319-BC51-F5022B7F3C8D}" type="datetimeFigureOut">
              <a:rPr lang="en-US" smtClean="0"/>
              <a:pPr>
                <a:defRPr/>
              </a:pPr>
              <a:t>1/14/2026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176638B8-B788-4682-A596-85CF4ED65A7B}" type="datetimeFigureOut">
              <a:rPr lang="en-US" smtClean="0"/>
              <a:pPr>
                <a:defRPr/>
              </a:pPr>
              <a:t>1/14/2026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9"/>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A9C0D6F-86BC-4F0A-A9FD-A71A70874F57}" type="datetimeFigureOut">
              <a:rPr lang="en-US" smtClean="0"/>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A62623F-4765-4759-9A73-D8655DC8D973}" type="datetimeFigureOut">
              <a:rPr lang="en-US" smtClean="0"/>
              <a:pPr>
                <a:defRPr/>
              </a:pPr>
              <a:t>1/14/2026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CF2FE-3FA7-4ABC-8D10-AB106564C9F6}"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2"/>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2"/>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AD803F9-FDAA-4AD8-AB1F-AC9EA3FA17D9}"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AADEF755-0B60-4A3E-9C6A-4CADF1C89A5E}" type="datetimeFigureOut">
              <a:rPr lang="en-US" smtClean="0"/>
              <a:pPr>
                <a:defRPr/>
              </a:pPr>
              <a:t>1/14/2026</a:t>
            </a:fld>
            <a:endParaRPr lang="en-US"/>
          </a:p>
        </p:txBody>
      </p:sp>
      <p:sp>
        <p:nvSpPr>
          <p:cNvPr id="5" name="Footer Placeholder 4"/>
          <p:cNvSpPr>
            <a:spLocks noGrp="1"/>
          </p:cNvSpPr>
          <p:nvPr>
            <p:ph type="ftr" sz="quarter" idx="11"/>
          </p:nvPr>
        </p:nvSpPr>
        <p:spPr>
          <a:xfrm>
            <a:off x="1812376" y="246981"/>
            <a:ext cx="3730436" cy="231901"/>
          </a:xfrm>
        </p:spPr>
        <p:txBody>
          <a:bodyPr/>
          <a:lstStyle/>
          <a:p>
            <a:pPr>
              <a:defRPr/>
            </a:pPr>
            <a:endParaRPr lang="en-US"/>
          </a:p>
        </p:txBody>
      </p:sp>
      <p:sp>
        <p:nvSpPr>
          <p:cNvPr id="6" name="Slide Number Placeholder 5"/>
          <p:cNvSpPr>
            <a:spLocks noGrp="1"/>
          </p:cNvSpPr>
          <p:nvPr>
            <p:ph type="sldNum" sz="quarter" idx="12"/>
          </p:nvPr>
        </p:nvSpPr>
        <p:spPr>
          <a:xfrm>
            <a:off x="1078249" y="599230"/>
            <a:ext cx="608264" cy="377684"/>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18377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AADEF755-0B60-4A3E-9C6A-4CADF1C89A5E}"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23249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14562E-E191-4140-8CA7-D81566904FD6}"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46952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12886AD8-D031-4E57-A880-97BEE7625BF5}" type="datetimeFigureOut">
              <a:rPr lang="en-US" smtClean="0"/>
              <a:pPr>
                <a:defRPr/>
              </a:pPr>
              <a:t>1/14/2026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45891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1F146D33-8E80-4809-BCCA-EEFDCA7877C6}" type="datetimeFigureOut">
              <a:rPr lang="en-US" smtClean="0"/>
              <a:pPr>
                <a:defRPr/>
              </a:pPr>
              <a:t>1/14/2026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329473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475E31E-3DDB-4319-BC51-F5022B7F3C8D}" type="datetimeFigureOut">
              <a:rPr lang="en-US" smtClean="0"/>
              <a:pPr>
                <a:defRPr/>
              </a:pPr>
              <a:t>1/14/2026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450697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76638B8-B788-4682-A596-85CF4ED65A7B}" type="datetimeFigureOut">
              <a:rPr lang="en-US" smtClean="0"/>
              <a:pPr>
                <a:defRPr/>
              </a:pPr>
              <a:t>1/14/2026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081022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A9C0D6F-86BC-4F0A-A9FD-A71A70874F57}" type="datetimeFigureOut">
              <a:rPr lang="en-US" smtClean="0"/>
              <a:pPr>
                <a:defRPr/>
              </a:pPr>
              <a:t>1/14/2026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18070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pPr>
              <a:defRPr/>
            </a:pPr>
            <a:fld id="{9A62623F-4765-4759-9A73-D8655DC8D973}" type="datetimeFigureOut">
              <a:rPr lang="en-US" smtClean="0"/>
              <a:pPr>
                <a:defRPr/>
              </a:pPr>
              <a:t>1/14/2026</a:t>
            </a:fld>
            <a:endParaRPr lang="en-US"/>
          </a:p>
        </p:txBody>
      </p:sp>
      <p:sp>
        <p:nvSpPr>
          <p:cNvPr id="6" name="Footer Placeholder 5"/>
          <p:cNvSpPr>
            <a:spLocks noGrp="1"/>
          </p:cNvSpPr>
          <p:nvPr>
            <p:ph type="ftr" sz="quarter" idx="11"/>
          </p:nvPr>
        </p:nvSpPr>
        <p:spPr>
          <a:xfrm>
            <a:off x="1085537" y="238981"/>
            <a:ext cx="4155753" cy="240698"/>
          </a:xfrm>
        </p:spPr>
        <p:txBody>
          <a:bodyPr/>
          <a:lstStyle/>
          <a:p>
            <a:pPr>
              <a:defRPr/>
            </a:pPr>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23478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B2ACF2FE-3FA7-4ABC-8D10-AB106564C9F6}"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245932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7AD803F9-FDAA-4AD8-AB1F-AC9EA3FA17D9}" type="datetimeFigureOut">
              <a:rPr lang="en-US" smtClean="0"/>
              <a:pPr>
                <a:defRPr/>
              </a:pPr>
              <a:t>1/14/2026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7181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a:pPr>
                <a:defRPr/>
              </a:pPr>
              <a:t>1/14/2026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l" rtl="0" fontAlgn="base">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fontAlgn="base">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fontAlgn="base">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fontAlgn="base">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fontAlgn="base">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fontAlgn="base">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fontAlgn="base">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05979"/>
            <a:ext cx="82296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cs typeface="+mn-cs"/>
              </a:defRPr>
            </a:lvl1pPr>
          </a:lstStyle>
          <a:p>
            <a:pPr>
              <a:defRPr/>
            </a:pPr>
            <a:fld id="{AADEF755-0B60-4A3E-9C6A-4CADF1C89A5E}" type="datetimeFigureOut">
              <a:rPr lang="en-US" smtClean="0"/>
              <a:pPr>
                <a:defRPr/>
              </a:pPr>
              <a:t>1/14/2026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rtl="0" eaLnBrk="1" fontAlgn="base" hangingPunct="1">
        <a:spcBef>
          <a:spcPct val="0"/>
        </a:spcBef>
        <a:spcAft>
          <a:spcPct val="0"/>
        </a:spcAft>
        <a:defRPr sz="4400" kern="1200">
          <a:solidFill>
            <a:srgbClr val="002060"/>
          </a:solidFill>
          <a:latin typeface="Arial Bold" pitchFamily="-72" charset="0"/>
          <a:ea typeface="ＭＳ Ｐゴシック" pitchFamily="-72" charset="-128"/>
          <a:cs typeface="ＭＳ Ｐゴシック" pitchFamily="-72" charset="-128"/>
        </a:defRPr>
      </a:lvl1pPr>
      <a:lvl2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2pPr>
      <a:lvl3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3pPr>
      <a:lvl4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4pPr>
      <a:lvl5pPr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5pPr>
      <a:lvl6pPr marL="4572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6pPr>
      <a:lvl7pPr marL="9144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7pPr>
      <a:lvl8pPr marL="13716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8pPr>
      <a:lvl9pPr marL="1828800" algn="l" rtl="0" eaLnBrk="1" fontAlgn="base" hangingPunct="1">
        <a:spcBef>
          <a:spcPct val="0"/>
        </a:spcBef>
        <a:spcAft>
          <a:spcPct val="0"/>
        </a:spcAft>
        <a:defRPr sz="4400">
          <a:solidFill>
            <a:schemeClr val="tx2"/>
          </a:solidFill>
          <a:latin typeface="Arial Bold" pitchFamily="-72" charset="0"/>
          <a:ea typeface="ＭＳ Ｐゴシック" pitchFamily="-72" charset="-128"/>
          <a:cs typeface="ＭＳ Ｐゴシック" pitchFamily="-72" charset="-128"/>
        </a:defRPr>
      </a:lvl9pPr>
    </p:titleStyle>
    <p:bodyStyle>
      <a:lvl1pPr marL="342900" indent="-342900" algn="l" rtl="0" eaLnBrk="1" fontAlgn="base" hangingPunct="1">
        <a:spcBef>
          <a:spcPct val="20000"/>
        </a:spcBef>
        <a:spcAft>
          <a:spcPct val="0"/>
        </a:spcAft>
        <a:buClr>
          <a:schemeClr val="accent1"/>
        </a:buClr>
        <a:buFont typeface="Arial" pitchFamily="-72" charset="0"/>
        <a:buChar char="•"/>
        <a:defRPr sz="3200" kern="1200">
          <a:solidFill>
            <a:schemeClr val="tx1"/>
          </a:solidFill>
          <a:latin typeface="Arial" pitchFamily="-72" charset="0"/>
          <a:ea typeface="ＭＳ Ｐゴシック" pitchFamily="-72" charset="-128"/>
          <a:cs typeface="ＭＳ Ｐゴシック" pitchFamily="-72" charset="-128"/>
        </a:defRPr>
      </a:lvl1pPr>
      <a:lvl2pPr marL="742950" indent="-285750" algn="l" rtl="0" eaLnBrk="1" fontAlgn="base" hangingPunct="1">
        <a:spcBef>
          <a:spcPct val="20000"/>
        </a:spcBef>
        <a:spcAft>
          <a:spcPct val="0"/>
        </a:spcAft>
        <a:buClr>
          <a:schemeClr val="tx2"/>
        </a:buClr>
        <a:buFont typeface="Arial" pitchFamily="-72" charset="0"/>
        <a:buChar char="–"/>
        <a:defRPr sz="2800" kern="1200">
          <a:solidFill>
            <a:schemeClr val="tx1"/>
          </a:solidFill>
          <a:latin typeface="Arial" pitchFamily="-72" charset="0"/>
          <a:ea typeface="ＭＳ Ｐゴシック" pitchFamily="-72" charset="-128"/>
          <a:cs typeface="+mn-cs"/>
        </a:defRPr>
      </a:lvl2pPr>
      <a:lvl3pPr marL="1143000" indent="-228600" algn="l" rtl="0" eaLnBrk="1" fontAlgn="base" hangingPunct="1">
        <a:spcBef>
          <a:spcPct val="20000"/>
        </a:spcBef>
        <a:spcAft>
          <a:spcPct val="0"/>
        </a:spcAft>
        <a:buClr>
          <a:schemeClr val="bg2"/>
        </a:buClr>
        <a:buFont typeface="Arial" pitchFamily="-72" charset="0"/>
        <a:buChar char="•"/>
        <a:defRPr sz="2400" kern="1200">
          <a:solidFill>
            <a:schemeClr val="tx1"/>
          </a:solidFill>
          <a:latin typeface="Arial" pitchFamily="-72" charset="0"/>
          <a:ea typeface="ＭＳ Ｐゴシック" pitchFamily="-72" charset="-128"/>
          <a:cs typeface="+mn-cs"/>
        </a:defRPr>
      </a:lvl3pPr>
      <a:lvl4pPr marL="1600200" indent="-228600" algn="l" rtl="0" eaLnBrk="1" fontAlgn="base" hangingPunct="1">
        <a:spcBef>
          <a:spcPct val="20000"/>
        </a:spcBef>
        <a:spcAft>
          <a:spcPct val="0"/>
        </a:spcAft>
        <a:buClr>
          <a:schemeClr val="accent1"/>
        </a:buClr>
        <a:buFont typeface="Arial" pitchFamily="-72" charset="0"/>
        <a:buChar char="–"/>
        <a:defRPr sz="2000" kern="1200">
          <a:solidFill>
            <a:schemeClr val="tx1"/>
          </a:solidFill>
          <a:latin typeface="Arial" pitchFamily="-72" charset="0"/>
          <a:ea typeface="ＭＳ Ｐゴシック" pitchFamily="-72" charset="-128"/>
          <a:cs typeface="+mn-cs"/>
        </a:defRPr>
      </a:lvl4pPr>
      <a:lvl5pPr marL="2057400" indent="-228600" algn="l" rtl="0" eaLnBrk="1" fontAlgn="base" hangingPunct="1">
        <a:spcBef>
          <a:spcPct val="20000"/>
        </a:spcBef>
        <a:spcAft>
          <a:spcPct val="0"/>
        </a:spcAft>
        <a:buClr>
          <a:schemeClr val="tx2"/>
        </a:buClr>
        <a:buFont typeface="Arial" pitchFamily="-72" charset="0"/>
        <a:buChar char="»"/>
        <a:defRPr sz="2000" kern="1200">
          <a:solidFill>
            <a:schemeClr val="tx1"/>
          </a:solidFill>
          <a:latin typeface="Arial" pitchFamily="-72" charset="0"/>
          <a:ea typeface="ＭＳ Ｐゴシック" pitchFamily="-72"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cstate="print">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pPr>
              <a:defRPr/>
            </a:pPr>
            <a:fld id="{AADEF755-0B60-4A3E-9C6A-4CADF1C89A5E}" type="datetimeFigureOut">
              <a:rPr lang="en-US" smtClean="0"/>
              <a:pPr>
                <a:defRPr/>
              </a:pPr>
              <a:t>1/14/2026</a:t>
            </a:fld>
            <a:endParaRPr lang="en-US"/>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369856"/>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23.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hyperlink" Target="https://techbash.com/"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6.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8" Type="http://schemas.openxmlformats.org/officeDocument/2006/relationships/hyperlink" Target="https://github.com/dotnet/maui-samples" TargetMode="External"/><Relationship Id="rId3" Type="http://schemas.openxmlformats.org/officeDocument/2006/relationships/hyperlink" Target="https://learn.microsoft.com/dotnet/maui/" TargetMode="External"/><Relationship Id="rId7" Type="http://schemas.openxmlformats.org/officeDocument/2006/relationships/hyperlink" Target="https://www.youtube.com/watch?v=SeRGpBR3-3M&amp;list=PLdo4fOcmZ0oX-sL7AFmygVw2A37Hbp8ZS" TargetMode="External"/><Relationship Id="rId2" Type="http://schemas.openxmlformats.org/officeDocument/2006/relationships/notesSlide" Target="../notesSlides/notesSlide22.xml"/><Relationship Id="rId1" Type="http://schemas.openxmlformats.org/officeDocument/2006/relationships/slideLayout" Target="../slideLayouts/slideLayout24.xml"/><Relationship Id="rId6" Type="http://schemas.openxmlformats.org/officeDocument/2006/relationships/hyperlink" Target="https://learn.microsoft.com/training/paths/build-apps-with-dotnet-maui/" TargetMode="External"/><Relationship Id="rId5" Type="http://schemas.openxmlformats.org/officeDocument/2006/relationships/hyperlink" Target="https://learn.microsoft.com/dotnet/maui/get-started/first-app" TargetMode="External"/><Relationship Id="rId4" Type="http://schemas.openxmlformats.org/officeDocument/2006/relationships/hyperlink" Target="https://learn.microsoft.com/dotnet/communitytoolkit/maui/"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hyperlink" Target="mailto:alashcraft@gmail.com" TargetMode="External"/><Relationship Id="rId2" Type="http://schemas.openxmlformats.org/officeDocument/2006/relationships/notesSlide" Target="../notesSlides/notesSlide24.xml"/><Relationship Id="rId1" Type="http://schemas.openxmlformats.org/officeDocument/2006/relationships/slideLayout" Target="../slideLayouts/slideLayout24.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4" name="Picture 23">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26" name="Straight Connector 25">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0" name="Rectangle 29">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4" name="Rectangle 33">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98" y="478881"/>
            <a:ext cx="8179004" cy="363257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653" y="649250"/>
            <a:ext cx="7838694" cy="329184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2">
            <a:schemeClr val="dk2"/>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6097" y="772694"/>
            <a:ext cx="7591806" cy="3044952"/>
          </a:xfrm>
          <a:prstGeom prst="rect">
            <a:avLst/>
          </a:prstGeom>
          <a:noFill/>
          <a:ln>
            <a:solidFill>
              <a:srgbClr val="DFD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3"/>
          <p:cNvSpPr txBox="1">
            <a:spLocks noChangeArrowheads="1"/>
          </p:cNvSpPr>
          <p:nvPr/>
        </p:nvSpPr>
        <p:spPr bwMode="auto">
          <a:xfrm>
            <a:off x="1088684" y="1032039"/>
            <a:ext cx="7054418" cy="1467702"/>
          </a:xfrm>
          <a:prstGeom prst="rect">
            <a:avLst/>
          </a:prstGeom>
        </p:spPr>
        <p:txBody>
          <a:bodyPr vert="horz" lIns="91440" tIns="45720" rIns="91440" bIns="45720" rtlCol="0" anchor="ctr">
            <a:prstTxWarp prst="textNoShape">
              <a:avLst/>
            </a:prstTxWarp>
            <a:normAutofit/>
          </a:bodyPr>
          <a:lstStyle/>
          <a:p>
            <a:pPr>
              <a:lnSpc>
                <a:spcPct val="90000"/>
              </a:lnSpc>
              <a:spcAft>
                <a:spcPts val="600"/>
              </a:spcAft>
            </a:pPr>
            <a:r>
              <a:rPr lang="en-US" sz="2800" b="0" i="0" kern="1200" cap="all" dirty="0">
                <a:solidFill>
                  <a:srgbClr val="FFFFFF"/>
                </a:solidFill>
                <a:effectLst/>
                <a:latin typeface="+mj-lt"/>
                <a:ea typeface="+mj-ea"/>
                <a:cs typeface="+mj-cs"/>
              </a:rPr>
              <a:t>Create Multi-Platform Apps</a:t>
            </a:r>
          </a:p>
          <a:p>
            <a:pPr>
              <a:lnSpc>
                <a:spcPct val="90000"/>
              </a:lnSpc>
              <a:spcAft>
                <a:spcPts val="600"/>
              </a:spcAft>
            </a:pPr>
            <a:r>
              <a:rPr lang="en-US" sz="2800" b="0" i="0" kern="1200" cap="all" dirty="0">
                <a:solidFill>
                  <a:srgbClr val="FFFFFF"/>
                </a:solidFill>
                <a:effectLst/>
                <a:latin typeface="+mj-lt"/>
                <a:ea typeface="+mj-ea"/>
                <a:cs typeface="+mj-cs"/>
              </a:rPr>
              <a:t>with .NET MAUI &amp; the MAUI Community Toolkit</a:t>
            </a:r>
          </a:p>
        </p:txBody>
      </p:sp>
      <p:sp>
        <p:nvSpPr>
          <p:cNvPr id="6" name="Rectangle 5"/>
          <p:cNvSpPr>
            <a:spLocks noChangeArrowheads="1"/>
          </p:cNvSpPr>
          <p:nvPr/>
        </p:nvSpPr>
        <p:spPr bwMode="auto">
          <a:xfrm>
            <a:off x="1088684" y="2820007"/>
            <a:ext cx="7054418" cy="831413"/>
          </a:xfrm>
          <a:prstGeom prst="rect">
            <a:avLst/>
          </a:prstGeom>
        </p:spPr>
        <p:txBody>
          <a:bodyPr vert="horz" lIns="91440" tIns="45720" rIns="91440" bIns="45720" rtlCol="0" anchor="t">
            <a:prstTxWarp prst="textNoShape">
              <a:avLst/>
            </a:prstTxWarp>
            <a:normAutofit fontScale="92500" lnSpcReduction="10000"/>
          </a:bodyPr>
          <a:lstStyle/>
          <a:p>
            <a:pPr indent="-228600">
              <a:lnSpc>
                <a:spcPct val="120000"/>
              </a:lnSpc>
              <a:spcAft>
                <a:spcPts val="600"/>
              </a:spcAft>
              <a:buClr>
                <a:schemeClr val="accent1"/>
              </a:buClr>
              <a:buSzPct val="100000"/>
              <a:buFont typeface="Arial" panose="020B0604020202020204" pitchFamily="34" charset="0"/>
              <a:buChar char="•"/>
            </a:pPr>
            <a:r>
              <a:rPr lang="en-US" b="1" dirty="0">
                <a:solidFill>
                  <a:srgbClr val="FFFFFF"/>
                </a:solidFill>
                <a:latin typeface="+mn-lt"/>
                <a:ea typeface="+mn-ea"/>
                <a:cs typeface="+mn-cs"/>
              </a:rPr>
              <a:t>Alvin Ashcraft</a:t>
            </a:r>
          </a:p>
          <a:p>
            <a:pPr indent="-228600">
              <a:lnSpc>
                <a:spcPct val="120000"/>
              </a:lnSpc>
              <a:spcAft>
                <a:spcPts val="600"/>
              </a:spcAft>
              <a:buClr>
                <a:schemeClr val="accent1"/>
              </a:buClr>
              <a:buSzPct val="100000"/>
              <a:buFont typeface="Arial" panose="020B0604020202020204" pitchFamily="34" charset="0"/>
              <a:buChar char="•"/>
            </a:pPr>
            <a:r>
              <a:rPr lang="en-US" b="1" dirty="0">
                <a:solidFill>
                  <a:srgbClr val="FFFFFF"/>
                </a:solidFill>
                <a:latin typeface="+mn-lt"/>
                <a:ea typeface="+mn-ea"/>
                <a:cs typeface="+mn-cs"/>
              </a:rPr>
              <a:t>Sr. Content Developer, Microsoft</a:t>
            </a:r>
          </a:p>
          <a:p>
            <a:pPr indent="-228600">
              <a:lnSpc>
                <a:spcPct val="120000"/>
              </a:lnSpc>
              <a:spcAft>
                <a:spcPts val="600"/>
              </a:spcAft>
              <a:buClr>
                <a:schemeClr val="accent1"/>
              </a:buClr>
              <a:buSzPct val="100000"/>
              <a:buFont typeface="Arial" panose="020B0604020202020204" pitchFamily="34" charset="0"/>
              <a:buChar char="•"/>
            </a:pPr>
            <a:endParaRPr lang="en-US" b="1" dirty="0">
              <a:solidFill>
                <a:srgbClr val="FFFFFF"/>
              </a:solidFill>
              <a:latin typeface="+mn-lt"/>
              <a:ea typeface="+mn-ea"/>
              <a:cs typeface="+mn-cs"/>
            </a:endParaRPr>
          </a:p>
          <a:p>
            <a:pPr indent="-228600">
              <a:lnSpc>
                <a:spcPct val="120000"/>
              </a:lnSpc>
              <a:spcAft>
                <a:spcPts val="600"/>
              </a:spcAft>
              <a:buClr>
                <a:schemeClr val="accent1"/>
              </a:buClr>
              <a:buSzPct val="100000"/>
              <a:buFont typeface="Arial" panose="020B0604020202020204" pitchFamily="34" charset="0"/>
              <a:buChar char="•"/>
            </a:pPr>
            <a:endParaRPr lang="en-US" dirty="0">
              <a:solidFill>
                <a:srgbClr val="FFFFFF"/>
              </a:solidFill>
              <a:latin typeface="+mn-lt"/>
              <a:ea typeface="+mn-ea"/>
              <a:cs typeface="+mn-cs"/>
            </a:endParaRPr>
          </a:p>
        </p:txBody>
      </p:sp>
      <p:pic>
        <p:nvPicPr>
          <p:cNvPr id="40" name="Picture 39">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Tree>
  </p:cSld>
  <p:clrMapOvr>
    <a:overrideClrMapping bg1="lt1" tx1="dk1" bg2="lt2" tx2="dk2" accent1="accent1" accent2="accent2" accent3="accent3" accent4="accent4" accent5="accent5" accent6="accent6" hlink="hlink" folHlink="folHlink"/>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E724B9E8-02C8-4B2E-8770-A00A67760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0" name="Picture 39">
            <a:extLst>
              <a:ext uri="{FF2B5EF4-FFF2-40B4-BE49-F238E27FC236}">
                <a16:creationId xmlns:a16="http://schemas.microsoft.com/office/drawing/2014/main" id="{7B8AE548-0BFA-4792-9962-3375923C76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42" name="Straight Connector 41">
            <a:extLst>
              <a:ext uri="{FF2B5EF4-FFF2-40B4-BE49-F238E27FC236}">
                <a16:creationId xmlns:a16="http://schemas.microsoft.com/office/drawing/2014/main" id="{67639EF4-FA83-4D85-90FE-B831AF2838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C87E76A-8F50-413D-9BFC-C5A1525BD9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813335" y="2646406"/>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46" name="Rectangle 45">
            <a:extLst>
              <a:ext uri="{FF2B5EF4-FFF2-40B4-BE49-F238E27FC236}">
                <a16:creationId xmlns:a16="http://schemas.microsoft.com/office/drawing/2014/main" id="{0F28EA84-13B4-4494-A4D3-8DE462FF0E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BEB1B24-66CE-4D63-A39D-2D1B481DF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76D75-2507-4C63-1E83-41C64B0742D8}"/>
              </a:ext>
            </a:extLst>
          </p:cNvPr>
          <p:cNvSpPr>
            <a:spLocks noGrp="1"/>
          </p:cNvSpPr>
          <p:nvPr>
            <p:ph type="title"/>
          </p:nvPr>
        </p:nvSpPr>
        <p:spPr>
          <a:xfrm>
            <a:off x="494475" y="1106226"/>
            <a:ext cx="2117940" cy="1401570"/>
          </a:xfrm>
        </p:spPr>
        <p:txBody>
          <a:bodyPr vert="horz" lIns="91440" tIns="45720" rIns="91440" bIns="0" rtlCol="0" anchor="b">
            <a:normAutofit/>
          </a:bodyPr>
          <a:lstStyle/>
          <a:p>
            <a:pPr defTabSz="914400"/>
            <a:r>
              <a:rPr lang="en-US" sz="2700"/>
              <a:t>Thank You Codemash Sponsors!</a:t>
            </a:r>
          </a:p>
        </p:txBody>
      </p:sp>
      <p:cxnSp>
        <p:nvCxnSpPr>
          <p:cNvPr id="50" name="Straight Connector 49">
            <a:extLst>
              <a:ext uri="{FF2B5EF4-FFF2-40B4-BE49-F238E27FC236}">
                <a16:creationId xmlns:a16="http://schemas.microsoft.com/office/drawing/2014/main" id="{78DE337D-1DBA-4536-8145-B43EE65C74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4475" y="2646407"/>
            <a:ext cx="2117940"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10" name="Content Placeholder 9">
            <a:extLst>
              <a:ext uri="{FF2B5EF4-FFF2-40B4-BE49-F238E27FC236}">
                <a16:creationId xmlns:a16="http://schemas.microsoft.com/office/drawing/2014/main" id="{A28EE94D-E843-59D6-AF69-ABA03215D744}"/>
              </a:ext>
            </a:extLst>
          </p:cNvPr>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2992109" y="1488553"/>
            <a:ext cx="2769862" cy="1606519"/>
          </a:xfrm>
          <a:prstGeom prst="rect">
            <a:avLst/>
          </a:prstGeom>
        </p:spPr>
      </p:pic>
      <p:pic>
        <p:nvPicPr>
          <p:cNvPr id="12" name="Content Placeholder 11">
            <a:extLst>
              <a:ext uri="{FF2B5EF4-FFF2-40B4-BE49-F238E27FC236}">
                <a16:creationId xmlns:a16="http://schemas.microsoft.com/office/drawing/2014/main" id="{19CAC43D-5697-1943-08EA-D8B7B0FFA181}"/>
              </a:ext>
            </a:extLst>
          </p:cNvPr>
          <p:cNvPicPr>
            <a:picLocks noGrp="1" noChangeAspect="1"/>
          </p:cNvPicPr>
          <p:nvPr>
            <p:ph sz="half" idx="1"/>
          </p:nvPr>
        </p:nvPicPr>
        <p:blipFill>
          <a:blip r:embed="rId5" cstate="print">
            <a:extLst>
              <a:ext uri="{28A0092B-C50C-407E-A947-70E740481C1C}">
                <a14:useLocalDpi xmlns:a14="http://schemas.microsoft.com/office/drawing/2010/main" val="0"/>
              </a:ext>
            </a:extLst>
          </a:blip>
          <a:stretch>
            <a:fillRect/>
          </a:stretch>
        </p:blipFill>
        <p:spPr>
          <a:xfrm>
            <a:off x="5884765" y="517534"/>
            <a:ext cx="2765376" cy="1555523"/>
          </a:xfrm>
          <a:prstGeom prst="rect">
            <a:avLst/>
          </a:prstGeom>
        </p:spPr>
      </p:pic>
      <p:pic>
        <p:nvPicPr>
          <p:cNvPr id="8" name="Content Placeholder 7">
            <a:extLst>
              <a:ext uri="{FF2B5EF4-FFF2-40B4-BE49-F238E27FC236}">
                <a16:creationId xmlns:a16="http://schemas.microsoft.com/office/drawing/2014/main" id="{18EFAE43-3232-7C87-9AC9-9B8C5B6F687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84538" y="2534764"/>
            <a:ext cx="2765376" cy="1507129"/>
          </a:xfrm>
          <a:prstGeom prst="rect">
            <a:avLst/>
          </a:prstGeom>
        </p:spPr>
      </p:pic>
      <p:pic>
        <p:nvPicPr>
          <p:cNvPr id="52" name="Picture 51">
            <a:extLst>
              <a:ext uri="{FF2B5EF4-FFF2-40B4-BE49-F238E27FC236}">
                <a16:creationId xmlns:a16="http://schemas.microsoft.com/office/drawing/2014/main" id="{E7233926-059A-41AD-A9F2-56552CF4FF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54" name="Straight Connector 53">
            <a:extLst>
              <a:ext uri="{FF2B5EF4-FFF2-40B4-BE49-F238E27FC236}">
                <a16:creationId xmlns:a16="http://schemas.microsoft.com/office/drawing/2014/main" id="{C13C145E-93D4-481E-92DC-736D9EBA37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9160CCCE-D5CC-1672-79A2-009669140583}"/>
              </a:ext>
            </a:extLst>
          </p:cNvPr>
          <p:cNvPicPr>
            <a:picLocks noChangeAspect="1"/>
          </p:cNvPicPr>
          <p:nvPr/>
        </p:nvPicPr>
        <p:blipFill>
          <a:blip r:embed="rId7"/>
          <a:stretch>
            <a:fillRect/>
          </a:stretch>
        </p:blipFill>
        <p:spPr>
          <a:xfrm>
            <a:off x="949934" y="3095072"/>
            <a:ext cx="1207021" cy="1207021"/>
          </a:xfrm>
          <a:prstGeom prst="rect">
            <a:avLst/>
          </a:prstGeom>
        </p:spPr>
      </p:pic>
    </p:spTree>
    <p:extLst>
      <p:ext uri="{BB962C8B-B14F-4D97-AF65-F5344CB8AC3E}">
        <p14:creationId xmlns:p14="http://schemas.microsoft.com/office/powerpoint/2010/main" val="4156075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27" name="Rectangle 17426">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28" name="Picture 17427">
            <a:extLst>
              <a:ext uri="{FF2B5EF4-FFF2-40B4-BE49-F238E27FC236}">
                <a16:creationId xmlns:a16="http://schemas.microsoft.com/office/drawing/2014/main" id="{517FFD6D-48C1-A976-FC0E-C44AD6B2D257}"/>
              </a:ext>
            </a:extLst>
          </p:cNvPr>
          <p:cNvPicPr>
            <a:picLocks noChangeAspect="1"/>
          </p:cNvPicPr>
          <p:nvPr/>
        </p:nvPicPr>
        <p:blipFill>
          <a:blip r:embed="rId3">
            <a:alphaModFix amt="50000"/>
            <a:grayscl/>
          </a:blip>
          <a:srcRect l="18191" r="479" b="2"/>
          <a:stretch>
            <a:fillRect/>
          </a:stretch>
        </p:blipFill>
        <p:spPr>
          <a:xfrm>
            <a:off x="228" y="10"/>
            <a:ext cx="9143772" cy="5143490"/>
          </a:xfrm>
          <a:prstGeom prst="rect">
            <a:avLst/>
          </a:prstGeom>
        </p:spPr>
      </p:pic>
      <p:sp>
        <p:nvSpPr>
          <p:cNvPr id="17429"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34225" y="332799"/>
            <a:ext cx="608265" cy="377683"/>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7430"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2477" y="405690"/>
            <a:ext cx="3730436" cy="2319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7431" name="Rectangle 17430">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5350"/>
            <a:ext cx="9144000" cy="424814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7410" name="Title 1"/>
          <p:cNvSpPr>
            <a:spLocks noGrp="1"/>
          </p:cNvSpPr>
          <p:nvPr>
            <p:ph type="title"/>
          </p:nvPr>
        </p:nvSpPr>
        <p:spPr>
          <a:xfrm>
            <a:off x="847703" y="895350"/>
            <a:ext cx="2394787" cy="3524250"/>
          </a:xfrm>
        </p:spPr>
        <p:txBody>
          <a:bodyPr anchor="ctr">
            <a:normAutofit/>
          </a:bodyPr>
          <a:lstStyle/>
          <a:p>
            <a:r>
              <a:rPr lang="en-US"/>
              <a:t>Agenda</a:t>
            </a:r>
          </a:p>
        </p:txBody>
      </p:sp>
      <p:cxnSp>
        <p:nvCxnSpPr>
          <p:cNvPr id="17432" name="Straight Connector 17431">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200150"/>
            <a:ext cx="0" cy="27432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2477" y="895350"/>
            <a:ext cx="4563818" cy="3524250"/>
          </a:xfrm>
        </p:spPr>
        <p:txBody>
          <a:bodyPr anchor="ctr">
            <a:normAutofit lnSpcReduction="10000"/>
          </a:bodyPr>
          <a:lstStyle/>
          <a:p>
            <a:pPr>
              <a:lnSpc>
                <a:spcPct val="110000"/>
              </a:lnSpc>
            </a:pPr>
            <a:r>
              <a:rPr lang="en-US" sz="1300" dirty="0"/>
              <a:t>About Me</a:t>
            </a:r>
          </a:p>
          <a:p>
            <a:pPr>
              <a:lnSpc>
                <a:spcPct val="110000"/>
              </a:lnSpc>
            </a:pPr>
            <a:r>
              <a:rPr lang="en-US" sz="1300" dirty="0"/>
              <a:t>Introduction to .NET MAUI and Cross-Platform Apps</a:t>
            </a:r>
          </a:p>
          <a:p>
            <a:pPr>
              <a:lnSpc>
                <a:spcPct val="110000"/>
              </a:lnSpc>
            </a:pPr>
            <a:r>
              <a:rPr lang="en-US" sz="1300" dirty="0"/>
              <a:t>Develop on Windows and macOS</a:t>
            </a:r>
          </a:p>
          <a:p>
            <a:pPr>
              <a:lnSpc>
                <a:spcPct val="110000"/>
              </a:lnSpc>
            </a:pPr>
            <a:r>
              <a:rPr lang="en-US" sz="1300" dirty="0"/>
              <a:t>Rapid App Building with XAML, C# &amp; Visual Studio</a:t>
            </a:r>
          </a:p>
          <a:p>
            <a:pPr>
              <a:lnSpc>
                <a:spcPct val="110000"/>
              </a:lnSpc>
            </a:pPr>
            <a:r>
              <a:rPr lang="en-US" sz="1300" dirty="0"/>
              <a:t>Enhance Apps with the .NET MAUI Community Toolkit</a:t>
            </a:r>
          </a:p>
          <a:p>
            <a:pPr>
              <a:lnSpc>
                <a:spcPct val="110000"/>
              </a:lnSpc>
            </a:pPr>
            <a:r>
              <a:rPr lang="en-US" sz="1300" dirty="0"/>
              <a:t>Simplify Your MVVM Architecture with the MVVM Toolkit</a:t>
            </a:r>
          </a:p>
          <a:p>
            <a:pPr>
              <a:lnSpc>
                <a:spcPct val="110000"/>
              </a:lnSpc>
            </a:pPr>
            <a:r>
              <a:rPr lang="en-US" sz="1300" dirty="0"/>
              <a:t>Build Apps with C# Markup in VS Code: No XAML Required</a:t>
            </a:r>
          </a:p>
          <a:p>
            <a:pPr>
              <a:lnSpc>
                <a:spcPct val="110000"/>
              </a:lnSpc>
            </a:pPr>
            <a:r>
              <a:rPr lang="en-US" sz="1300" dirty="0"/>
              <a:t>Style Apps with CSS</a:t>
            </a:r>
          </a:p>
          <a:p>
            <a:pPr>
              <a:lnSpc>
                <a:spcPct val="110000"/>
              </a:lnSpc>
            </a:pPr>
            <a:r>
              <a:rPr lang="en-US" sz="1300" dirty="0"/>
              <a:t>Access Platform-Specific Features</a:t>
            </a:r>
          </a:p>
          <a:p>
            <a:pPr>
              <a:lnSpc>
                <a:spcPct val="110000"/>
              </a:lnSpc>
            </a:pPr>
            <a:r>
              <a:rPr lang="en-US" sz="1300" dirty="0"/>
              <a:t>Foundry Local models on Windows &amp; Android (time permitting)</a:t>
            </a:r>
          </a:p>
          <a:p>
            <a:pPr>
              <a:lnSpc>
                <a:spcPct val="110000"/>
              </a:lnSpc>
            </a:pPr>
            <a:r>
              <a:rPr lang="en-US" sz="1300" dirty="0"/>
              <a:t>Q&amp;A</a:t>
            </a:r>
          </a:p>
        </p:txBody>
      </p:sp>
      <p:sp>
        <p:nvSpPr>
          <p:cNvPr id="17426"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2421" y="4505908"/>
            <a:ext cx="2625537" cy="2319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68E94B-E27E-50F8-12A8-F260EF3CFE2B}"/>
              </a:ext>
            </a:extLst>
          </p:cNvPr>
          <p:cNvSpPr>
            <a:spLocks noGrp="1"/>
          </p:cNvSpPr>
          <p:nvPr>
            <p:ph type="title"/>
          </p:nvPr>
        </p:nvSpPr>
        <p:spPr>
          <a:xfrm>
            <a:off x="1088684" y="603389"/>
            <a:ext cx="7202456" cy="786926"/>
          </a:xfrm>
        </p:spPr>
        <p:txBody>
          <a:bodyPr>
            <a:normAutofit/>
          </a:bodyPr>
          <a:lstStyle/>
          <a:p>
            <a:r>
              <a:rPr lang="en-US" dirty="0"/>
              <a:t>About Me</a:t>
            </a:r>
          </a:p>
        </p:txBody>
      </p:sp>
      <p:cxnSp>
        <p:nvCxnSpPr>
          <p:cNvPr id="11" name="Straight Connector 10">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8684" y="1390315"/>
            <a:ext cx="720245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628893"/>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5" name="Content Placeholder 2">
            <a:extLst>
              <a:ext uri="{FF2B5EF4-FFF2-40B4-BE49-F238E27FC236}">
                <a16:creationId xmlns:a16="http://schemas.microsoft.com/office/drawing/2014/main" id="{5E29B969-D2BF-8357-1936-0EC8BD85D3A1}"/>
              </a:ext>
            </a:extLst>
          </p:cNvPr>
          <p:cNvGraphicFramePr>
            <a:graphicFrameLocks noGrp="1"/>
          </p:cNvGraphicFramePr>
          <p:nvPr>
            <p:ph idx="1"/>
            <p:extLst>
              <p:ext uri="{D42A27DB-BD31-4B8C-83A1-F6EECF244321}">
                <p14:modId xmlns:p14="http://schemas.microsoft.com/office/powerpoint/2010/main" val="3648594766"/>
              </p:ext>
            </p:extLst>
          </p:nvPr>
        </p:nvGraphicFramePr>
        <p:xfrm>
          <a:off x="1088231" y="1748622"/>
          <a:ext cx="7203281" cy="2792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4179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F6A578F-CEAC-4062-B6A7-640B1A396BCF}"/>
              </a:ext>
            </a:extLst>
          </p:cNvPr>
          <p:cNvSpPr/>
          <p:nvPr/>
        </p:nvSpPr>
        <p:spPr>
          <a:xfrm>
            <a:off x="0" y="841728"/>
            <a:ext cx="9144000" cy="4301773"/>
          </a:xfrm>
          <a:prstGeom prst="rect">
            <a:avLst/>
          </a:prstGeom>
          <a:solidFill>
            <a:srgbClr val="E3F1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7ADA133-D8C7-4CA7-8F73-DBA01B8D925C}"/>
              </a:ext>
            </a:extLst>
          </p:cNvPr>
          <p:cNvSpPr/>
          <p:nvPr/>
        </p:nvSpPr>
        <p:spPr>
          <a:xfrm>
            <a:off x="1" y="0"/>
            <a:ext cx="9144000" cy="7879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4" descr="A picture containing text, map&#10;&#10;Description generated with very high confidence">
            <a:extLst>
              <a:ext uri="{FF2B5EF4-FFF2-40B4-BE49-F238E27FC236}">
                <a16:creationId xmlns:a16="http://schemas.microsoft.com/office/drawing/2014/main" id="{2F15CFF6-EB6F-4E50-BCC9-09B91C4E1B1C}"/>
              </a:ext>
            </a:extLst>
          </p:cNvPr>
          <p:cNvPicPr>
            <a:picLocks noChangeAspect="1"/>
          </p:cNvPicPr>
          <p:nvPr/>
        </p:nvPicPr>
        <p:blipFill>
          <a:blip r:embed="rId3"/>
          <a:stretch>
            <a:fillRect/>
          </a:stretch>
        </p:blipFill>
        <p:spPr>
          <a:xfrm>
            <a:off x="5837224" y="967619"/>
            <a:ext cx="3188905" cy="1931011"/>
          </a:xfrm>
          <a:prstGeom prst="rect">
            <a:avLst/>
          </a:prstGeom>
        </p:spPr>
      </p:pic>
      <p:sp>
        <p:nvSpPr>
          <p:cNvPr id="8" name="TextBox 7">
            <a:extLst>
              <a:ext uri="{FF2B5EF4-FFF2-40B4-BE49-F238E27FC236}">
                <a16:creationId xmlns:a16="http://schemas.microsoft.com/office/drawing/2014/main" id="{DA79E18D-A6D8-4DDA-8EA0-0B22236190BC}"/>
              </a:ext>
            </a:extLst>
          </p:cNvPr>
          <p:cNvSpPr txBox="1"/>
          <p:nvPr/>
        </p:nvSpPr>
        <p:spPr>
          <a:xfrm>
            <a:off x="117872" y="1000984"/>
            <a:ext cx="8365331" cy="321902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marL="257175" indent="-257175">
              <a:lnSpc>
                <a:spcPct val="125000"/>
              </a:lnSpc>
              <a:buFont typeface="Wingdings" panose="05000000000000000000" pitchFamily="2" charset="2"/>
              <a:buChar char="§"/>
            </a:pPr>
            <a:r>
              <a:rPr lang="en-US" sz="1650" dirty="0">
                <a:solidFill>
                  <a:srgbClr val="121921"/>
                </a:solidFill>
                <a:latin typeface="Source Sans Pro" panose="020B0503030403020204" pitchFamily="34" charset="0"/>
                <a:ea typeface="Source Sans Pro" panose="020B0503030403020204" pitchFamily="34" charset="0"/>
                <a:cs typeface="Arial"/>
              </a:rPr>
              <a:t>Great speakers with top content</a:t>
            </a:r>
            <a:endParaRPr lang="en-US">
              <a:cs typeface="Calibri" panose="020F0502020204030204"/>
            </a:endParaRPr>
          </a:p>
          <a:p>
            <a:pPr marL="257175" indent="-257175">
              <a:lnSpc>
                <a:spcPct val="125000"/>
              </a:lnSpc>
              <a:buFont typeface="Wingdings" panose="05000000000000000000" pitchFamily="2" charset="2"/>
              <a:buChar char="§"/>
            </a:pPr>
            <a:r>
              <a:rPr lang="en-US" sz="1650" dirty="0">
                <a:solidFill>
                  <a:srgbClr val="121921"/>
                </a:solidFill>
                <a:latin typeface="Source Sans Pro" panose="020B0503030403020204" pitchFamily="34" charset="0"/>
                <a:ea typeface="Source Sans Pro" panose="020B0503030403020204" pitchFamily="34" charset="0"/>
                <a:cs typeface="Arial"/>
              </a:rPr>
              <a:t>A fraction of the cost of the more crowded conferences </a:t>
            </a:r>
          </a:p>
          <a:p>
            <a:pPr>
              <a:lnSpc>
                <a:spcPct val="125000"/>
              </a:lnSpc>
            </a:pPr>
            <a:r>
              <a:rPr lang="en-US" sz="1650" dirty="0">
                <a:solidFill>
                  <a:srgbClr val="121921"/>
                </a:solidFill>
                <a:latin typeface="Source Sans Pro"/>
                <a:ea typeface="Source Sans Pro"/>
                <a:cs typeface="Arial"/>
              </a:rPr>
              <a:t>         - 3-day conference plus lodging for ~$1000 </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Full-day deep dive preconference sessions available</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Easy travel from almost anywhere</a:t>
            </a:r>
            <a:endParaRPr lang="en-US" sz="1650" dirty="0">
              <a:solidFill>
                <a:srgbClr val="121921"/>
              </a:solidFill>
              <a:latin typeface="Source Sans Pro"/>
              <a:ea typeface="Source Sans Pro"/>
              <a:cs typeface="Calibri"/>
            </a:endParaRP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World-class keynotes</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In addition to the sessions, you get a great hallway </a:t>
            </a:r>
            <a:endParaRPr lang="en-US" sz="1650" dirty="0">
              <a:solidFill>
                <a:srgbClr val="121921"/>
              </a:solidFill>
              <a:latin typeface="Source Sans Pro" panose="020B0503030403020204" pitchFamily="34" charset="0"/>
              <a:ea typeface="Source Sans Pro" panose="020B0503030403020204" pitchFamily="34" charset="0"/>
              <a:cs typeface="Arial"/>
            </a:endParaRPr>
          </a:p>
          <a:p>
            <a:pPr>
              <a:lnSpc>
                <a:spcPct val="125000"/>
              </a:lnSpc>
            </a:pPr>
            <a:r>
              <a:rPr lang="en-US" sz="1650" dirty="0">
                <a:solidFill>
                  <a:srgbClr val="121921"/>
                </a:solidFill>
                <a:latin typeface="Source Sans Pro"/>
                <a:ea typeface="Source Sans Pro"/>
                <a:cs typeface="Arial"/>
              </a:rPr>
              <a:t>      Track, amazing food, attendee Welcome Reception, Game Night &amp; more</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Family Day Friday - full day of kids' sessions, free for attendees' families</a:t>
            </a:r>
          </a:p>
          <a:p>
            <a:pPr marL="257175" indent="-257175">
              <a:lnSpc>
                <a:spcPct val="125000"/>
              </a:lnSpc>
              <a:buFont typeface="Wingdings" panose="05000000000000000000" pitchFamily="2" charset="2"/>
              <a:buChar char="§"/>
            </a:pPr>
            <a:r>
              <a:rPr lang="en-US" sz="1650" dirty="0">
                <a:solidFill>
                  <a:srgbClr val="121921"/>
                </a:solidFill>
                <a:latin typeface="Source Sans Pro"/>
                <a:ea typeface="Source Sans Pro"/>
                <a:cs typeface="Arial"/>
              </a:rPr>
              <a:t>Discounted Kalahari Resort rooms with water park access: stay, learn &amp; play all week</a:t>
            </a:r>
          </a:p>
        </p:txBody>
      </p:sp>
      <p:sp>
        <p:nvSpPr>
          <p:cNvPr id="9" name="TextBox 8">
            <a:extLst>
              <a:ext uri="{FF2B5EF4-FFF2-40B4-BE49-F238E27FC236}">
                <a16:creationId xmlns:a16="http://schemas.microsoft.com/office/drawing/2014/main" id="{3E93AAE9-B6FF-416F-900F-43D38126E2F1}"/>
              </a:ext>
            </a:extLst>
          </p:cNvPr>
          <p:cNvSpPr txBox="1"/>
          <p:nvPr/>
        </p:nvSpPr>
        <p:spPr>
          <a:xfrm>
            <a:off x="2485269" y="4645935"/>
            <a:ext cx="4173461" cy="34624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dirty="0">
                <a:solidFill>
                  <a:srgbClr val="121921"/>
                </a:solidFill>
                <a:latin typeface="Source Sans Pro Black" panose="020B0803030403020204" pitchFamily="34" charset="0"/>
                <a:ea typeface="Source Sans Pro" panose="020B0503030403020204" pitchFamily="34" charset="0"/>
                <a:cs typeface="Segoe UI"/>
                <a:hlinkClick r:id="rId4">
                  <a:extLst>
                    <a:ext uri="{A12FA001-AC4F-418D-AE19-62706E023703}">
                      <ahyp:hlinkClr xmlns:ahyp="http://schemas.microsoft.com/office/drawing/2018/hyperlinkcolor" val="tx"/>
                    </a:ext>
                  </a:extLst>
                </a:hlinkClick>
              </a:rPr>
              <a:t>https://techbash.com</a:t>
            </a:r>
            <a:r>
              <a:rPr lang="en-US" dirty="0">
                <a:solidFill>
                  <a:srgbClr val="121921"/>
                </a:solidFill>
                <a:latin typeface="Source Sans Pro" panose="020B0503030403020204" pitchFamily="34" charset="0"/>
                <a:ea typeface="Source Sans Pro" panose="020B0503030403020204" pitchFamily="34" charset="0"/>
              </a:rPr>
              <a:t> or </a:t>
            </a:r>
            <a:r>
              <a:rPr lang="en-US" dirty="0">
                <a:solidFill>
                  <a:srgbClr val="121921"/>
                </a:solidFill>
                <a:latin typeface="Source Sans Pro Black" panose="020B0803030403020204" pitchFamily="34" charset="0"/>
                <a:ea typeface="Source Sans Pro" panose="020B0503030403020204" pitchFamily="34" charset="0"/>
              </a:rPr>
              <a:t>@techbash</a:t>
            </a:r>
            <a:endParaRPr lang="en-US" dirty="0">
              <a:solidFill>
                <a:srgbClr val="121921"/>
              </a:solidFill>
              <a:latin typeface="Source Sans Pro Black" panose="020B0803030403020204" pitchFamily="34" charset="0"/>
              <a:ea typeface="Source Sans Pro" panose="020B0503030403020204" pitchFamily="34" charset="0"/>
              <a:cs typeface="Calibri"/>
            </a:endParaRPr>
          </a:p>
        </p:txBody>
      </p:sp>
      <p:pic>
        <p:nvPicPr>
          <p:cNvPr id="10" name="Picture 10" descr="A picture containing indoor, building, table&#10;&#10;Description generated with high confidence">
            <a:extLst>
              <a:ext uri="{FF2B5EF4-FFF2-40B4-BE49-F238E27FC236}">
                <a16:creationId xmlns:a16="http://schemas.microsoft.com/office/drawing/2014/main" id="{A92F3EB1-8376-4601-B443-DFB7DE3FFAA7}"/>
              </a:ext>
            </a:extLst>
          </p:cNvPr>
          <p:cNvPicPr>
            <a:picLocks noChangeAspect="1"/>
          </p:cNvPicPr>
          <p:nvPr/>
        </p:nvPicPr>
        <p:blipFill>
          <a:blip r:embed="rId5"/>
          <a:stretch>
            <a:fillRect/>
          </a:stretch>
        </p:blipFill>
        <p:spPr>
          <a:xfrm>
            <a:off x="7997429" y="3057886"/>
            <a:ext cx="1028700" cy="1271588"/>
          </a:xfrm>
          <a:prstGeom prst="rect">
            <a:avLst/>
          </a:prstGeom>
        </p:spPr>
      </p:pic>
      <p:pic>
        <p:nvPicPr>
          <p:cNvPr id="5" name="Picture 4" descr="A close up of a logo&#10;&#10;Description automatically generated">
            <a:extLst>
              <a:ext uri="{FF2B5EF4-FFF2-40B4-BE49-F238E27FC236}">
                <a16:creationId xmlns:a16="http://schemas.microsoft.com/office/drawing/2014/main" id="{5750C9C9-120D-4C81-BB23-3B8D109EA1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 y="794118"/>
            <a:ext cx="9144000" cy="53788"/>
          </a:xfrm>
          <a:prstGeom prst="rect">
            <a:avLst/>
          </a:prstGeom>
        </p:spPr>
      </p:pic>
      <p:pic>
        <p:nvPicPr>
          <p:cNvPr id="11" name="Picture 10">
            <a:extLst>
              <a:ext uri="{FF2B5EF4-FFF2-40B4-BE49-F238E27FC236}">
                <a16:creationId xmlns:a16="http://schemas.microsoft.com/office/drawing/2014/main" id="{E2AA25F2-6048-4660-B47E-23A873B0ADF3}"/>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130945" y="102140"/>
            <a:ext cx="2983017" cy="579497"/>
          </a:xfrm>
          <a:prstGeom prst="rect">
            <a:avLst/>
          </a:prstGeom>
        </p:spPr>
      </p:pic>
      <p:sp>
        <p:nvSpPr>
          <p:cNvPr id="12" name="TextBox 11">
            <a:extLst>
              <a:ext uri="{FF2B5EF4-FFF2-40B4-BE49-F238E27FC236}">
                <a16:creationId xmlns:a16="http://schemas.microsoft.com/office/drawing/2014/main" id="{938AB65C-AA84-47D6-9062-85EA15816E10}"/>
              </a:ext>
            </a:extLst>
          </p:cNvPr>
          <p:cNvSpPr txBox="1"/>
          <p:nvPr/>
        </p:nvSpPr>
        <p:spPr>
          <a:xfrm>
            <a:off x="3173158" y="227195"/>
            <a:ext cx="5911647" cy="438581"/>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algn="r"/>
            <a:r>
              <a:rPr lang="en-US" sz="2400" dirty="0">
                <a:solidFill>
                  <a:srgbClr val="121921"/>
                </a:solidFill>
                <a:latin typeface="Oswald"/>
                <a:cs typeface="Segoe UI"/>
              </a:rPr>
              <a:t>October 13-16, 2026 | Pocono Manor, PA</a:t>
            </a:r>
            <a:endParaRPr lang="en-US" sz="2400" dirty="0">
              <a:solidFill>
                <a:srgbClr val="121921"/>
              </a:solidFill>
              <a:latin typeface="Oswald"/>
              <a:cs typeface="Calibri"/>
            </a:endParaRPr>
          </a:p>
        </p:txBody>
      </p:sp>
    </p:spTree>
    <p:extLst>
      <p:ext uri="{BB962C8B-B14F-4D97-AF65-F5344CB8AC3E}">
        <p14:creationId xmlns:p14="http://schemas.microsoft.com/office/powerpoint/2010/main" val="1708962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4A96-A4CA-C42A-60A4-420CFC5B0CC2}"/>
              </a:ext>
            </a:extLst>
          </p:cNvPr>
          <p:cNvSpPr>
            <a:spLocks noGrp="1"/>
          </p:cNvSpPr>
          <p:nvPr>
            <p:ph type="title"/>
          </p:nvPr>
        </p:nvSpPr>
        <p:spPr/>
        <p:txBody>
          <a:bodyPr>
            <a:normAutofit fontScale="90000"/>
          </a:bodyPr>
          <a:lstStyle/>
          <a:p>
            <a:r>
              <a:rPr lang="en-US" sz="2800" dirty="0"/>
              <a:t>Overview of .NET MAUI &amp; Supported Platforms</a:t>
            </a:r>
          </a:p>
        </p:txBody>
      </p:sp>
      <p:sp>
        <p:nvSpPr>
          <p:cNvPr id="3" name="Content Placeholder 2">
            <a:extLst>
              <a:ext uri="{FF2B5EF4-FFF2-40B4-BE49-F238E27FC236}">
                <a16:creationId xmlns:a16="http://schemas.microsoft.com/office/drawing/2014/main" id="{59972F13-CFAD-21F1-4B9A-7395A19E6257}"/>
              </a:ext>
            </a:extLst>
          </p:cNvPr>
          <p:cNvSpPr>
            <a:spLocks noGrp="1"/>
          </p:cNvSpPr>
          <p:nvPr>
            <p:ph idx="1"/>
          </p:nvPr>
        </p:nvSpPr>
        <p:spPr/>
        <p:txBody>
          <a:bodyPr>
            <a:normAutofit fontScale="85000" lnSpcReduction="20000"/>
          </a:bodyPr>
          <a:lstStyle/>
          <a:p>
            <a:r>
              <a:rPr lang="en-US" sz="2800" dirty="0"/>
              <a:t>Multi-platform Framework</a:t>
            </a:r>
          </a:p>
          <a:p>
            <a:pPr lvl="1"/>
            <a:r>
              <a:rPr lang="en-US" sz="2400" dirty="0"/>
              <a:t>.NET MAUI allows building apps for multiple platforms using a single shared codebase.</a:t>
            </a:r>
          </a:p>
          <a:p>
            <a:r>
              <a:rPr lang="en-US" sz="2800" dirty="0"/>
              <a:t>Supported Platforms</a:t>
            </a:r>
          </a:p>
          <a:p>
            <a:pPr lvl="1"/>
            <a:r>
              <a:rPr lang="en-US" sz="2400" dirty="0"/>
              <a:t>.NET MAUI supports Windows &amp; macOS on the desktop and the iOS &amp; Android mobile operating systems enabling cross-device compatibility for most app users today.</a:t>
            </a:r>
          </a:p>
        </p:txBody>
      </p:sp>
    </p:spTree>
    <p:extLst>
      <p:ext uri="{BB962C8B-B14F-4D97-AF65-F5344CB8AC3E}">
        <p14:creationId xmlns:p14="http://schemas.microsoft.com/office/powerpoint/2010/main" val="2243524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B0BB24-CF19-4E6C-AFC4-A0F18438D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417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438CEF5-63E3-4928-9F1C-395224D24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3" y="0"/>
            <a:ext cx="9146155" cy="459193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490C74-C355-4889-7015-203806F62957}"/>
              </a:ext>
            </a:extLst>
          </p:cNvPr>
          <p:cNvSpPr>
            <a:spLocks noGrp="1"/>
          </p:cNvSpPr>
          <p:nvPr>
            <p:ph type="title"/>
          </p:nvPr>
        </p:nvSpPr>
        <p:spPr>
          <a:xfrm>
            <a:off x="1088684" y="780226"/>
            <a:ext cx="7202456" cy="765172"/>
          </a:xfrm>
        </p:spPr>
        <p:txBody>
          <a:bodyPr>
            <a:normAutofit/>
          </a:bodyPr>
          <a:lstStyle/>
          <a:p>
            <a:r>
              <a:rPr lang="en-US" dirty="0"/>
              <a:t>Benefits of a Single Codebase</a:t>
            </a:r>
          </a:p>
        </p:txBody>
      </p:sp>
      <p:cxnSp>
        <p:nvCxnSpPr>
          <p:cNvPr id="12" name="Straight Connector 11">
            <a:extLst>
              <a:ext uri="{FF2B5EF4-FFF2-40B4-BE49-F238E27FC236}">
                <a16:creationId xmlns:a16="http://schemas.microsoft.com/office/drawing/2014/main" id="{F328CB6C-F677-4C0B-9EE8-4D1C44DDF8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2742" y="1561215"/>
            <a:ext cx="718649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 name="Content Placeholder 2">
            <a:extLst>
              <a:ext uri="{FF2B5EF4-FFF2-40B4-BE49-F238E27FC236}">
                <a16:creationId xmlns:a16="http://schemas.microsoft.com/office/drawing/2014/main" id="{403288D1-08B3-5DBC-7ED1-49DC1B4D1AA2}"/>
              </a:ext>
            </a:extLst>
          </p:cNvPr>
          <p:cNvSpPr>
            <a:spLocks noGrp="1"/>
          </p:cNvSpPr>
          <p:nvPr>
            <p:ph idx="1"/>
          </p:nvPr>
        </p:nvSpPr>
        <p:spPr>
          <a:xfrm>
            <a:off x="1088685" y="1766652"/>
            <a:ext cx="7077303" cy="2411647"/>
          </a:xfrm>
        </p:spPr>
        <p:txBody>
          <a:bodyPr>
            <a:normAutofit/>
          </a:bodyPr>
          <a:lstStyle/>
          <a:p>
            <a:pPr>
              <a:lnSpc>
                <a:spcPct val="110000"/>
              </a:lnSpc>
            </a:pPr>
            <a:r>
              <a:rPr lang="en-US"/>
              <a:t>Reduced maintenance</a:t>
            </a:r>
          </a:p>
          <a:p>
            <a:pPr lvl="1">
              <a:lnSpc>
                <a:spcPct val="110000"/>
              </a:lnSpc>
            </a:pPr>
            <a:r>
              <a:rPr lang="en-US"/>
              <a:t>A single codebase simplifies updates and bug fixes, lowering the time and resources needed for maintenance.</a:t>
            </a:r>
          </a:p>
          <a:p>
            <a:pPr>
              <a:lnSpc>
                <a:spcPct val="110000"/>
              </a:lnSpc>
            </a:pPr>
            <a:r>
              <a:rPr lang="en-US"/>
              <a:t>Faster development</a:t>
            </a:r>
          </a:p>
          <a:p>
            <a:pPr lvl="1">
              <a:lnSpc>
                <a:spcPct val="110000"/>
              </a:lnSpc>
            </a:pPr>
            <a:r>
              <a:rPr lang="en-US"/>
              <a:t>Developers can build and deploy features faster by writing code once for all platforms.</a:t>
            </a:r>
          </a:p>
          <a:p>
            <a:pPr>
              <a:lnSpc>
                <a:spcPct val="110000"/>
              </a:lnSpc>
            </a:pPr>
            <a:r>
              <a:rPr lang="en-US"/>
              <a:t>Consistent user experience</a:t>
            </a:r>
          </a:p>
          <a:p>
            <a:pPr lvl="1">
              <a:lnSpc>
                <a:spcPct val="110000"/>
              </a:lnSpc>
            </a:pPr>
            <a:r>
              <a:rPr lang="en-US"/>
              <a:t>Using a unified codebase ensures users enjoy the same experience across devices and operating systems while still providing native performance and look &amp; feel.</a:t>
            </a:r>
          </a:p>
        </p:txBody>
      </p:sp>
      <p:sp>
        <p:nvSpPr>
          <p:cNvPr id="14" name="Rectangle 13">
            <a:extLst>
              <a:ext uri="{FF2B5EF4-FFF2-40B4-BE49-F238E27FC236}">
                <a16:creationId xmlns:a16="http://schemas.microsoft.com/office/drawing/2014/main" id="{A72CA9B9-8D14-4AF2-934E-21FE4A339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4591938"/>
            <a:ext cx="9143772" cy="551561"/>
          </a:xfrm>
          <a:prstGeom prst="rect">
            <a:avLst/>
          </a:prstGeom>
          <a:solidFill>
            <a:schemeClr val="accent1"/>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957130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A12E3-5908-2CC5-206B-70EC658F17DF}"/>
              </a:ext>
            </a:extLst>
          </p:cNvPr>
          <p:cNvSpPr>
            <a:spLocks noGrp="1"/>
          </p:cNvSpPr>
          <p:nvPr>
            <p:ph type="title"/>
          </p:nvPr>
        </p:nvSpPr>
        <p:spPr>
          <a:xfrm>
            <a:off x="1088684" y="603390"/>
            <a:ext cx="7515763" cy="786926"/>
          </a:xfrm>
        </p:spPr>
        <p:txBody>
          <a:bodyPr>
            <a:normAutofit fontScale="90000"/>
          </a:bodyPr>
          <a:lstStyle/>
          <a:p>
            <a:r>
              <a:rPr lang="en-US" sz="3600" dirty="0"/>
              <a:t>MAUI vs. Other X-Plat Frameworks</a:t>
            </a:r>
          </a:p>
        </p:txBody>
      </p:sp>
      <p:sp>
        <p:nvSpPr>
          <p:cNvPr id="3" name="Content Placeholder 2">
            <a:extLst>
              <a:ext uri="{FF2B5EF4-FFF2-40B4-BE49-F238E27FC236}">
                <a16:creationId xmlns:a16="http://schemas.microsoft.com/office/drawing/2014/main" id="{4F81ADA1-905D-ADDF-8630-2D86D3E9B9A9}"/>
              </a:ext>
            </a:extLst>
          </p:cNvPr>
          <p:cNvSpPr>
            <a:spLocks noGrp="1"/>
          </p:cNvSpPr>
          <p:nvPr>
            <p:ph idx="1"/>
          </p:nvPr>
        </p:nvSpPr>
        <p:spPr/>
        <p:txBody>
          <a:bodyPr>
            <a:normAutofit fontScale="77500" lnSpcReduction="20000"/>
          </a:bodyPr>
          <a:lstStyle/>
          <a:p>
            <a:r>
              <a:rPr lang="en-US" sz="2000" dirty="0"/>
              <a:t>Language</a:t>
            </a:r>
          </a:p>
          <a:p>
            <a:pPr lvl="1"/>
            <a:r>
              <a:rPr lang="en-US" sz="1800" dirty="0"/>
              <a:t>Ideal choice for .NET developers. Frameworks like Flutter and React Native require other technical expertise.</a:t>
            </a:r>
          </a:p>
          <a:p>
            <a:r>
              <a:rPr lang="en-US" sz="2000" dirty="0"/>
              <a:t>Enhanced Performance</a:t>
            </a:r>
          </a:p>
          <a:p>
            <a:pPr lvl="1"/>
            <a:r>
              <a:rPr lang="en-US" sz="1800" dirty="0"/>
              <a:t>Enables faster and more efficient app execution compared to PWAs or React Native.</a:t>
            </a:r>
          </a:p>
          <a:p>
            <a:r>
              <a:rPr lang="en-US" sz="2000" dirty="0"/>
              <a:t>Community and Ecosystem</a:t>
            </a:r>
          </a:p>
          <a:p>
            <a:pPr lvl="1"/>
            <a:r>
              <a:rPr lang="en-US" sz="1800" dirty="0"/>
              <a:t>Puts Microsoft in your corner. 3</a:t>
            </a:r>
            <a:r>
              <a:rPr lang="en-US" sz="1800" baseline="30000" dirty="0"/>
              <a:t>rd </a:t>
            </a:r>
            <a:r>
              <a:rPr lang="en-US" sz="1800" dirty="0"/>
              <a:t>party libraries &amp; controls are available but not required for building rich, performant apps. The .NET MAUI Community Toolkit and .NET Community Toolkit offer additional libraries supported by the open-source community.</a:t>
            </a:r>
          </a:p>
        </p:txBody>
      </p:sp>
    </p:spTree>
    <p:extLst>
      <p:ext uri="{BB962C8B-B14F-4D97-AF65-F5344CB8AC3E}">
        <p14:creationId xmlns:p14="http://schemas.microsoft.com/office/powerpoint/2010/main" val="709864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5B0BB24-CF19-4E6C-AFC4-A0F18438D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417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3438CEF5-63E3-4928-9F1C-395224D24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3" y="0"/>
            <a:ext cx="9146155" cy="459193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ABF1C6-CB85-EB72-B47B-22375C148508}"/>
              </a:ext>
            </a:extLst>
          </p:cNvPr>
          <p:cNvSpPr>
            <a:spLocks noGrp="1"/>
          </p:cNvSpPr>
          <p:nvPr>
            <p:ph type="title"/>
          </p:nvPr>
        </p:nvSpPr>
        <p:spPr>
          <a:xfrm>
            <a:off x="1088684" y="780226"/>
            <a:ext cx="7202456" cy="765172"/>
          </a:xfrm>
        </p:spPr>
        <p:txBody>
          <a:bodyPr>
            <a:normAutofit/>
          </a:bodyPr>
          <a:lstStyle/>
          <a:p>
            <a:r>
              <a:rPr lang="en-US" dirty="0"/>
              <a:t>IDEs and Tools</a:t>
            </a:r>
          </a:p>
        </p:txBody>
      </p:sp>
      <p:cxnSp>
        <p:nvCxnSpPr>
          <p:cNvPr id="12" name="Straight Connector 11">
            <a:extLst>
              <a:ext uri="{FF2B5EF4-FFF2-40B4-BE49-F238E27FC236}">
                <a16:creationId xmlns:a16="http://schemas.microsoft.com/office/drawing/2014/main" id="{F328CB6C-F677-4C0B-9EE8-4D1C44DDF8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2742" y="1561215"/>
            <a:ext cx="718649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 name="Content Placeholder 2">
            <a:extLst>
              <a:ext uri="{FF2B5EF4-FFF2-40B4-BE49-F238E27FC236}">
                <a16:creationId xmlns:a16="http://schemas.microsoft.com/office/drawing/2014/main" id="{8EF9A8A5-339C-88E3-14B4-C5DD93D630BB}"/>
              </a:ext>
            </a:extLst>
          </p:cNvPr>
          <p:cNvSpPr>
            <a:spLocks noGrp="1"/>
          </p:cNvSpPr>
          <p:nvPr>
            <p:ph idx="1"/>
          </p:nvPr>
        </p:nvSpPr>
        <p:spPr>
          <a:xfrm>
            <a:off x="1088685" y="1766652"/>
            <a:ext cx="7077303" cy="2411647"/>
          </a:xfrm>
        </p:spPr>
        <p:txBody>
          <a:bodyPr>
            <a:normAutofit fontScale="85000" lnSpcReduction="10000"/>
          </a:bodyPr>
          <a:lstStyle/>
          <a:p>
            <a:pPr>
              <a:lnSpc>
                <a:spcPct val="110000"/>
              </a:lnSpc>
            </a:pPr>
            <a:r>
              <a:rPr lang="en-US" sz="1700"/>
              <a:t>Primary IDEs</a:t>
            </a:r>
          </a:p>
          <a:p>
            <a:pPr lvl="1">
              <a:lnSpc>
                <a:spcPct val="110000"/>
              </a:lnSpc>
            </a:pPr>
            <a:r>
              <a:rPr lang="en-US" sz="1700"/>
              <a:t>Visual Studio on Windows and VS Code on Windows and macOS serve as the main development environments for .NET MAUI development.</a:t>
            </a:r>
          </a:p>
          <a:p>
            <a:pPr>
              <a:lnSpc>
                <a:spcPct val="110000"/>
              </a:lnSpc>
            </a:pPr>
            <a:r>
              <a:rPr lang="en-US" sz="1700"/>
              <a:t>Supporting Tools</a:t>
            </a:r>
          </a:p>
          <a:p>
            <a:pPr lvl="1">
              <a:lnSpc>
                <a:spcPct val="110000"/>
              </a:lnSpc>
            </a:pPr>
            <a:r>
              <a:rPr lang="en-US" sz="1700"/>
              <a:t>VS Code, GitHub Copilot, and CLI tools complement the primary IDEs by supporting flexible and lightweight development workflows. .NET MAUI Community Toolkit offers open-source controls and helpers for your apps.</a:t>
            </a:r>
          </a:p>
          <a:p>
            <a:pPr>
              <a:lnSpc>
                <a:spcPct val="110000"/>
              </a:lnSpc>
            </a:pPr>
            <a:r>
              <a:rPr lang="en-US" sz="1700"/>
              <a:t>Additional Options</a:t>
            </a:r>
          </a:p>
          <a:p>
            <a:pPr lvl="1">
              <a:lnSpc>
                <a:spcPct val="110000"/>
              </a:lnSpc>
            </a:pPr>
            <a:r>
              <a:rPr lang="en-US" sz="1700"/>
              <a:t>JetBrains Rider supports .NET MAUI development on Windows and macOS.</a:t>
            </a:r>
          </a:p>
        </p:txBody>
      </p:sp>
      <p:sp>
        <p:nvSpPr>
          <p:cNvPr id="14" name="Rectangle 13">
            <a:extLst>
              <a:ext uri="{FF2B5EF4-FFF2-40B4-BE49-F238E27FC236}">
                <a16:creationId xmlns:a16="http://schemas.microsoft.com/office/drawing/2014/main" id="{A72CA9B9-8D14-4AF2-934E-21FE4A339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4591938"/>
            <a:ext cx="9143772" cy="551561"/>
          </a:xfrm>
          <a:prstGeom prst="rect">
            <a:avLst/>
          </a:prstGeom>
          <a:solidFill>
            <a:schemeClr val="accent1"/>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255761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613C-2DFA-B592-F24D-64D1F9D2FCFA}"/>
              </a:ext>
            </a:extLst>
          </p:cNvPr>
          <p:cNvSpPr>
            <a:spLocks noGrp="1"/>
          </p:cNvSpPr>
          <p:nvPr>
            <p:ph type="title"/>
          </p:nvPr>
        </p:nvSpPr>
        <p:spPr>
          <a:xfrm>
            <a:off x="1088684" y="603389"/>
            <a:ext cx="7202456" cy="786926"/>
          </a:xfrm>
        </p:spPr>
        <p:txBody>
          <a:bodyPr>
            <a:normAutofit/>
          </a:bodyPr>
          <a:lstStyle/>
          <a:p>
            <a:r>
              <a:rPr lang="en-US"/>
              <a:t>Debug &amp; Build Across Platforms</a:t>
            </a:r>
          </a:p>
        </p:txBody>
      </p:sp>
      <p:sp>
        <p:nvSpPr>
          <p:cNvPr id="3" name="Content Placeholder 2">
            <a:extLst>
              <a:ext uri="{FF2B5EF4-FFF2-40B4-BE49-F238E27FC236}">
                <a16:creationId xmlns:a16="http://schemas.microsoft.com/office/drawing/2014/main" id="{ABEAC15B-5915-A474-E92B-52AE3E5288AC}"/>
              </a:ext>
            </a:extLst>
          </p:cNvPr>
          <p:cNvSpPr>
            <a:spLocks noGrp="1"/>
          </p:cNvSpPr>
          <p:nvPr>
            <p:ph idx="1"/>
          </p:nvPr>
        </p:nvSpPr>
        <p:spPr>
          <a:xfrm>
            <a:off x="1088684" y="1511799"/>
            <a:ext cx="7202456" cy="2587959"/>
          </a:xfrm>
        </p:spPr>
        <p:txBody>
          <a:bodyPr>
            <a:normAutofit/>
          </a:bodyPr>
          <a:lstStyle/>
          <a:p>
            <a:r>
              <a:rPr lang="en-US"/>
              <a:t>Debugging Tools Usage</a:t>
            </a:r>
          </a:p>
          <a:p>
            <a:pPr lvl="1"/>
            <a:r>
              <a:rPr lang="en-US"/>
              <a:t>Use debugging tools like XAML Hot Reload, Live Visual Tree, and Visual Studio’s Binding Failures window to identify and fix issues effectively during development across platforms.</a:t>
            </a:r>
          </a:p>
          <a:p>
            <a:r>
              <a:rPr lang="en-US"/>
              <a:t>Simulators and Emulators</a:t>
            </a:r>
          </a:p>
          <a:p>
            <a:pPr lvl="1"/>
            <a:r>
              <a:rPr lang="en-US"/>
              <a:t>Simulators and emulators for Android and iOS replicate different platforms, enabling real-time testing without physical devices. Connect to a Mac from Visual Studio on Windows to debug iOS apps from your favorite IDE.</a:t>
            </a:r>
          </a:p>
        </p:txBody>
      </p:sp>
    </p:spTree>
    <p:extLst>
      <p:ext uri="{BB962C8B-B14F-4D97-AF65-F5344CB8AC3E}">
        <p14:creationId xmlns:p14="http://schemas.microsoft.com/office/powerpoint/2010/main" val="4218931778"/>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Periodic table illustration">
            <a:extLst>
              <a:ext uri="{FF2B5EF4-FFF2-40B4-BE49-F238E27FC236}">
                <a16:creationId xmlns:a16="http://schemas.microsoft.com/office/drawing/2014/main" id="{D68061D6-DECB-3E54-19F7-38C42E4BE120}"/>
              </a:ext>
            </a:extLst>
          </p:cNvPr>
          <p:cNvPicPr>
            <a:picLocks noChangeAspect="1"/>
          </p:cNvPicPr>
          <p:nvPr/>
        </p:nvPicPr>
        <p:blipFill>
          <a:blip r:embed="rId3">
            <a:alphaModFix amt="50000"/>
            <a:grayscl/>
          </a:blip>
          <a:srcRect t="6787" r="-2" b="36960"/>
          <a:stretch>
            <a:fillRect/>
          </a:stretch>
        </p:blipFill>
        <p:spPr>
          <a:xfrm>
            <a:off x="228" y="10"/>
            <a:ext cx="9143772" cy="5143490"/>
          </a:xfrm>
          <a:prstGeom prst="rect">
            <a:avLst/>
          </a:prstGeom>
        </p:spPr>
      </p:pic>
      <p:sp>
        <p:nvSpPr>
          <p:cNvPr id="20"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34225" y="332799"/>
            <a:ext cx="608265" cy="377683"/>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21"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2477" y="405690"/>
            <a:ext cx="3730436" cy="2319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5" name="Rectangle 14">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5350"/>
            <a:ext cx="9144000" cy="424814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90CC6BE5-276A-02D2-3E28-30E82DE7723D}"/>
              </a:ext>
            </a:extLst>
          </p:cNvPr>
          <p:cNvSpPr>
            <a:spLocks noGrp="1"/>
          </p:cNvSpPr>
          <p:nvPr>
            <p:ph type="title"/>
          </p:nvPr>
        </p:nvSpPr>
        <p:spPr>
          <a:xfrm>
            <a:off x="847703" y="895350"/>
            <a:ext cx="2394787" cy="3524250"/>
          </a:xfrm>
        </p:spPr>
        <p:txBody>
          <a:bodyPr anchor="ctr">
            <a:normAutofit/>
          </a:bodyPr>
          <a:lstStyle/>
          <a:p>
            <a:r>
              <a:rPr lang="en-US" dirty="0"/>
              <a:t>Productivity Tips</a:t>
            </a:r>
          </a:p>
        </p:txBody>
      </p:sp>
      <p:cxnSp>
        <p:nvCxnSpPr>
          <p:cNvPr id="17" name="Straight Connector 16">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200150"/>
            <a:ext cx="0" cy="27432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FA3B380-E5F0-5EAE-FE2C-3DB010BB4B1C}"/>
              </a:ext>
            </a:extLst>
          </p:cNvPr>
          <p:cNvSpPr>
            <a:spLocks noGrp="1"/>
          </p:cNvSpPr>
          <p:nvPr>
            <p:ph idx="1"/>
          </p:nvPr>
        </p:nvSpPr>
        <p:spPr>
          <a:xfrm>
            <a:off x="3732477" y="895350"/>
            <a:ext cx="4563818" cy="3524250"/>
          </a:xfrm>
        </p:spPr>
        <p:txBody>
          <a:bodyPr anchor="ctr">
            <a:normAutofit/>
          </a:bodyPr>
          <a:lstStyle/>
          <a:p>
            <a:r>
              <a:rPr lang="en-US"/>
              <a:t>Hot Reload Feature</a:t>
            </a:r>
          </a:p>
          <a:p>
            <a:pPr lvl="1"/>
            <a:r>
              <a:rPr lang="en-US"/>
              <a:t>XAML Hot Reload &amp; .NET Hot Reload enable instant code and markup changes, speeding up development &amp; reducing testing time.</a:t>
            </a:r>
          </a:p>
          <a:p>
            <a:r>
              <a:rPr lang="en-US"/>
              <a:t>Use of Templates</a:t>
            </a:r>
          </a:p>
          <a:p>
            <a:pPr lvl="1"/>
            <a:r>
              <a:rPr lang="en-US"/>
              <a:t>Templates provide reusable structures, enhancing consistency &amp; saving time coding.</a:t>
            </a:r>
          </a:p>
          <a:p>
            <a:r>
              <a:rPr lang="en-US"/>
              <a:t>Extensions for Quality</a:t>
            </a:r>
          </a:p>
          <a:p>
            <a:pPr lvl="1"/>
            <a:r>
              <a:rPr lang="en-US"/>
              <a:t>Visual Studio &amp; VS Code extensions add functionality &amp; help maintain high code quality across platforms.</a:t>
            </a:r>
          </a:p>
        </p:txBody>
      </p:sp>
      <p:sp>
        <p:nvSpPr>
          <p:cNvPr id="19"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2421" y="4505908"/>
            <a:ext cx="2625537" cy="2319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2695737749"/>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1A747-E3C3-EFC9-CE37-7E60A6D5B42A}"/>
              </a:ext>
            </a:extLst>
          </p:cNvPr>
          <p:cNvSpPr>
            <a:spLocks noGrp="1"/>
          </p:cNvSpPr>
          <p:nvPr>
            <p:ph type="title"/>
          </p:nvPr>
        </p:nvSpPr>
        <p:spPr/>
        <p:txBody>
          <a:bodyPr/>
          <a:lstStyle/>
          <a:p>
            <a:r>
              <a:rPr lang="en-US" dirty="0"/>
              <a:t>Build UIs with XAML or C#</a:t>
            </a:r>
          </a:p>
        </p:txBody>
      </p:sp>
      <p:sp>
        <p:nvSpPr>
          <p:cNvPr id="3" name="Content Placeholder 2">
            <a:extLst>
              <a:ext uri="{FF2B5EF4-FFF2-40B4-BE49-F238E27FC236}">
                <a16:creationId xmlns:a16="http://schemas.microsoft.com/office/drawing/2014/main" id="{84481B79-2820-63DA-BDFA-827E7E9E7873}"/>
              </a:ext>
            </a:extLst>
          </p:cNvPr>
          <p:cNvSpPr>
            <a:spLocks noGrp="1"/>
          </p:cNvSpPr>
          <p:nvPr>
            <p:ph sz="half" idx="1"/>
          </p:nvPr>
        </p:nvSpPr>
        <p:spPr>
          <a:xfrm>
            <a:off x="457200" y="1419622"/>
            <a:ext cx="4038600" cy="2232248"/>
          </a:xfrm>
        </p:spPr>
        <p:txBody>
          <a:bodyPr/>
          <a:lstStyle/>
          <a:p>
            <a:r>
              <a:rPr lang="en-US" dirty="0"/>
              <a:t>XAML markup for clear &amp; declarative UI design when building responsive UIs.</a:t>
            </a:r>
          </a:p>
          <a:p>
            <a:r>
              <a:rPr lang="en-US" dirty="0"/>
              <a:t>Code behind in C#</a:t>
            </a:r>
          </a:p>
          <a:p>
            <a:r>
              <a:rPr lang="en-US" dirty="0"/>
              <a:t>Separation of concerns with MVVM</a:t>
            </a:r>
          </a:p>
          <a:p>
            <a:endParaRPr lang="en-US" dirty="0"/>
          </a:p>
        </p:txBody>
      </p:sp>
      <p:sp>
        <p:nvSpPr>
          <p:cNvPr id="4" name="Content Placeholder 3">
            <a:extLst>
              <a:ext uri="{FF2B5EF4-FFF2-40B4-BE49-F238E27FC236}">
                <a16:creationId xmlns:a16="http://schemas.microsoft.com/office/drawing/2014/main" id="{C894133F-781C-173E-CE2D-802F49903301}"/>
              </a:ext>
            </a:extLst>
          </p:cNvPr>
          <p:cNvSpPr>
            <a:spLocks noGrp="1"/>
          </p:cNvSpPr>
          <p:nvPr>
            <p:ph sz="half" idx="2"/>
          </p:nvPr>
        </p:nvSpPr>
        <p:spPr>
          <a:xfrm>
            <a:off x="4648200" y="1419622"/>
            <a:ext cx="4038600" cy="2232248"/>
          </a:xfrm>
        </p:spPr>
        <p:txBody>
          <a:bodyPr/>
          <a:lstStyle/>
          <a:p>
            <a:r>
              <a:rPr lang="en-US" dirty="0"/>
              <a:t>Create UI in code with C# Markup</a:t>
            </a:r>
          </a:p>
          <a:p>
            <a:r>
              <a:rPr lang="en-US" dirty="0"/>
              <a:t>MVU pattern for robust apps</a:t>
            </a:r>
          </a:p>
          <a:p>
            <a:r>
              <a:rPr lang="en-US" dirty="0"/>
              <a:t>No XAML learning curve</a:t>
            </a:r>
          </a:p>
        </p:txBody>
      </p:sp>
      <p:sp>
        <p:nvSpPr>
          <p:cNvPr id="5" name="TextBox 4">
            <a:extLst>
              <a:ext uri="{FF2B5EF4-FFF2-40B4-BE49-F238E27FC236}">
                <a16:creationId xmlns:a16="http://schemas.microsoft.com/office/drawing/2014/main" id="{95F31FB4-6DBA-E528-A466-CF005D3B6786}"/>
              </a:ext>
            </a:extLst>
          </p:cNvPr>
          <p:cNvSpPr txBox="1"/>
          <p:nvPr/>
        </p:nvSpPr>
        <p:spPr>
          <a:xfrm>
            <a:off x="457200" y="3766603"/>
            <a:ext cx="5190523" cy="369332"/>
          </a:xfrm>
          <a:prstGeom prst="rect">
            <a:avLst/>
          </a:prstGeom>
          <a:noFill/>
        </p:spPr>
        <p:txBody>
          <a:bodyPr wrap="none" rtlCol="0">
            <a:spAutoFit/>
          </a:bodyPr>
          <a:lstStyle/>
          <a:p>
            <a:r>
              <a:rPr lang="en-US" dirty="0"/>
              <a:t>Demo: .NET MAUI projects in Visual Studio 2026</a:t>
            </a:r>
          </a:p>
        </p:txBody>
      </p:sp>
    </p:spTree>
    <p:extLst>
      <p:ext uri="{BB962C8B-B14F-4D97-AF65-F5344CB8AC3E}">
        <p14:creationId xmlns:p14="http://schemas.microsoft.com/office/powerpoint/2010/main" val="3841370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19C9D3DB-70C9-F013-5EE1-E09006E79341}"/>
              </a:ext>
            </a:extLst>
          </p:cNvPr>
          <p:cNvSpPr>
            <a:spLocks noGrp="1"/>
          </p:cNvSpPr>
          <p:nvPr>
            <p:ph type="title"/>
          </p:nvPr>
        </p:nvSpPr>
        <p:spPr>
          <a:xfrm>
            <a:off x="609153" y="603389"/>
            <a:ext cx="2431365" cy="3323520"/>
          </a:xfrm>
        </p:spPr>
        <p:txBody>
          <a:bodyPr anchor="ctr">
            <a:normAutofit/>
          </a:bodyPr>
          <a:lstStyle/>
          <a:p>
            <a:r>
              <a:rPr lang="en-US" dirty="0"/>
              <a:t>Toolkit Overview</a:t>
            </a:r>
          </a:p>
        </p:txBody>
      </p:sp>
      <p:cxnSp>
        <p:nvCxnSpPr>
          <p:cNvPr id="12" name="Straight Connector 11">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8867" y="667764"/>
            <a:ext cx="0" cy="3429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1C13FB7-01C9-5625-26A4-6E6CD70AC1DA}"/>
              </a:ext>
            </a:extLst>
          </p:cNvPr>
          <p:cNvSpPr>
            <a:spLocks noGrp="1"/>
          </p:cNvSpPr>
          <p:nvPr>
            <p:ph idx="1"/>
          </p:nvPr>
        </p:nvSpPr>
        <p:spPr>
          <a:xfrm>
            <a:off x="3478397" y="603390"/>
            <a:ext cx="4576919" cy="3990672"/>
          </a:xfrm>
        </p:spPr>
        <p:txBody>
          <a:bodyPr anchor="ctr">
            <a:normAutofit/>
          </a:bodyPr>
          <a:lstStyle/>
          <a:p>
            <a:pPr>
              <a:lnSpc>
                <a:spcPct val="110000"/>
              </a:lnSpc>
            </a:pPr>
            <a:r>
              <a:rPr lang="en-US" dirty="0"/>
              <a:t>Reusable UI Components</a:t>
            </a:r>
          </a:p>
          <a:p>
            <a:pPr lvl="1">
              <a:lnSpc>
                <a:spcPct val="110000"/>
              </a:lnSpc>
            </a:pPr>
            <a:r>
              <a:rPr lang="en-US" dirty="0"/>
              <a:t>Microsoft’s Community Toolkits provide reusable components that speed up UI development and maintain consistency.</a:t>
            </a:r>
          </a:p>
          <a:p>
            <a:pPr>
              <a:lnSpc>
                <a:spcPct val="110000"/>
              </a:lnSpc>
            </a:pPr>
            <a:r>
              <a:rPr lang="en-US" dirty="0"/>
              <a:t>Functionality Enhancements</a:t>
            </a:r>
          </a:p>
          <a:p>
            <a:pPr lvl="1">
              <a:lnSpc>
                <a:spcPct val="110000"/>
              </a:lnSpc>
            </a:pPr>
            <a:r>
              <a:rPr lang="en-US" dirty="0"/>
              <a:t>Extensions, converters &amp; animations add new features that extend the capabilities of existing UI elements.</a:t>
            </a:r>
          </a:p>
          <a:p>
            <a:pPr>
              <a:lnSpc>
                <a:spcPct val="110000"/>
              </a:lnSpc>
            </a:pPr>
            <a:r>
              <a:rPr lang="en-US" dirty="0"/>
              <a:t>Improved Responsiveness</a:t>
            </a:r>
          </a:p>
          <a:p>
            <a:pPr lvl="1">
              <a:lnSpc>
                <a:spcPct val="110000"/>
              </a:lnSpc>
            </a:pPr>
            <a:r>
              <a:rPr lang="en-US" dirty="0"/>
              <a:t>Behaviors improve app responsiveness by managing user interactions smoothly.</a:t>
            </a:r>
          </a:p>
          <a:p>
            <a:pPr>
              <a:lnSpc>
                <a:spcPct val="110000"/>
              </a:lnSpc>
            </a:pPr>
            <a:r>
              <a:rPr lang="en-US" dirty="0"/>
              <a:t>Demo</a:t>
            </a:r>
          </a:p>
          <a:p>
            <a:pPr lvl="1">
              <a:lnSpc>
                <a:spcPct val="110000"/>
              </a:lnSpc>
            </a:pPr>
            <a:r>
              <a:rPr lang="en-US" dirty="0"/>
              <a:t>Toolkit docs on Microsoft Learn</a:t>
            </a:r>
          </a:p>
          <a:p>
            <a:pPr lvl="1">
              <a:lnSpc>
                <a:spcPct val="110000"/>
              </a:lnSpc>
            </a:pPr>
            <a:r>
              <a:rPr lang="en-US" dirty="0"/>
              <a:t>MAUI projects with Toolkit features</a:t>
            </a:r>
          </a:p>
        </p:txBody>
      </p:sp>
      <p:pic>
        <p:nvPicPr>
          <p:cNvPr id="14" name="Picture 13">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Tree>
    <p:extLst>
      <p:ext uri="{BB962C8B-B14F-4D97-AF65-F5344CB8AC3E}">
        <p14:creationId xmlns:p14="http://schemas.microsoft.com/office/powerpoint/2010/main" val="2702292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5" name="Picture 34">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36" name="Straight Connector 35">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9D4B225-18E9-4C5B-94D8-2ABE6D161E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38" name="Rectangle 37">
            <a:extLst>
              <a:ext uri="{FF2B5EF4-FFF2-40B4-BE49-F238E27FC236}">
                <a16:creationId xmlns:a16="http://schemas.microsoft.com/office/drawing/2014/main" id="{5BB14454-D00C-4958-BB39-F5F9F3AC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28A657A7-C4E5-425B-98FA-BB817FF7BF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13521" y="1385316"/>
            <a:ext cx="264027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C4517C70-366F-2A94-0721-CAC502251B4C}"/>
              </a:ext>
            </a:extLst>
          </p:cNvPr>
          <p:cNvSpPr>
            <a:spLocks noGrp="1"/>
          </p:cNvSpPr>
          <p:nvPr>
            <p:ph type="title"/>
          </p:nvPr>
        </p:nvSpPr>
        <p:spPr>
          <a:xfrm>
            <a:off x="5413522" y="603390"/>
            <a:ext cx="2640275" cy="786926"/>
          </a:xfrm>
        </p:spPr>
        <p:txBody>
          <a:bodyPr vert="horz" lIns="91440" tIns="45720" rIns="91440" bIns="45720" rtlCol="0" anchor="t">
            <a:normAutofit/>
          </a:bodyPr>
          <a:lstStyle/>
          <a:p>
            <a:pPr defTabSz="914400"/>
            <a:r>
              <a:rPr lang="en-US" sz="2500"/>
              <a:t>MVVM in MAUI Apps</a:t>
            </a:r>
          </a:p>
        </p:txBody>
      </p:sp>
      <p:sp>
        <p:nvSpPr>
          <p:cNvPr id="40" name="Rectangle 39">
            <a:extLst>
              <a:ext uri="{FF2B5EF4-FFF2-40B4-BE49-F238E27FC236}">
                <a16:creationId xmlns:a16="http://schemas.microsoft.com/office/drawing/2014/main" id="{A1084370-0E70-4003-9787-3490FCC20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41" name="Group 40">
            <a:extLst>
              <a:ext uri="{FF2B5EF4-FFF2-40B4-BE49-F238E27FC236}">
                <a16:creationId xmlns:a16="http://schemas.microsoft.com/office/drawing/2014/main" id="{2B7C66D2-22E8-4E8F-829B-050BFA7C86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4177" y="361628"/>
            <a:ext cx="4578249" cy="3861826"/>
            <a:chOff x="7463259" y="583365"/>
            <a:chExt cx="6104330" cy="5181928"/>
          </a:xfrm>
        </p:grpSpPr>
        <p:sp>
          <p:nvSpPr>
            <p:cNvPr id="28" name="Rectangle 27">
              <a:extLst>
                <a:ext uri="{FF2B5EF4-FFF2-40B4-BE49-F238E27FC236}">
                  <a16:creationId xmlns:a16="http://schemas.microsoft.com/office/drawing/2014/main" id="{F0B78D6F-1F61-4DBB-8F5A-934BB850DD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610433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3EA261D-1F8C-4BE5-8586-3C1CC5CE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5471354"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4" name="Content Placeholder 7">
            <a:extLst>
              <a:ext uri="{FF2B5EF4-FFF2-40B4-BE49-F238E27FC236}">
                <a16:creationId xmlns:a16="http://schemas.microsoft.com/office/drawing/2014/main" id="{41450B70-0B63-55FD-5642-38B5AAC185ED}"/>
              </a:ext>
            </a:extLst>
          </p:cNvPr>
          <p:cNvPicPr>
            <a:picLocks noGrp="1" noChangeAspect="1"/>
          </p:cNvPicPr>
          <p:nvPr>
            <p:ph sz="half" idx="2"/>
          </p:nvPr>
        </p:nvPicPr>
        <p:blipFill>
          <a:blip r:embed="rId4" cstate="print">
            <a:extLst>
              <a:ext uri="{28A0092B-C50C-407E-A947-70E740481C1C}">
                <a14:useLocalDpi xmlns:a14="http://schemas.microsoft.com/office/drawing/2010/main" val="0"/>
              </a:ext>
            </a:extLst>
          </a:blip>
          <a:srcRect t="14380" r="-2" b="5493"/>
          <a:stretch>
            <a:fillRect/>
          </a:stretch>
        </p:blipFill>
        <p:spPr>
          <a:xfrm>
            <a:off x="953417" y="837258"/>
            <a:ext cx="3618861" cy="2899629"/>
          </a:xfrm>
          <a:prstGeom prst="rect">
            <a:avLst/>
          </a:prstGeom>
          <a:noFill/>
        </p:spPr>
      </p:pic>
      <p:sp>
        <p:nvSpPr>
          <p:cNvPr id="8" name="Content Placeholder 2">
            <a:extLst>
              <a:ext uri="{FF2B5EF4-FFF2-40B4-BE49-F238E27FC236}">
                <a16:creationId xmlns:a16="http://schemas.microsoft.com/office/drawing/2014/main" id="{DB88975F-7D52-F494-069C-88080F4125C5}"/>
              </a:ext>
            </a:extLst>
          </p:cNvPr>
          <p:cNvSpPr>
            <a:spLocks noGrp="1"/>
          </p:cNvSpPr>
          <p:nvPr>
            <p:ph sz="half" idx="1"/>
          </p:nvPr>
        </p:nvSpPr>
        <p:spPr>
          <a:xfrm>
            <a:off x="5413521" y="1511799"/>
            <a:ext cx="2640276" cy="2587959"/>
          </a:xfrm>
        </p:spPr>
        <p:txBody>
          <a:bodyPr vert="horz" lIns="91440" tIns="45720" rIns="91440" bIns="45720" rtlCol="0" anchor="t">
            <a:normAutofit fontScale="85000" lnSpcReduction="20000"/>
          </a:bodyPr>
          <a:lstStyle/>
          <a:p>
            <a:pPr indent="-228600" defTabSz="914400">
              <a:lnSpc>
                <a:spcPct val="110000"/>
              </a:lnSpc>
            </a:pPr>
            <a:r>
              <a:rPr lang="en-US" sz="1400"/>
              <a:t>Separation of Concerns</a:t>
            </a:r>
          </a:p>
          <a:p>
            <a:pPr lvl="1" indent="-228600" defTabSz="914400">
              <a:lnSpc>
                <a:spcPct val="110000"/>
              </a:lnSpc>
            </a:pPr>
            <a:r>
              <a:rPr lang="en-US" sz="1400"/>
              <a:t>MVVM separates UI from business logic for cleaner &amp; modular code design.</a:t>
            </a:r>
          </a:p>
          <a:p>
            <a:pPr indent="-228600" defTabSz="914400">
              <a:lnSpc>
                <a:spcPct val="110000"/>
              </a:lnSpc>
            </a:pPr>
            <a:r>
              <a:rPr lang="en-US" sz="1400"/>
              <a:t>Improved Code Organization</a:t>
            </a:r>
          </a:p>
          <a:p>
            <a:pPr lvl="1" indent="-228600" defTabSz="914400">
              <a:lnSpc>
                <a:spcPct val="110000"/>
              </a:lnSpc>
            </a:pPr>
            <a:r>
              <a:rPr lang="en-US" sz="1400"/>
              <a:t>Using MVVM enhances code maintainability and organization in .NET MAUI applications.</a:t>
            </a:r>
          </a:p>
          <a:p>
            <a:pPr indent="-228600" defTabSz="914400">
              <a:lnSpc>
                <a:spcPct val="110000"/>
              </a:lnSpc>
            </a:pPr>
            <a:r>
              <a:rPr lang="en-US" sz="1400"/>
              <a:t>Easier Testing</a:t>
            </a:r>
          </a:p>
          <a:p>
            <a:pPr lvl="1" indent="-228600" defTabSz="914400">
              <a:lnSpc>
                <a:spcPct val="110000"/>
              </a:lnSpc>
            </a:pPr>
            <a:r>
              <a:rPr lang="en-US" sz="1400"/>
              <a:t>MVVM facilitates unit testing by isolating business logic from UI elements.</a:t>
            </a:r>
          </a:p>
        </p:txBody>
      </p:sp>
      <p:pic>
        <p:nvPicPr>
          <p:cNvPr id="43" name="Picture 42">
            <a:extLst>
              <a:ext uri="{FF2B5EF4-FFF2-40B4-BE49-F238E27FC236}">
                <a16:creationId xmlns:a16="http://schemas.microsoft.com/office/drawing/2014/main" id="{3635D2BC-4EDA-4A3E-83BF-035608099B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33" name="Straight Connector 32">
            <a:extLst>
              <a:ext uri="{FF2B5EF4-FFF2-40B4-BE49-F238E27FC236}">
                <a16:creationId xmlns:a16="http://schemas.microsoft.com/office/drawing/2014/main" id="{A3C86EB9-7FA9-42F7-B348-A7FD17436A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7826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C3F855-02EC-DB99-BC10-CBAA262A410B}"/>
              </a:ext>
            </a:extLst>
          </p:cNvPr>
          <p:cNvSpPr>
            <a:spLocks noGrp="1"/>
          </p:cNvSpPr>
          <p:nvPr>
            <p:ph type="title"/>
          </p:nvPr>
        </p:nvSpPr>
        <p:spPr>
          <a:xfrm>
            <a:off x="1088684" y="603389"/>
            <a:ext cx="7202456" cy="786926"/>
          </a:xfrm>
        </p:spPr>
        <p:txBody>
          <a:bodyPr>
            <a:normAutofit/>
          </a:bodyPr>
          <a:lstStyle/>
          <a:p>
            <a:r>
              <a:rPr lang="en-US"/>
              <a:t>Reduce Boilerplate with MVVM Toolkit</a:t>
            </a:r>
          </a:p>
        </p:txBody>
      </p:sp>
      <p:cxnSp>
        <p:nvCxnSpPr>
          <p:cNvPr id="11" name="Straight Connector 10">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8684" y="1390315"/>
            <a:ext cx="7202455"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628893"/>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5" name="Content Placeholder 2">
            <a:extLst>
              <a:ext uri="{FF2B5EF4-FFF2-40B4-BE49-F238E27FC236}">
                <a16:creationId xmlns:a16="http://schemas.microsoft.com/office/drawing/2014/main" id="{5B4DB41E-0B85-8C54-7273-7566AEE171F7}"/>
              </a:ext>
            </a:extLst>
          </p:cNvPr>
          <p:cNvGraphicFramePr>
            <a:graphicFrameLocks noGrp="1"/>
          </p:cNvGraphicFramePr>
          <p:nvPr>
            <p:ph idx="1"/>
            <p:extLst>
              <p:ext uri="{D42A27DB-BD31-4B8C-83A1-F6EECF244321}">
                <p14:modId xmlns:p14="http://schemas.microsoft.com/office/powerpoint/2010/main" val="2377091412"/>
              </p:ext>
            </p:extLst>
          </p:nvPr>
        </p:nvGraphicFramePr>
        <p:xfrm>
          <a:off x="1088231" y="1748622"/>
          <a:ext cx="7203281" cy="2792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1546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884189EE-9BB0-2C6F-4FF6-8E539DB8D2E2}"/>
              </a:ext>
            </a:extLst>
          </p:cNvPr>
          <p:cNvSpPr>
            <a:spLocks noGrp="1"/>
          </p:cNvSpPr>
          <p:nvPr>
            <p:ph type="title"/>
          </p:nvPr>
        </p:nvSpPr>
        <p:spPr>
          <a:xfrm>
            <a:off x="609153" y="603389"/>
            <a:ext cx="2431365" cy="3323520"/>
          </a:xfrm>
        </p:spPr>
        <p:txBody>
          <a:bodyPr anchor="ctr">
            <a:normAutofit/>
          </a:bodyPr>
          <a:lstStyle/>
          <a:p>
            <a:r>
              <a:rPr lang="en-US" dirty="0"/>
              <a:t>Build Scalable Apps</a:t>
            </a:r>
          </a:p>
        </p:txBody>
      </p:sp>
      <p:cxnSp>
        <p:nvCxnSpPr>
          <p:cNvPr id="12" name="Straight Connector 11">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8867" y="667764"/>
            <a:ext cx="0" cy="3429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CF74563-500F-76A7-DDB9-AA2ABE0F38AC}"/>
              </a:ext>
            </a:extLst>
          </p:cNvPr>
          <p:cNvSpPr>
            <a:spLocks noGrp="1"/>
          </p:cNvSpPr>
          <p:nvPr>
            <p:ph idx="1"/>
          </p:nvPr>
        </p:nvSpPr>
        <p:spPr>
          <a:xfrm>
            <a:off x="3478397" y="603390"/>
            <a:ext cx="4576919" cy="3323519"/>
          </a:xfrm>
        </p:spPr>
        <p:txBody>
          <a:bodyPr anchor="ctr">
            <a:normAutofit fontScale="85000" lnSpcReduction="20000"/>
          </a:bodyPr>
          <a:lstStyle/>
          <a:p>
            <a:r>
              <a:rPr lang="en-US" sz="1700"/>
              <a:t>Data Binding</a:t>
            </a:r>
          </a:p>
          <a:p>
            <a:pPr lvl="1"/>
            <a:r>
              <a:rPr lang="en-US" sz="1700"/>
              <a:t>Use data binding to synchronize UI and data models efficiently, enhancing app responsiveness and maintainability.</a:t>
            </a:r>
          </a:p>
          <a:p>
            <a:r>
              <a:rPr lang="en-US" sz="1700"/>
              <a:t>Command Patterns</a:t>
            </a:r>
          </a:p>
          <a:p>
            <a:pPr lvl="1"/>
            <a:r>
              <a:rPr lang="en-US" sz="1700"/>
              <a:t>Apply command patterns to encapsulate requests as objects, facilitating flexible and reusable code.</a:t>
            </a:r>
          </a:p>
          <a:p>
            <a:r>
              <a:rPr lang="en-US" sz="1700"/>
              <a:t>Dependency Injection</a:t>
            </a:r>
          </a:p>
          <a:p>
            <a:pPr lvl="1"/>
            <a:r>
              <a:rPr lang="en-US" sz="1700"/>
              <a:t>Use dependency injection to manage component dependencies, promoting modular and testable code architecture.</a:t>
            </a:r>
          </a:p>
          <a:p>
            <a:r>
              <a:rPr lang="en-US" sz="1700"/>
              <a:t>Demo – Use the MVVM Toolkit in Your Project</a:t>
            </a:r>
          </a:p>
        </p:txBody>
      </p:sp>
      <p:pic>
        <p:nvPicPr>
          <p:cNvPr id="14" name="Picture 13">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Tree>
    <p:extLst>
      <p:ext uri="{BB962C8B-B14F-4D97-AF65-F5344CB8AC3E}">
        <p14:creationId xmlns:p14="http://schemas.microsoft.com/office/powerpoint/2010/main" val="240171940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35986-D242-815D-D383-C5D9B9125148}"/>
              </a:ext>
            </a:extLst>
          </p:cNvPr>
          <p:cNvSpPr>
            <a:spLocks noGrp="1"/>
          </p:cNvSpPr>
          <p:nvPr>
            <p:ph type="title"/>
          </p:nvPr>
        </p:nvSpPr>
        <p:spPr/>
        <p:txBody>
          <a:bodyPr/>
          <a:lstStyle/>
          <a:p>
            <a:r>
              <a:rPr lang="en-US" dirty="0"/>
              <a:t>C# Markup</a:t>
            </a:r>
          </a:p>
        </p:txBody>
      </p:sp>
      <p:graphicFrame>
        <p:nvGraphicFramePr>
          <p:cNvPr id="5" name="Content Placeholder 2">
            <a:extLst>
              <a:ext uri="{FF2B5EF4-FFF2-40B4-BE49-F238E27FC236}">
                <a16:creationId xmlns:a16="http://schemas.microsoft.com/office/drawing/2014/main" id="{DB0D8C7B-6903-4D68-5FAE-A8361F4CEB99}"/>
              </a:ext>
            </a:extLst>
          </p:cNvPr>
          <p:cNvGraphicFramePr>
            <a:graphicFrameLocks noGrp="1"/>
          </p:cNvGraphicFramePr>
          <p:nvPr>
            <p:ph idx="1"/>
          </p:nvPr>
        </p:nvGraphicFramePr>
        <p:xfrm>
          <a:off x="1088685" y="1511799"/>
          <a:ext cx="7202456" cy="2587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753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F891EB-ED45-44C3-95D6-FFB2EC07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A385B8-7C85-4CE0-AE3A-00EB627B34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54A4F1D4-7BF6-69C5-F5C6-6723BDD70DCD}"/>
              </a:ext>
            </a:extLst>
          </p:cNvPr>
          <p:cNvSpPr>
            <a:spLocks noGrp="1"/>
          </p:cNvSpPr>
          <p:nvPr>
            <p:ph type="title"/>
          </p:nvPr>
        </p:nvSpPr>
        <p:spPr>
          <a:xfrm>
            <a:off x="609153" y="603389"/>
            <a:ext cx="2431365" cy="3323520"/>
          </a:xfrm>
        </p:spPr>
        <p:txBody>
          <a:bodyPr anchor="ctr">
            <a:normAutofit/>
          </a:bodyPr>
          <a:lstStyle/>
          <a:p>
            <a:r>
              <a:rPr lang="en-US" sz="2200"/>
              <a:t>Recommended Scenarios</a:t>
            </a:r>
          </a:p>
        </p:txBody>
      </p:sp>
      <p:cxnSp>
        <p:nvCxnSpPr>
          <p:cNvPr id="12" name="Straight Connector 11">
            <a:extLst>
              <a:ext uri="{FF2B5EF4-FFF2-40B4-BE49-F238E27FC236}">
                <a16:creationId xmlns:a16="http://schemas.microsoft.com/office/drawing/2014/main" id="{19AF263B-E208-40DF-A182-5193478DC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258867" y="667764"/>
            <a:ext cx="0" cy="342900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69F68E7-00CB-9473-CAC8-93C7F21E8280}"/>
              </a:ext>
            </a:extLst>
          </p:cNvPr>
          <p:cNvSpPr>
            <a:spLocks noGrp="1"/>
          </p:cNvSpPr>
          <p:nvPr>
            <p:ph idx="1"/>
          </p:nvPr>
        </p:nvSpPr>
        <p:spPr>
          <a:xfrm>
            <a:off x="3478397" y="603390"/>
            <a:ext cx="4576919" cy="3323519"/>
          </a:xfrm>
        </p:spPr>
        <p:txBody>
          <a:bodyPr anchor="ctr">
            <a:normAutofit/>
          </a:bodyPr>
          <a:lstStyle/>
          <a:p>
            <a:r>
              <a:rPr lang="en-US"/>
              <a:t>Dynamic Layouts</a:t>
            </a:r>
          </a:p>
          <a:p>
            <a:pPr lvl="1"/>
            <a:r>
              <a:rPr lang="en-US"/>
              <a:t>Get flexible, dynamic layouts that adjust automatically based on data and user interactions.</a:t>
            </a:r>
          </a:p>
          <a:p>
            <a:r>
              <a:rPr lang="en-US"/>
              <a:t>Data-Driven UI Generation</a:t>
            </a:r>
          </a:p>
          <a:p>
            <a:pPr lvl="1"/>
            <a:r>
              <a:rPr lang="en-US"/>
              <a:t>UI elements can be generated dynamically from data sources, improving responsiveness and customization.</a:t>
            </a:r>
          </a:p>
          <a:p>
            <a:r>
              <a:rPr lang="en-US"/>
              <a:t>Demo – Create a Project w/ C# Markup</a:t>
            </a:r>
          </a:p>
        </p:txBody>
      </p:sp>
      <p:pic>
        <p:nvPicPr>
          <p:cNvPr id="14" name="Picture 13">
            <a:extLst>
              <a:ext uri="{FF2B5EF4-FFF2-40B4-BE49-F238E27FC236}">
                <a16:creationId xmlns:a16="http://schemas.microsoft.com/office/drawing/2014/main" id="{DCC0100C-A457-45B1-8A8B-8740F43EC1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print">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spTree>
    <p:extLst>
      <p:ext uri="{BB962C8B-B14F-4D97-AF65-F5344CB8AC3E}">
        <p14:creationId xmlns:p14="http://schemas.microsoft.com/office/powerpoint/2010/main" val="1108156617"/>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0D238-72BF-2034-67CC-ECFB1F21C83B}"/>
              </a:ext>
            </a:extLst>
          </p:cNvPr>
          <p:cNvSpPr>
            <a:spLocks noGrp="1"/>
          </p:cNvSpPr>
          <p:nvPr>
            <p:ph type="title"/>
          </p:nvPr>
        </p:nvSpPr>
        <p:spPr/>
        <p:txBody>
          <a:bodyPr/>
          <a:lstStyle/>
          <a:p>
            <a:r>
              <a:rPr lang="en-US" dirty="0"/>
              <a:t>Reuse Web Skills with CSS In MAUI</a:t>
            </a:r>
          </a:p>
        </p:txBody>
      </p:sp>
      <p:graphicFrame>
        <p:nvGraphicFramePr>
          <p:cNvPr id="5" name="Content Placeholder 2">
            <a:extLst>
              <a:ext uri="{FF2B5EF4-FFF2-40B4-BE49-F238E27FC236}">
                <a16:creationId xmlns:a16="http://schemas.microsoft.com/office/drawing/2014/main" id="{7CC59E13-71EA-919F-86B5-ACA26C8F3FE7}"/>
              </a:ext>
            </a:extLst>
          </p:cNvPr>
          <p:cNvGraphicFramePr>
            <a:graphicFrameLocks noGrp="1"/>
          </p:cNvGraphicFramePr>
          <p:nvPr>
            <p:ph idx="1"/>
          </p:nvPr>
        </p:nvGraphicFramePr>
        <p:xfrm>
          <a:off x="1088685" y="1511799"/>
          <a:ext cx="7202456" cy="2587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4451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5B0BB24-CF19-4E6C-AFC4-A0F18438D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41782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438CEF5-63E3-4928-9F1C-395224D24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3" y="0"/>
            <a:ext cx="9146155" cy="4591938"/>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FF9FB6-FC64-FBAB-E50F-BAEB165F1936}"/>
              </a:ext>
            </a:extLst>
          </p:cNvPr>
          <p:cNvSpPr>
            <a:spLocks noGrp="1"/>
          </p:cNvSpPr>
          <p:nvPr>
            <p:ph type="title"/>
          </p:nvPr>
        </p:nvSpPr>
        <p:spPr>
          <a:xfrm>
            <a:off x="1088684" y="780226"/>
            <a:ext cx="7202456" cy="765172"/>
          </a:xfrm>
        </p:spPr>
        <p:txBody>
          <a:bodyPr>
            <a:normAutofit/>
          </a:bodyPr>
          <a:lstStyle/>
          <a:p>
            <a:r>
              <a:rPr lang="en-US" dirty="0"/>
              <a:t>Using CSS in MAUI Projects</a:t>
            </a:r>
          </a:p>
        </p:txBody>
      </p:sp>
      <p:cxnSp>
        <p:nvCxnSpPr>
          <p:cNvPr id="12" name="Straight Connector 11">
            <a:extLst>
              <a:ext uri="{FF2B5EF4-FFF2-40B4-BE49-F238E27FC236}">
                <a16:creationId xmlns:a16="http://schemas.microsoft.com/office/drawing/2014/main" id="{F328CB6C-F677-4C0B-9EE8-4D1C44DDF8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2742" y="1561215"/>
            <a:ext cx="7186496"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3" name="Content Placeholder 2">
            <a:extLst>
              <a:ext uri="{FF2B5EF4-FFF2-40B4-BE49-F238E27FC236}">
                <a16:creationId xmlns:a16="http://schemas.microsoft.com/office/drawing/2014/main" id="{8B168594-7C50-B49B-6C41-750D3A133BBB}"/>
              </a:ext>
            </a:extLst>
          </p:cNvPr>
          <p:cNvSpPr>
            <a:spLocks noGrp="1"/>
          </p:cNvSpPr>
          <p:nvPr>
            <p:ph idx="1"/>
          </p:nvPr>
        </p:nvSpPr>
        <p:spPr>
          <a:xfrm>
            <a:off x="1088685" y="1766652"/>
            <a:ext cx="7077303" cy="2411647"/>
          </a:xfrm>
        </p:spPr>
        <p:txBody>
          <a:bodyPr>
            <a:normAutofit/>
          </a:bodyPr>
          <a:lstStyle/>
          <a:p>
            <a:r>
              <a:rPr lang="en-US"/>
              <a:t>Including CSS Files</a:t>
            </a:r>
          </a:p>
          <a:p>
            <a:pPr lvl="1"/>
            <a:r>
              <a:rPr lang="en-US"/>
              <a:t>Learn the process to add CSS files to a MAUI project to manage styles separately from code and XAML.</a:t>
            </a:r>
          </a:p>
          <a:p>
            <a:r>
              <a:rPr lang="en-US"/>
              <a:t>Applying Styles to Controls</a:t>
            </a:r>
          </a:p>
          <a:p>
            <a:pPr lvl="1"/>
            <a:r>
              <a:rPr lang="en-US"/>
              <a:t>Apply CSS styles effectively to UI controls for a clear separation between design &amp; app logic.</a:t>
            </a:r>
          </a:p>
          <a:p>
            <a:r>
              <a:rPr lang="en-US"/>
              <a:t>Demo – CSS in .NET MAUI projects</a:t>
            </a:r>
          </a:p>
        </p:txBody>
      </p:sp>
      <p:sp>
        <p:nvSpPr>
          <p:cNvPr id="14" name="Rectangle 13">
            <a:extLst>
              <a:ext uri="{FF2B5EF4-FFF2-40B4-BE49-F238E27FC236}">
                <a16:creationId xmlns:a16="http://schemas.microsoft.com/office/drawing/2014/main" id="{A72CA9B9-8D14-4AF2-934E-21FE4A339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4591938"/>
            <a:ext cx="9143772" cy="551561"/>
          </a:xfrm>
          <a:prstGeom prst="rect">
            <a:avLst/>
          </a:prstGeom>
          <a:solidFill>
            <a:schemeClr val="accent1"/>
          </a:soli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002014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A6C5F-BDAF-505B-D899-D16536D5CCAA}"/>
              </a:ext>
            </a:extLst>
          </p:cNvPr>
          <p:cNvSpPr>
            <a:spLocks noGrp="1"/>
          </p:cNvSpPr>
          <p:nvPr>
            <p:ph type="title"/>
          </p:nvPr>
        </p:nvSpPr>
        <p:spPr/>
        <p:txBody>
          <a:bodyPr/>
          <a:lstStyle/>
          <a:p>
            <a:r>
              <a:rPr lang="en-US" dirty="0"/>
              <a:t>Device Feature Abstraction</a:t>
            </a:r>
          </a:p>
        </p:txBody>
      </p:sp>
      <p:graphicFrame>
        <p:nvGraphicFramePr>
          <p:cNvPr id="5" name="Content Placeholder 2">
            <a:extLst>
              <a:ext uri="{FF2B5EF4-FFF2-40B4-BE49-F238E27FC236}">
                <a16:creationId xmlns:a16="http://schemas.microsoft.com/office/drawing/2014/main" id="{189EC8AE-A2E9-C449-FEFA-6D914287F892}"/>
              </a:ext>
            </a:extLst>
          </p:cNvPr>
          <p:cNvGraphicFramePr>
            <a:graphicFrameLocks noGrp="1"/>
          </p:cNvGraphicFramePr>
          <p:nvPr>
            <p:ph idx="1"/>
          </p:nvPr>
        </p:nvGraphicFramePr>
        <p:xfrm>
          <a:off x="1088685" y="1511799"/>
          <a:ext cx="7202456" cy="2587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37632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6595" cy="51435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D3D63-4A07-5FB5-283A-022FD7DB02DB}"/>
              </a:ext>
            </a:extLst>
          </p:cNvPr>
          <p:cNvSpPr>
            <a:spLocks noGrp="1"/>
          </p:cNvSpPr>
          <p:nvPr>
            <p:ph type="title"/>
          </p:nvPr>
        </p:nvSpPr>
        <p:spPr>
          <a:xfrm>
            <a:off x="637262" y="930057"/>
            <a:ext cx="2045860" cy="3438395"/>
          </a:xfrm>
        </p:spPr>
        <p:txBody>
          <a:bodyPr>
            <a:normAutofit/>
          </a:bodyPr>
          <a:lstStyle/>
          <a:p>
            <a:r>
              <a:rPr lang="en-US">
                <a:solidFill>
                  <a:srgbClr val="FFFFFF"/>
                </a:solidFill>
              </a:rPr>
              <a:t>Additional Resources</a:t>
            </a:r>
          </a:p>
        </p:txBody>
      </p:sp>
      <p:sp>
        <p:nvSpPr>
          <p:cNvPr id="3" name="Content Placeholder 2">
            <a:extLst>
              <a:ext uri="{FF2B5EF4-FFF2-40B4-BE49-F238E27FC236}">
                <a16:creationId xmlns:a16="http://schemas.microsoft.com/office/drawing/2014/main" id="{9EF819F0-F620-B38D-BFEA-9CBA932D9214}"/>
              </a:ext>
            </a:extLst>
          </p:cNvPr>
          <p:cNvSpPr>
            <a:spLocks noGrp="1"/>
          </p:cNvSpPr>
          <p:nvPr>
            <p:ph idx="1"/>
          </p:nvPr>
        </p:nvSpPr>
        <p:spPr>
          <a:xfrm>
            <a:off x="3529195" y="930057"/>
            <a:ext cx="4526120" cy="3687349"/>
          </a:xfrm>
        </p:spPr>
        <p:txBody>
          <a:bodyPr anchor="t">
            <a:normAutofit fontScale="85000" lnSpcReduction="20000"/>
          </a:bodyPr>
          <a:lstStyle/>
          <a:p>
            <a:pPr>
              <a:lnSpc>
                <a:spcPct val="110000"/>
              </a:lnSpc>
            </a:pPr>
            <a:r>
              <a:rPr lang="en-US" sz="1400"/>
              <a:t>Documentation Access</a:t>
            </a:r>
          </a:p>
          <a:p>
            <a:pPr lvl="1">
              <a:lnSpc>
                <a:spcPct val="110000"/>
              </a:lnSpc>
            </a:pPr>
            <a:r>
              <a:rPr lang="en-US" sz="1400" dirty="0"/>
              <a:t>.NET MAUI docs home: </a:t>
            </a:r>
            <a:r>
              <a:rPr lang="en-US" sz="1400" dirty="0">
                <a:hlinkClick r:id="rId3"/>
              </a:rPr>
              <a:t>https://learn.microsoft.com/dotnet/maui/</a:t>
            </a:r>
            <a:r>
              <a:rPr lang="en-US" sz="1400" dirty="0"/>
              <a:t> </a:t>
            </a:r>
            <a:endParaRPr lang="en-US" sz="1400"/>
          </a:p>
          <a:p>
            <a:pPr lvl="1">
              <a:lnSpc>
                <a:spcPct val="110000"/>
              </a:lnSpc>
            </a:pPr>
            <a:r>
              <a:rPr lang="en-US" sz="1400" dirty="0"/>
              <a:t>MAUI Toolkit docs: </a:t>
            </a:r>
            <a:r>
              <a:rPr lang="en-US" sz="1400" dirty="0">
                <a:hlinkClick r:id="rId4"/>
              </a:rPr>
              <a:t>https://learn.microsoft.com/dotnet/communitytoolkit/maui/</a:t>
            </a:r>
            <a:r>
              <a:rPr lang="en-US" sz="1400" dirty="0"/>
              <a:t> </a:t>
            </a:r>
            <a:endParaRPr lang="en-US" sz="1400"/>
          </a:p>
          <a:p>
            <a:pPr>
              <a:lnSpc>
                <a:spcPct val="110000"/>
              </a:lnSpc>
            </a:pPr>
            <a:r>
              <a:rPr lang="en-US" sz="1400"/>
              <a:t>Tutorials and Guides</a:t>
            </a:r>
          </a:p>
          <a:p>
            <a:pPr lvl="1">
              <a:lnSpc>
                <a:spcPct val="110000"/>
              </a:lnSpc>
            </a:pPr>
            <a:r>
              <a:rPr lang="en-US" sz="1400" dirty="0"/>
              <a:t>Get started in docs: </a:t>
            </a:r>
            <a:r>
              <a:rPr lang="en-US" sz="1400" dirty="0">
                <a:hlinkClick r:id="rId5"/>
              </a:rPr>
              <a:t>https://learn.microsoft.com/dotnet/maui/get-started/first-app</a:t>
            </a:r>
            <a:r>
              <a:rPr lang="en-US" sz="1400" dirty="0"/>
              <a:t> </a:t>
            </a:r>
            <a:endParaRPr lang="en-US" sz="1400"/>
          </a:p>
          <a:p>
            <a:pPr lvl="1">
              <a:lnSpc>
                <a:spcPct val="110000"/>
              </a:lnSpc>
            </a:pPr>
            <a:r>
              <a:rPr lang="en-US" sz="1400" dirty="0"/>
              <a:t>.NET MAUI learning path: </a:t>
            </a:r>
            <a:r>
              <a:rPr lang="en-US" sz="1400" dirty="0">
                <a:hlinkClick r:id="rId6"/>
              </a:rPr>
              <a:t>https://learn.microsoft.com/training/paths/build-apps-with-dotnet-maui/</a:t>
            </a:r>
            <a:r>
              <a:rPr lang="en-US" sz="1400" dirty="0"/>
              <a:t> </a:t>
            </a:r>
            <a:endParaRPr lang="en-US" sz="1400"/>
          </a:p>
          <a:p>
            <a:pPr>
              <a:lnSpc>
                <a:spcPct val="110000"/>
              </a:lnSpc>
            </a:pPr>
            <a:r>
              <a:rPr lang="en-US" sz="1400"/>
              <a:t>Community Groups</a:t>
            </a:r>
          </a:p>
          <a:p>
            <a:pPr lvl="1">
              <a:lnSpc>
                <a:spcPct val="110000"/>
              </a:lnSpc>
            </a:pPr>
            <a:r>
              <a:rPr lang="en-US" sz="1400" dirty="0"/>
              <a:t>.NET MAUI Community Standup: </a:t>
            </a:r>
            <a:r>
              <a:rPr lang="en-US" sz="1400" dirty="0">
                <a:hlinkClick r:id="rId7"/>
              </a:rPr>
              <a:t>https://www.youtube.com/watch?v=SeRGpBR3-3M&amp;list=PLdo4fOcmZ0oX-sL7AFmygVw2A37Hbp8ZS</a:t>
            </a:r>
            <a:r>
              <a:rPr lang="en-US" sz="1400" dirty="0"/>
              <a:t> </a:t>
            </a:r>
            <a:endParaRPr lang="en-US" sz="1400"/>
          </a:p>
          <a:p>
            <a:pPr>
              <a:lnSpc>
                <a:spcPct val="110000"/>
              </a:lnSpc>
            </a:pPr>
            <a:r>
              <a:rPr lang="en-US" sz="1400"/>
              <a:t>Sample Projects</a:t>
            </a:r>
          </a:p>
          <a:p>
            <a:pPr lvl="1">
              <a:lnSpc>
                <a:spcPct val="110000"/>
              </a:lnSpc>
            </a:pPr>
            <a:r>
              <a:rPr lang="en-US" sz="1400" dirty="0"/>
              <a:t>Access sample projects to practice and apply new skills in real-world scenarios: </a:t>
            </a:r>
            <a:r>
              <a:rPr lang="en-US" sz="1400" dirty="0">
                <a:hlinkClick r:id="rId8"/>
              </a:rPr>
              <a:t>https://github.com/dotnet/maui-samples</a:t>
            </a:r>
            <a:r>
              <a:rPr lang="en-US" sz="1400" dirty="0"/>
              <a:t> </a:t>
            </a:r>
            <a:endParaRPr lang="en-US" sz="1400"/>
          </a:p>
        </p:txBody>
      </p:sp>
    </p:spTree>
    <p:extLst>
      <p:ext uri="{BB962C8B-B14F-4D97-AF65-F5344CB8AC3E}">
        <p14:creationId xmlns:p14="http://schemas.microsoft.com/office/powerpoint/2010/main" val="149669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F179B7C-8776-6BA8-A4E4-287B0789BA60}"/>
              </a:ext>
            </a:extLst>
          </p:cNvPr>
          <p:cNvPicPr>
            <a:picLocks noChangeAspect="1"/>
          </p:cNvPicPr>
          <p:nvPr/>
        </p:nvPicPr>
        <p:blipFill>
          <a:blip r:embed="rId3">
            <a:alphaModFix amt="50000"/>
            <a:grayscl/>
          </a:blip>
          <a:srcRect r="-2" b="-4"/>
          <a:stretch>
            <a:fillRect/>
          </a:stretch>
        </p:blipFill>
        <p:spPr>
          <a:xfrm>
            <a:off x="228" y="10"/>
            <a:ext cx="9143772" cy="5143490"/>
          </a:xfrm>
          <a:prstGeom prst="rect">
            <a:avLst/>
          </a:prstGeom>
        </p:spPr>
      </p:pic>
      <p:sp>
        <p:nvSpPr>
          <p:cNvPr id="11"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34225" y="332799"/>
            <a:ext cx="608265" cy="377683"/>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3"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2477" y="405690"/>
            <a:ext cx="3730436" cy="2319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5" name="Rectangle 14">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5350"/>
            <a:ext cx="9144000" cy="424814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01E13DC1-C211-9BD4-8B46-7487B9BAA34C}"/>
              </a:ext>
            </a:extLst>
          </p:cNvPr>
          <p:cNvSpPr>
            <a:spLocks noGrp="1"/>
          </p:cNvSpPr>
          <p:nvPr>
            <p:ph type="title"/>
          </p:nvPr>
        </p:nvSpPr>
        <p:spPr>
          <a:xfrm>
            <a:off x="847703" y="895350"/>
            <a:ext cx="2394787" cy="3524250"/>
          </a:xfrm>
        </p:spPr>
        <p:txBody>
          <a:bodyPr anchor="ctr">
            <a:normAutofit/>
          </a:bodyPr>
          <a:lstStyle/>
          <a:p>
            <a:r>
              <a:rPr lang="en-US" dirty="0"/>
              <a:t>Foundry Local Models in Windows, macOS &amp; Android Apps</a:t>
            </a:r>
          </a:p>
        </p:txBody>
      </p:sp>
      <p:cxnSp>
        <p:nvCxnSpPr>
          <p:cNvPr id="17" name="Straight Connector 16">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200150"/>
            <a:ext cx="0" cy="27432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79C27AD-FF9E-F64F-7B35-1C140860447D}"/>
              </a:ext>
            </a:extLst>
          </p:cNvPr>
          <p:cNvSpPr>
            <a:spLocks noGrp="1"/>
          </p:cNvSpPr>
          <p:nvPr>
            <p:ph idx="1"/>
          </p:nvPr>
        </p:nvSpPr>
        <p:spPr>
          <a:xfrm>
            <a:off x="3732477" y="895350"/>
            <a:ext cx="4563818" cy="3524250"/>
          </a:xfrm>
        </p:spPr>
        <p:txBody>
          <a:bodyPr anchor="ctr">
            <a:normAutofit/>
          </a:bodyPr>
          <a:lstStyle/>
          <a:p>
            <a:r>
              <a:rPr lang="en-US" dirty="0"/>
              <a:t>Command line install on Windows &amp; macOS</a:t>
            </a:r>
          </a:p>
          <a:p>
            <a:pPr lvl="1"/>
            <a:r>
              <a:rPr lang="en-US" dirty="0" err="1">
                <a:latin typeface="Cascadia Code" panose="020B0609020000020004" pitchFamily="49" charset="0"/>
                <a:cs typeface="Cascadia Code" panose="020B0609020000020004" pitchFamily="49" charset="0"/>
              </a:rPr>
              <a:t>winget</a:t>
            </a:r>
            <a:r>
              <a:rPr lang="en-US" dirty="0">
                <a:latin typeface="Cascadia Code" panose="020B0609020000020004" pitchFamily="49" charset="0"/>
                <a:cs typeface="Cascadia Code" panose="020B0609020000020004" pitchFamily="49" charset="0"/>
              </a:rPr>
              <a:t> install </a:t>
            </a:r>
            <a:r>
              <a:rPr lang="en-US" dirty="0" err="1">
                <a:latin typeface="Cascadia Code" panose="020B0609020000020004" pitchFamily="49" charset="0"/>
                <a:cs typeface="Cascadia Code" panose="020B0609020000020004" pitchFamily="49" charset="0"/>
              </a:rPr>
              <a:t>Microsoft.FoundryLocal</a:t>
            </a:r>
            <a:endParaRPr lang="en-US" dirty="0">
              <a:latin typeface="Cascadia Code" panose="020B0609020000020004" pitchFamily="49" charset="0"/>
              <a:cs typeface="Cascadia Code" panose="020B0609020000020004" pitchFamily="49" charset="0"/>
            </a:endParaRPr>
          </a:p>
          <a:p>
            <a:pPr lvl="1"/>
            <a:r>
              <a:rPr lang="en-US" dirty="0">
                <a:latin typeface="Cascadia Code" panose="020B0609020000020004" pitchFamily="49" charset="0"/>
                <a:cs typeface="Cascadia Code" panose="020B0609020000020004" pitchFamily="49" charset="0"/>
              </a:rPr>
              <a:t>brew tap </a:t>
            </a:r>
            <a:r>
              <a:rPr lang="en-US" dirty="0" err="1">
                <a:latin typeface="Cascadia Code" panose="020B0609020000020004" pitchFamily="49" charset="0"/>
                <a:cs typeface="Cascadia Code" panose="020B0609020000020004" pitchFamily="49" charset="0"/>
              </a:rPr>
              <a:t>microsoft</a:t>
            </a:r>
            <a:r>
              <a:rPr lang="en-US" dirty="0">
                <a:latin typeface="Cascadia Code" panose="020B0609020000020004" pitchFamily="49" charset="0"/>
                <a:cs typeface="Cascadia Code" panose="020B0609020000020004" pitchFamily="49" charset="0"/>
              </a:rPr>
              <a:t>/</a:t>
            </a:r>
            <a:r>
              <a:rPr lang="en-US" dirty="0" err="1">
                <a:latin typeface="Cascadia Code" panose="020B0609020000020004" pitchFamily="49" charset="0"/>
                <a:cs typeface="Cascadia Code" panose="020B0609020000020004" pitchFamily="49" charset="0"/>
              </a:rPr>
              <a:t>foundrylocal</a:t>
            </a:r>
            <a:r>
              <a:rPr lang="en-US" dirty="0"/>
              <a:t> &amp;&amp; </a:t>
            </a:r>
            <a:r>
              <a:rPr lang="en-US" dirty="0">
                <a:latin typeface="Cascadia Code" panose="020B0609020000020004" pitchFamily="49" charset="0"/>
                <a:cs typeface="Cascadia Code" panose="020B0609020000020004" pitchFamily="49" charset="0"/>
              </a:rPr>
              <a:t>brew install </a:t>
            </a:r>
            <a:r>
              <a:rPr lang="en-US" dirty="0" err="1">
                <a:latin typeface="Cascadia Code" panose="020B0609020000020004" pitchFamily="49" charset="0"/>
                <a:cs typeface="Cascadia Code" panose="020B0609020000020004" pitchFamily="49" charset="0"/>
              </a:rPr>
              <a:t>foundrylocal</a:t>
            </a:r>
            <a:endParaRPr lang="en-US" dirty="0">
              <a:latin typeface="Cascadia Code" panose="020B0609020000020004" pitchFamily="49" charset="0"/>
              <a:cs typeface="Cascadia Code" panose="020B0609020000020004" pitchFamily="49" charset="0"/>
            </a:endParaRPr>
          </a:p>
          <a:p>
            <a:r>
              <a:rPr lang="en-US" dirty="0">
                <a:cs typeface="Cascadia Code" panose="020B0609020000020004" pitchFamily="49" charset="0"/>
              </a:rPr>
              <a:t>Install Foundry Local app on Android</a:t>
            </a:r>
          </a:p>
          <a:p>
            <a:r>
              <a:rPr lang="en-US" dirty="0">
                <a:cs typeface="Cascadia Code" panose="020B0609020000020004" pitchFamily="49" charset="0"/>
              </a:rPr>
              <a:t>Use </a:t>
            </a:r>
            <a:r>
              <a:rPr lang="en-US" dirty="0" err="1">
                <a:cs typeface="Cascadia Code" panose="020B0609020000020004" pitchFamily="49" charset="0"/>
              </a:rPr>
              <a:t>Microsoft.AI.Foundry.Local</a:t>
            </a:r>
            <a:r>
              <a:rPr lang="en-US" dirty="0">
                <a:cs typeface="Cascadia Code" panose="020B0609020000020004" pitchFamily="49" charset="0"/>
              </a:rPr>
              <a:t> </a:t>
            </a:r>
            <a:r>
              <a:rPr lang="en-US" dirty="0" err="1">
                <a:cs typeface="Cascadia Code" panose="020B0609020000020004" pitchFamily="49" charset="0"/>
              </a:rPr>
              <a:t>nuget</a:t>
            </a:r>
            <a:r>
              <a:rPr lang="en-US" dirty="0">
                <a:cs typeface="Cascadia Code" panose="020B0609020000020004" pitchFamily="49" charset="0"/>
              </a:rPr>
              <a:t> package in .NET MAUI</a:t>
            </a:r>
          </a:p>
          <a:p>
            <a:r>
              <a:rPr lang="en-US" dirty="0">
                <a:cs typeface="Cascadia Code" panose="020B0609020000020004" pitchFamily="49" charset="0"/>
              </a:rPr>
              <a:t>Use cached models for offline scenarios</a:t>
            </a:r>
          </a:p>
        </p:txBody>
      </p:sp>
      <p:sp>
        <p:nvSpPr>
          <p:cNvPr id="19"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2421" y="4505908"/>
            <a:ext cx="2625537" cy="2319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Tree>
    <p:extLst>
      <p:ext uri="{BB962C8B-B14F-4D97-AF65-F5344CB8AC3E}">
        <p14:creationId xmlns:p14="http://schemas.microsoft.com/office/powerpoint/2010/main" val="1014398741"/>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B56E8-268B-B6ED-2F72-83F4E3722FC6}"/>
              </a:ext>
            </a:extLst>
          </p:cNvPr>
          <p:cNvSpPr>
            <a:spLocks noGrp="1"/>
          </p:cNvSpPr>
          <p:nvPr>
            <p:ph type="title"/>
          </p:nvPr>
        </p:nvSpPr>
        <p:spPr>
          <a:xfrm>
            <a:off x="1088684" y="603389"/>
            <a:ext cx="7202456" cy="786926"/>
          </a:xfrm>
        </p:spPr>
        <p:txBody>
          <a:bodyPr>
            <a:normAutofit/>
          </a:bodyPr>
          <a:lstStyle/>
          <a:p>
            <a:r>
              <a:rPr lang="en-US" dirty="0"/>
              <a:t>Q&amp;A and Thank You!</a:t>
            </a:r>
          </a:p>
        </p:txBody>
      </p:sp>
      <p:sp>
        <p:nvSpPr>
          <p:cNvPr id="3" name="Content Placeholder 2">
            <a:extLst>
              <a:ext uri="{FF2B5EF4-FFF2-40B4-BE49-F238E27FC236}">
                <a16:creationId xmlns:a16="http://schemas.microsoft.com/office/drawing/2014/main" id="{36DA1289-A2B2-501E-384A-DE8D8FFB473B}"/>
              </a:ext>
            </a:extLst>
          </p:cNvPr>
          <p:cNvSpPr>
            <a:spLocks noGrp="1"/>
          </p:cNvSpPr>
          <p:nvPr>
            <p:ph idx="1"/>
          </p:nvPr>
        </p:nvSpPr>
        <p:spPr>
          <a:xfrm>
            <a:off x="1088684" y="1511800"/>
            <a:ext cx="4646838" cy="2587960"/>
          </a:xfrm>
        </p:spPr>
        <p:txBody>
          <a:bodyPr>
            <a:normAutofit lnSpcReduction="10000"/>
          </a:bodyPr>
          <a:lstStyle/>
          <a:p>
            <a:r>
              <a:rPr lang="en-US" dirty="0"/>
              <a:t>Questions about .NET MAUI &amp; the Community Toolkits?</a:t>
            </a:r>
          </a:p>
          <a:p>
            <a:r>
              <a:rPr lang="en-US" dirty="0"/>
              <a:t>General Cross-Platform Dev Questions?</a:t>
            </a:r>
          </a:p>
          <a:p>
            <a:r>
              <a:rPr lang="en-US" dirty="0"/>
              <a:t>Feedback </a:t>
            </a:r>
            <a:r>
              <a:rPr lang="en-US" dirty="0">
                <a:sym typeface="Wingdings" panose="05000000000000000000" pitchFamily="2" charset="2"/>
              </a:rPr>
              <a:t></a:t>
            </a:r>
            <a:endParaRPr lang="en-US" dirty="0"/>
          </a:p>
          <a:p>
            <a:r>
              <a:rPr lang="en-US" dirty="0"/>
              <a:t>Follow up later:</a:t>
            </a:r>
          </a:p>
          <a:p>
            <a:pPr lvl="1"/>
            <a:r>
              <a:rPr lang="en-US" dirty="0">
                <a:hlinkClick r:id="rId3"/>
              </a:rPr>
              <a:t>alashcraft@gmail.com</a:t>
            </a:r>
            <a:endParaRPr lang="en-US" dirty="0"/>
          </a:p>
          <a:p>
            <a:pPr lvl="1"/>
            <a:r>
              <a:rPr lang="en-US" dirty="0"/>
              <a:t>Find me on BlueSky and LinkedIn</a:t>
            </a:r>
          </a:p>
          <a:p>
            <a:r>
              <a:rPr lang="en-US" dirty="0"/>
              <a:t>Thank you!</a:t>
            </a:r>
          </a:p>
        </p:txBody>
      </p:sp>
      <p:pic>
        <p:nvPicPr>
          <p:cNvPr id="5" name="Picture 4">
            <a:extLst>
              <a:ext uri="{FF2B5EF4-FFF2-40B4-BE49-F238E27FC236}">
                <a16:creationId xmlns:a16="http://schemas.microsoft.com/office/drawing/2014/main" id="{8DBF5226-2B95-DF96-9826-105EDFE3C3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567" y="1674557"/>
            <a:ext cx="2194573" cy="2262446"/>
          </a:xfrm>
          <a:prstGeom prst="rect">
            <a:avLst/>
          </a:prstGeom>
        </p:spPr>
      </p:pic>
    </p:spTree>
    <p:extLst>
      <p:ext uri="{BB962C8B-B14F-4D97-AF65-F5344CB8AC3E}">
        <p14:creationId xmlns:p14="http://schemas.microsoft.com/office/powerpoint/2010/main" val="2220436057"/>
      </p:ext>
    </p:extLst>
  </p:cSld>
  <p:clrMapOvr>
    <a:masterClrMapping/>
  </p:clrMapOvr>
</p:sld>
</file>

<file path=ppt/theme/theme1.xml><?xml version="1.0" encoding="utf-8"?>
<a:theme xmlns:a="http://schemas.openxmlformats.org/drawingml/2006/main" name="Visual Studio Live! New York 2015">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ive! 360 2018">
  <a:themeElements>
    <a:clrScheme name="Live! 360 2016">
      <a:dk1>
        <a:srgbClr val="000000"/>
      </a:dk1>
      <a:lt1>
        <a:sysClr val="window" lastClr="FFFFFF"/>
      </a:lt1>
      <a:dk2>
        <a:srgbClr val="000000"/>
      </a:dk2>
      <a:lt2>
        <a:srgbClr val="EEECE1"/>
      </a:lt2>
      <a:accent1>
        <a:srgbClr val="000000"/>
      </a:accent1>
      <a:accent2>
        <a:srgbClr val="00B0F0"/>
      </a:accent2>
      <a:accent3>
        <a:srgbClr val="9BBB59"/>
      </a:accent3>
      <a:accent4>
        <a:srgbClr val="8064A2"/>
      </a:accent4>
      <a:accent5>
        <a:srgbClr val="4BACC6"/>
      </a:accent5>
      <a:accent6>
        <a:srgbClr val="F79646"/>
      </a:accent6>
      <a:hlink>
        <a:srgbClr val="00000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isual Studio Live! Redmond 2014 1">
        <a:dk1>
          <a:srgbClr val="303030"/>
        </a:dk1>
        <a:lt1>
          <a:srgbClr val="FFFFFF"/>
        </a:lt1>
        <a:dk2>
          <a:srgbClr val="000000"/>
        </a:dk2>
        <a:lt2>
          <a:srgbClr val="DEDEE0"/>
        </a:lt2>
        <a:accent1>
          <a:srgbClr val="AD0101"/>
        </a:accent1>
        <a:accent2>
          <a:srgbClr val="726056"/>
        </a:accent2>
        <a:accent3>
          <a:srgbClr val="AAAAAA"/>
        </a:accent3>
        <a:accent4>
          <a:srgbClr val="DADADA"/>
        </a:accent4>
        <a:accent5>
          <a:srgbClr val="D3AAAA"/>
        </a:accent5>
        <a:accent6>
          <a:srgbClr val="67564D"/>
        </a:accent6>
        <a:hlink>
          <a:srgbClr val="D26900"/>
        </a:hlink>
        <a:folHlink>
          <a:srgbClr val="D89243"/>
        </a:folHlink>
      </a:clrScheme>
      <a:clrMap bg1="dk2" tx1="lt1" bg2="dk1" tx2="lt2" accent1="accent1" accent2="accent2" accent3="accent3" accent4="accent4" accent5="accent5" accent6="accent6" hlink="hlink" folHlink="folHlink"/>
    </a:extraClrScheme>
    <a:extraClrScheme>
      <a:clrScheme name="Visual Studio Live! Redmond 2014 2">
        <a:dk1>
          <a:srgbClr val="000000"/>
        </a:dk1>
        <a:lt1>
          <a:srgbClr val="FFFFFE"/>
        </a:lt1>
        <a:dk2>
          <a:srgbClr val="007397"/>
        </a:dk2>
        <a:lt2>
          <a:srgbClr val="636463"/>
        </a:lt2>
        <a:accent1>
          <a:srgbClr val="A01420"/>
        </a:accent1>
        <a:accent2>
          <a:srgbClr val="726056"/>
        </a:accent2>
        <a:accent3>
          <a:srgbClr val="FFFFFE"/>
        </a:accent3>
        <a:accent4>
          <a:srgbClr val="000000"/>
        </a:accent4>
        <a:accent5>
          <a:srgbClr val="CDAAAB"/>
        </a:accent5>
        <a:accent6>
          <a:srgbClr val="67564D"/>
        </a:accent6>
        <a:hlink>
          <a:srgbClr val="007397"/>
        </a:hlink>
        <a:folHlink>
          <a:srgbClr val="162F4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3532</TotalTime>
  <Words>5018</Words>
  <Application>Microsoft Office PowerPoint</Application>
  <PresentationFormat>On-screen Show (16:9)</PresentationFormat>
  <Paragraphs>398</Paragraphs>
  <Slides>24</Slides>
  <Notes>24</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24</vt:i4>
      </vt:variant>
    </vt:vector>
  </HeadingPairs>
  <TitlesOfParts>
    <vt:vector size="37" baseType="lpstr">
      <vt:lpstr>ＭＳ Ｐゴシック</vt:lpstr>
      <vt:lpstr>Arial</vt:lpstr>
      <vt:lpstr>Arial Bold</vt:lpstr>
      <vt:lpstr>Calibri</vt:lpstr>
      <vt:lpstr>Cascadia Code</vt:lpstr>
      <vt:lpstr>Gill Sans MT</vt:lpstr>
      <vt:lpstr>Oswald</vt:lpstr>
      <vt:lpstr>Source Sans Pro</vt:lpstr>
      <vt:lpstr>Source Sans Pro Black</vt:lpstr>
      <vt:lpstr>Wingdings</vt:lpstr>
      <vt:lpstr>Visual Studio Live! New York 2015</vt:lpstr>
      <vt:lpstr>Live! 360 2018</vt:lpstr>
      <vt:lpstr>Gallery</vt:lpstr>
      <vt:lpstr>PowerPoint Presentation</vt:lpstr>
      <vt:lpstr>Thank You Codemash Sponsors!</vt:lpstr>
      <vt:lpstr>Agenda</vt:lpstr>
      <vt:lpstr>About Me</vt:lpstr>
      <vt:lpstr>PowerPoint Presentation</vt:lpstr>
      <vt:lpstr>Overview of .NET MAUI &amp; Supported Platforms</vt:lpstr>
      <vt:lpstr>Benefits of a Single Codebase</vt:lpstr>
      <vt:lpstr>MAUI vs. Other X-Plat Frameworks</vt:lpstr>
      <vt:lpstr>IDEs and Tools</vt:lpstr>
      <vt:lpstr>Debug &amp; Build Across Platforms</vt:lpstr>
      <vt:lpstr>Productivity Tips</vt:lpstr>
      <vt:lpstr>Build UIs with XAML or C#</vt:lpstr>
      <vt:lpstr>Toolkit Overview</vt:lpstr>
      <vt:lpstr>MVVM in MAUI Apps</vt:lpstr>
      <vt:lpstr>Reduce Boilerplate with MVVM Toolkit</vt:lpstr>
      <vt:lpstr>Build Scalable Apps</vt:lpstr>
      <vt:lpstr>C# Markup</vt:lpstr>
      <vt:lpstr>Recommended Scenarios</vt:lpstr>
      <vt:lpstr>Reuse Web Skills with CSS In MAUI</vt:lpstr>
      <vt:lpstr>Using CSS in MAUI Projects</vt:lpstr>
      <vt:lpstr>Device Feature Abstraction</vt:lpstr>
      <vt:lpstr>Additional Resources</vt:lpstr>
      <vt:lpstr>Foundry Local Models in Windows, macOS &amp; Android Apps</vt:lpstr>
      <vt:lpstr>Q&amp;A and Thank You!</vt:lpstr>
    </vt:vector>
  </TitlesOfParts>
  <Company>1105 Media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Brent Sutton</dc:creator>
  <cp:lastModifiedBy>Alvin Ashcraft</cp:lastModifiedBy>
  <cp:revision>208</cp:revision>
  <dcterms:created xsi:type="dcterms:W3CDTF">2012-12-07T00:48:42Z</dcterms:created>
  <dcterms:modified xsi:type="dcterms:W3CDTF">2026-01-14T14:32:33Z</dcterms:modified>
</cp:coreProperties>
</file>