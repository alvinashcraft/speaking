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  <p:sldMasterId id="2147483760" r:id="rId2"/>
  </p:sldMasterIdLst>
  <p:notesMasterIdLst>
    <p:notesMasterId r:id="rId24"/>
  </p:notesMasterIdLst>
  <p:handoutMasterIdLst>
    <p:handoutMasterId r:id="rId25"/>
  </p:handoutMasterIdLst>
  <p:sldIdLst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2820">
          <p15:clr>
            <a:srgbClr val="A4A3A4"/>
          </p15:clr>
        </p15:guide>
        <p15:guide id="3" pos="2880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036"/>
    <a:srgbClr val="ED6A42"/>
    <a:srgbClr val="2596BE"/>
    <a:srgbClr val="3BDBC2"/>
    <a:srgbClr val="2B928C"/>
    <a:srgbClr val="F77462"/>
    <a:srgbClr val="E4DD9C"/>
    <a:srgbClr val="A2D39C"/>
    <a:srgbClr val="EAF0AC"/>
    <a:srgbClr val="61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15" autoAdjust="0"/>
    <p:restoredTop sz="87600" autoAdjust="0"/>
  </p:normalViewPr>
  <p:slideViewPr>
    <p:cSldViewPr>
      <p:cViewPr varScale="1">
        <p:scale>
          <a:sx n="161" d="100"/>
          <a:sy n="161" d="100"/>
        </p:scale>
        <p:origin x="475" y="96"/>
      </p:cViewPr>
      <p:guideLst>
        <p:guide orient="horz" pos="708"/>
        <p:guide orient="horz" pos="2820"/>
        <p:guide pos="2880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0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Visual Studio Live! San Diego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/>
            </a:lvl1pPr>
          </a:lstStyle>
          <a:p>
            <a:r>
              <a:rPr lang="en-US" dirty="0"/>
              <a:t>Visual Studio Live! Las Vegas 2023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3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DE326DE0-BACA-4EA0-B73F-CC7DC1D7F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alashcraft@gmail.com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22277" y="2555355"/>
            <a:ext cx="3987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F27036"/>
                </a:solidFill>
                <a:latin typeface="Arial" charset="0"/>
              </a:rPr>
              <a:t>Alvin Ashcraft</a:t>
            </a:r>
            <a:endParaRPr lang="en-US" sz="2800" b="1" dirty="0">
              <a:solidFill>
                <a:srgbClr val="F27036"/>
              </a:solidFill>
              <a:latin typeface="Arial" charset="0"/>
              <a:cs typeface="+mn-cs"/>
            </a:endParaRPr>
          </a:p>
          <a:p>
            <a:pPr>
              <a:defRPr/>
            </a:pPr>
            <a:r>
              <a:rPr lang="en-US" sz="2400" b="1" dirty="0">
                <a:solidFill>
                  <a:srgbClr val="F27036"/>
                </a:solidFill>
                <a:latin typeface="Arial" charset="0"/>
              </a:rPr>
              <a:t>Sr. Content Developer</a:t>
            </a:r>
          </a:p>
          <a:p>
            <a:pPr>
              <a:defRPr/>
            </a:pPr>
            <a:r>
              <a:rPr lang="en-US" sz="2400" b="1" dirty="0">
                <a:solidFill>
                  <a:srgbClr val="F27036"/>
                </a:solidFill>
                <a:latin typeface="Arial" charset="0"/>
              </a:rPr>
              <a:t>Microsoft</a:t>
            </a:r>
          </a:p>
          <a:p>
            <a:pPr eaLnBrk="1" hangingPunct="1">
              <a:defRPr/>
            </a:pPr>
            <a:endParaRPr lang="en-US" b="1" dirty="0">
              <a:solidFill>
                <a:srgbClr val="1F497D"/>
              </a:solidFill>
              <a:latin typeface="Arial" charset="0"/>
              <a:cs typeface="+mn-cs"/>
            </a:endParaRPr>
          </a:p>
          <a:p>
            <a:pPr eaLnBrk="1" hangingPunct="1">
              <a:defRPr/>
            </a:pPr>
            <a:endParaRPr lang="en-US" sz="1400" dirty="0">
              <a:solidFill>
                <a:srgbClr val="1F497D"/>
              </a:solidFill>
              <a:latin typeface="Times New Roman" pitchFamily="28" charset="0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22277" y="3986760"/>
            <a:ext cx="29400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r>
              <a:rPr lang="en-US" sz="2000" dirty="0">
                <a:solidFill>
                  <a:srgbClr val="F27036"/>
                </a:solidFill>
                <a:latin typeface="Arial" charset="0"/>
              </a:rPr>
              <a:t>Level: Intermediate</a:t>
            </a:r>
          </a:p>
          <a:p>
            <a:endParaRPr lang="en-US" b="1" dirty="0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81000" y="1289050"/>
            <a:ext cx="76200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4400" b="1" dirty="0">
                <a:solidFill>
                  <a:schemeClr val="bg1"/>
                </a:solidFill>
                <a:effectLst/>
              </a:rPr>
              <a:t>Create Multi-Platform Apps w/ .NET MAUI &amp; the MAUI Toolkit</a:t>
            </a: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333D19-2F66-B5EE-4D48-C1C51B02C6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EBFE1-3CDF-8695-964C-EAA91BBF4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137" y="28765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9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About Me</a:t>
            </a:r>
          </a:p>
          <a:p>
            <a:r>
              <a:rPr lang="en-US" dirty="0"/>
              <a:t>Introduction to .NET MAUI and Cross-Platform Apps</a:t>
            </a:r>
          </a:p>
          <a:p>
            <a:r>
              <a:rPr lang="en-US" dirty="0"/>
              <a:t>Develop on Windows and macOS</a:t>
            </a:r>
          </a:p>
          <a:p>
            <a:r>
              <a:rPr lang="en-US" dirty="0"/>
              <a:t>Rapid App Building with XAML, C# &amp; Visual Studio</a:t>
            </a:r>
          </a:p>
          <a:p>
            <a:r>
              <a:rPr lang="en-US" dirty="0"/>
              <a:t>Enhance Apps with the .NET MAUI Community Toolkit</a:t>
            </a:r>
          </a:p>
          <a:p>
            <a:r>
              <a:rPr lang="en-US" dirty="0"/>
              <a:t>Simplify Your MVVM Architecture with the MVVM Toolkit</a:t>
            </a:r>
          </a:p>
          <a:p>
            <a:r>
              <a:rPr lang="en-US" dirty="0"/>
              <a:t>Build Apps with C# Markup in VS Code: No XAML Required</a:t>
            </a:r>
          </a:p>
          <a:p>
            <a:r>
              <a:rPr lang="en-US" dirty="0"/>
              <a:t>Style Apps with CSS</a:t>
            </a:r>
          </a:p>
          <a:p>
            <a:r>
              <a:rPr lang="en-US" dirty="0"/>
              <a:t>Access Platform-Specific Features</a:t>
            </a:r>
          </a:p>
          <a:p>
            <a:r>
              <a:rPr lang="en-US" dirty="0"/>
              <a:t>Foundry Local models on Windows &amp; Android (time permitting)</a:t>
            </a:r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68601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CADC-C4D8-A65B-28F0-CBC90855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8CA1F-4E70-14CF-BC8F-FCE3BDE1A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Sr. Content Dev on Microsoft Learn</a:t>
            </a:r>
          </a:p>
          <a:p>
            <a:pPr lvl="1"/>
            <a:r>
              <a:rPr lang="en-US" dirty="0"/>
              <a:t>Azure OpenAI docs on Microsoft Foundry</a:t>
            </a:r>
          </a:p>
          <a:p>
            <a:r>
              <a:rPr lang="en-US" dirty="0"/>
              <a:t>Software industry for 30+ years</a:t>
            </a:r>
          </a:p>
          <a:p>
            <a:r>
              <a:rPr lang="en-US" dirty="0"/>
              <a:t>Morning Dew link blog (alvinashcraft.com)</a:t>
            </a:r>
          </a:p>
          <a:p>
            <a:r>
              <a:rPr lang="en-US" dirty="0"/>
              <a:t>Three books for </a:t>
            </a:r>
            <a:r>
              <a:rPr lang="en-US" dirty="0" err="1"/>
              <a:t>Packt</a:t>
            </a:r>
            <a:r>
              <a:rPr lang="en-US" dirty="0"/>
              <a:t> Publishing</a:t>
            </a:r>
          </a:p>
          <a:p>
            <a:r>
              <a:rPr lang="en-US" dirty="0"/>
              <a:t>TechBash dev conference organizers since 2016</a:t>
            </a:r>
          </a:p>
        </p:txBody>
      </p:sp>
    </p:spTree>
    <p:extLst>
      <p:ext uri="{BB962C8B-B14F-4D97-AF65-F5344CB8AC3E}">
        <p14:creationId xmlns:p14="http://schemas.microsoft.com/office/powerpoint/2010/main" val="156270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DB36C-4B9F-D5D0-7D82-17848260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Overview of MAUI &amp; Supported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D3744-6023-A77B-DA3E-8F4C1CACC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Multi-platform Framework</a:t>
            </a:r>
          </a:p>
          <a:p>
            <a:pPr lvl="1"/>
            <a:r>
              <a:rPr lang="en-US" dirty="0"/>
              <a:t>.NET MAUI allows building apps for multiple platforms w/ a single shared codebase.</a:t>
            </a:r>
          </a:p>
          <a:p>
            <a:r>
              <a:rPr lang="en-US" dirty="0"/>
              <a:t>Supported Platforms</a:t>
            </a:r>
          </a:p>
          <a:p>
            <a:pPr lvl="1"/>
            <a:r>
              <a:rPr lang="en-US" dirty="0"/>
              <a:t>Windows &amp; macOS on desktop and iOS &amp; Android mobile devices, enabling cross-device compatibility for most app users today.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24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C5D1-9717-1992-1DF4-EFF59E1B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 single codebase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D8704-17A1-3A9E-B031-B2EF026C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Reduced maintenance</a:t>
            </a:r>
          </a:p>
          <a:p>
            <a:pPr lvl="1"/>
            <a:r>
              <a:rPr lang="en-US" dirty="0"/>
              <a:t>A single codebase simplifies updates and bug fixes, lowering the time and resources needed for maintenance.</a:t>
            </a:r>
          </a:p>
          <a:p>
            <a:r>
              <a:rPr lang="en-US" dirty="0"/>
              <a:t>Faster development</a:t>
            </a:r>
          </a:p>
          <a:p>
            <a:pPr lvl="1"/>
            <a:r>
              <a:rPr lang="en-US" dirty="0"/>
              <a:t>Developers can build and deploy features faster by writing code once for all platforms.</a:t>
            </a:r>
          </a:p>
          <a:p>
            <a:r>
              <a:rPr lang="en-US" dirty="0"/>
              <a:t>Consistent user experience</a:t>
            </a:r>
          </a:p>
          <a:p>
            <a:pPr lvl="1"/>
            <a:r>
              <a:rPr lang="en-US" dirty="0"/>
              <a:t>Using a unified codebase ensures users enjoy the same experience across devices and operating systems while still providing native performance and look &amp; feel.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81D2-B5F9-C580-325A-972748576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 vs other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0513-330F-EA1F-FD9D-32CA426C1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Language</a:t>
            </a:r>
          </a:p>
          <a:p>
            <a:pPr lvl="1"/>
            <a:r>
              <a:rPr lang="en-US" dirty="0"/>
              <a:t>Ideal choice for .NET developers. Frameworks like Flutter and React Native require other technical expertise.</a:t>
            </a:r>
          </a:p>
          <a:p>
            <a:r>
              <a:rPr lang="en-US" dirty="0"/>
              <a:t>Enhanced Performance</a:t>
            </a:r>
          </a:p>
          <a:p>
            <a:pPr lvl="1"/>
            <a:r>
              <a:rPr lang="en-US" dirty="0"/>
              <a:t>Enables faster and more efficient app execution compared to PWAs or React Native.</a:t>
            </a:r>
          </a:p>
          <a:p>
            <a:r>
              <a:rPr lang="en-US" dirty="0"/>
              <a:t>Community and Ecosystem</a:t>
            </a:r>
          </a:p>
          <a:p>
            <a:pPr lvl="1"/>
            <a:r>
              <a:rPr lang="en-US" dirty="0"/>
              <a:t>Puts Microsoft in your corner. 3rd party libraries &amp; controls are available but not required for building rich, performant apps. The .NET MAUI Community Toolkit and .NET Community Toolkit offer additional libraries supported by the open-source community.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09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74EA-FB6F-C570-3E87-B460C19A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IDEs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2DC0-2D42-F3A7-A1EB-D413CBE2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Primary IDEs</a:t>
            </a:r>
          </a:p>
          <a:p>
            <a:pPr lvl="1"/>
            <a:r>
              <a:rPr lang="en-US" dirty="0"/>
              <a:t>Visual Studio on Windows and VS Code on Windows and macOS serve as the main development environments for .NET MAUI development.</a:t>
            </a:r>
          </a:p>
          <a:p>
            <a:r>
              <a:rPr lang="en-US" dirty="0"/>
              <a:t>Supporting Tools</a:t>
            </a:r>
          </a:p>
          <a:p>
            <a:pPr lvl="1"/>
            <a:r>
              <a:rPr lang="en-US" dirty="0"/>
              <a:t>VS Code, GitHub Copilot, and CLI tools complement the primary IDEs by supporting flexible and lightweight development workflows. .NET MAUI Community Toolkit offers open-source controls and helpers for your apps.</a:t>
            </a:r>
          </a:p>
          <a:p>
            <a:r>
              <a:rPr lang="en-US" dirty="0"/>
              <a:t>Additional Options</a:t>
            </a:r>
          </a:p>
          <a:p>
            <a:pPr lvl="1"/>
            <a:r>
              <a:rPr lang="en-US" dirty="0"/>
              <a:t>JetBrains Rider supports .NET MAUI development on Windows and macOS.</a:t>
            </a:r>
          </a:p>
        </p:txBody>
      </p:sp>
    </p:spTree>
    <p:extLst>
      <p:ext uri="{BB962C8B-B14F-4D97-AF65-F5344CB8AC3E}">
        <p14:creationId xmlns:p14="http://schemas.microsoft.com/office/powerpoint/2010/main" val="72641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7910-11AA-2BFD-EE8A-5DEA0B06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&amp; Debug Across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B5926-7536-56DD-3758-5FA5911E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Debugging Tools Usage</a:t>
            </a:r>
          </a:p>
          <a:p>
            <a:pPr lvl="1"/>
            <a:r>
              <a:rPr lang="en-US" dirty="0"/>
              <a:t>XAML Hot Reload</a:t>
            </a:r>
          </a:p>
          <a:p>
            <a:pPr lvl="1"/>
            <a:r>
              <a:rPr lang="en-US" dirty="0"/>
              <a:t>Live Visual Tree</a:t>
            </a:r>
          </a:p>
          <a:p>
            <a:pPr lvl="1"/>
            <a:r>
              <a:rPr lang="en-US" dirty="0"/>
              <a:t>Visual Studio’s Binding Failures window</a:t>
            </a:r>
          </a:p>
          <a:p>
            <a:r>
              <a:rPr lang="en-US" dirty="0"/>
              <a:t>Simulators and Emulators</a:t>
            </a:r>
          </a:p>
          <a:p>
            <a:pPr lvl="1"/>
            <a:r>
              <a:rPr lang="en-US" dirty="0"/>
              <a:t>Android &amp; iOS</a:t>
            </a:r>
          </a:p>
          <a:p>
            <a:pPr lvl="1"/>
            <a:r>
              <a:rPr lang="en-US" dirty="0"/>
              <a:t>Real-time testing with or without physical devices</a:t>
            </a:r>
          </a:p>
          <a:p>
            <a:pPr lvl="1"/>
            <a:r>
              <a:rPr lang="en-US" dirty="0"/>
              <a:t>Connect to macOS from Visual Studio on Windows to debug iOS apps in the Simulators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7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33D3-FA96-0577-6444-2873ADE3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Productivity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4D6FB-F71D-95BB-D4FF-BCB24C2B6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Hot Reload Feature</a:t>
            </a:r>
          </a:p>
          <a:p>
            <a:pPr lvl="1"/>
            <a:r>
              <a:rPr lang="en-US" dirty="0"/>
              <a:t>XAML Hot Reload &amp; .NET Hot Reload enable instant code and markup changes, speeding up development &amp; reducing testing time.</a:t>
            </a:r>
          </a:p>
          <a:p>
            <a:r>
              <a:rPr lang="en-US" dirty="0"/>
              <a:t>Use of Templates</a:t>
            </a:r>
          </a:p>
          <a:p>
            <a:pPr lvl="1"/>
            <a:r>
              <a:rPr lang="en-US" dirty="0"/>
              <a:t>Templates provide reusable structures, enhancing consistency &amp; saving time coding.</a:t>
            </a:r>
          </a:p>
          <a:p>
            <a:r>
              <a:rPr lang="en-US" dirty="0"/>
              <a:t>Extensions for Quality</a:t>
            </a:r>
          </a:p>
          <a:p>
            <a:pPr lvl="1"/>
            <a:r>
              <a:rPr lang="en-US" dirty="0"/>
              <a:t>Visual Studio &amp; VS Code extensions add functionality &amp; help maintain high code quality across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5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3F14A-8AD9-8234-ACA1-2DC5B629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 anchor="ctr">
            <a:normAutofit/>
          </a:bodyPr>
          <a:lstStyle/>
          <a:p>
            <a:r>
              <a:rPr lang="en-US" dirty="0"/>
              <a:t>Build UIs with XAML or C#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EC9E4D-E4D5-E940-0231-D719A6815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XAML markup</a:t>
            </a:r>
            <a:r>
              <a:rPr lang="en-US" dirty="0"/>
              <a:t> for clear &amp; declarative UI design when building responsive UIs.</a:t>
            </a:r>
          </a:p>
          <a:p>
            <a:r>
              <a:rPr lang="en-US" dirty="0"/>
              <a:t>Code behind in C#</a:t>
            </a:r>
          </a:p>
          <a:p>
            <a:r>
              <a:rPr lang="en-US" dirty="0"/>
              <a:t>Separation of concerns with MVVM</a:t>
            </a:r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F40ECCF7-8125-2402-C437-5A844B273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 UI in code with </a:t>
            </a:r>
            <a:r>
              <a:rPr lang="en-US" b="1" dirty="0"/>
              <a:t>C# Markup</a:t>
            </a:r>
          </a:p>
          <a:p>
            <a:r>
              <a:rPr lang="en-US" dirty="0"/>
              <a:t>MVU pattern for robust apps</a:t>
            </a:r>
          </a:p>
          <a:p>
            <a:r>
              <a:rPr lang="en-US" dirty="0"/>
              <a:t>No XAML learning curve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Demo: .NET MAUI projects in Visual Studio</a:t>
            </a:r>
          </a:p>
        </p:txBody>
      </p:sp>
    </p:spTree>
    <p:extLst>
      <p:ext uri="{BB962C8B-B14F-4D97-AF65-F5344CB8AC3E}">
        <p14:creationId xmlns:p14="http://schemas.microsoft.com/office/powerpoint/2010/main" val="385345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99E9-1348-8A54-6879-4DCC5AD0D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MAUI Toolkit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6A9C4-6E37-C444-8620-94A812CCE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Reusable UI Components</a:t>
            </a:r>
          </a:p>
          <a:p>
            <a:pPr lvl="1"/>
            <a:r>
              <a:rPr lang="en-US" dirty="0"/>
              <a:t>Microsoft’s Community Toolkits provide reusable components that speed up UI development and maintain consistency.</a:t>
            </a:r>
          </a:p>
          <a:p>
            <a:r>
              <a:rPr lang="en-US" dirty="0"/>
              <a:t>Functionality Enhancements</a:t>
            </a:r>
          </a:p>
          <a:p>
            <a:pPr lvl="1"/>
            <a:r>
              <a:rPr lang="en-US" dirty="0"/>
              <a:t>Extensions, converters &amp; animations add new features that extend the capabilities of existing UI elements.</a:t>
            </a:r>
          </a:p>
          <a:p>
            <a:r>
              <a:rPr lang="en-US" dirty="0"/>
              <a:t>Improved Responsiveness</a:t>
            </a:r>
          </a:p>
          <a:p>
            <a:pPr lvl="1"/>
            <a:r>
              <a:rPr lang="en-US" dirty="0"/>
              <a:t>Behaviors improve app responsiveness by managing user interactions smoothly.</a:t>
            </a:r>
          </a:p>
          <a:p>
            <a:r>
              <a:rPr lang="en-US" b="1" dirty="0"/>
              <a:t>Demo</a:t>
            </a:r>
          </a:p>
          <a:p>
            <a:pPr lvl="1"/>
            <a:r>
              <a:rPr lang="en-US" dirty="0"/>
              <a:t>Toolkit docs on Microsoft Learn</a:t>
            </a:r>
          </a:p>
          <a:p>
            <a:pPr lvl="1"/>
            <a:r>
              <a:rPr lang="en-US" dirty="0"/>
              <a:t>MAUI projects with Toolkit features</a:t>
            </a:r>
          </a:p>
        </p:txBody>
      </p:sp>
    </p:spTree>
    <p:extLst>
      <p:ext uri="{BB962C8B-B14F-4D97-AF65-F5344CB8AC3E}">
        <p14:creationId xmlns:p14="http://schemas.microsoft.com/office/powerpoint/2010/main" val="689152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824C-8F5F-FCC7-40A8-E7D59043C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MVVM in MAUI apps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7E30B-0A4F-1098-F960-A29407C5C0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Separation of Concerns</a:t>
            </a:r>
          </a:p>
          <a:p>
            <a:pPr lvl="1"/>
            <a:r>
              <a:rPr lang="en-US" dirty="0"/>
              <a:t>MVVM separates UI from business logic for cleaner &amp; modular code design.</a:t>
            </a:r>
          </a:p>
          <a:p>
            <a:r>
              <a:rPr lang="en-US" dirty="0"/>
              <a:t>Improved Code Organization</a:t>
            </a:r>
          </a:p>
          <a:p>
            <a:pPr lvl="1"/>
            <a:r>
              <a:rPr lang="en-US" dirty="0"/>
              <a:t>Using MVVM enhances code maintainability and organization in .NET MAUI applications.</a:t>
            </a:r>
          </a:p>
          <a:p>
            <a:r>
              <a:rPr lang="en-US" dirty="0"/>
              <a:t>Easier Testing</a:t>
            </a:r>
          </a:p>
          <a:p>
            <a:pPr lvl="1"/>
            <a:r>
              <a:rPr lang="en-US" dirty="0"/>
              <a:t>MVVM facilitates unit testing by isolating business logic from UI elements.</a:t>
            </a:r>
          </a:p>
          <a:p>
            <a:endParaRPr lang="en-US" dirty="0"/>
          </a:p>
        </p:txBody>
      </p:sp>
      <p:pic>
        <p:nvPicPr>
          <p:cNvPr id="5" name="Content Placeholder 7">
            <a:extLst>
              <a:ext uri="{FF2B5EF4-FFF2-40B4-BE49-F238E27FC236}">
                <a16:creationId xmlns:a16="http://schemas.microsoft.com/office/drawing/2014/main" id="{B19B7B9C-2010-5452-9DE2-A671C6D9AE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0" r="-2" b="5493"/>
          <a:stretch>
            <a:fillRect/>
          </a:stretch>
        </p:blipFill>
        <p:spPr>
          <a:xfrm>
            <a:off x="689142" y="1465059"/>
            <a:ext cx="3574716" cy="28642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7102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F275-A1FB-E707-2C24-EA7D437E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 Boilerplate w/ MVVM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52F97-9784-33D1-BC49-C3498171B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 repetitive code</a:t>
            </a:r>
          </a:p>
          <a:p>
            <a:pPr lvl="1"/>
            <a:r>
              <a:rPr lang="en-US" dirty="0"/>
              <a:t>Base classes designed to reduce repetitive coding tasks efficiently.</a:t>
            </a:r>
          </a:p>
          <a:p>
            <a:r>
              <a:rPr lang="en-US" dirty="0"/>
              <a:t>Streamline development</a:t>
            </a:r>
          </a:p>
          <a:p>
            <a:pPr lvl="1"/>
            <a:r>
              <a:rPr lang="en-US" dirty="0"/>
              <a:t>Helpers in the toolkit streamline the development process, enhancing productivity &amp;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1525882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20D7-08F1-9116-0728-7BA063DFE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Scalable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F40B4-8CED-693E-EC21-2021721ED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Data Binding</a:t>
            </a:r>
          </a:p>
          <a:p>
            <a:pPr lvl="1"/>
            <a:r>
              <a:rPr lang="en-US" dirty="0"/>
              <a:t>Use data binding to synchronize UI and data models efficiently, enhancing app responsiveness and maintainability.</a:t>
            </a:r>
          </a:p>
          <a:p>
            <a:r>
              <a:rPr lang="en-US" dirty="0"/>
              <a:t>Command Patterns</a:t>
            </a:r>
          </a:p>
          <a:p>
            <a:pPr lvl="1"/>
            <a:r>
              <a:rPr lang="en-US" dirty="0"/>
              <a:t>Apply command patterns to encapsulate requests as objects, facilitating flexible and reusable code.</a:t>
            </a:r>
          </a:p>
          <a:p>
            <a:r>
              <a:rPr lang="en-US" dirty="0"/>
              <a:t>Dependency Injection</a:t>
            </a:r>
          </a:p>
          <a:p>
            <a:pPr lvl="1"/>
            <a:r>
              <a:rPr lang="en-US" dirty="0"/>
              <a:t>Use dependency injection to manage component dependencies, promoting modular and testable code architecture.</a:t>
            </a:r>
          </a:p>
          <a:p>
            <a:r>
              <a:rPr lang="en-US" dirty="0"/>
              <a:t>Messaging</a:t>
            </a:r>
          </a:p>
          <a:p>
            <a:pPr lvl="1"/>
            <a:r>
              <a:rPr lang="en-US" dirty="0"/>
              <a:t>Keep Views and View Models loosely coupled with pub/sub messaging.</a:t>
            </a:r>
          </a:p>
          <a:p>
            <a:r>
              <a:rPr lang="en-US" b="1" dirty="0"/>
              <a:t>Demo</a:t>
            </a:r>
          </a:p>
          <a:p>
            <a:pPr lvl="1"/>
            <a:r>
              <a:rPr lang="en-US" dirty="0"/>
              <a:t>Use the MVVM Toolkit in Your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57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D6762-6124-BB35-BF3E-0C01B06C9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C# Markup – No XAML!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391D-95E2-704F-8023-8E21E91E1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Programmatic UI Creation</a:t>
            </a:r>
          </a:p>
          <a:p>
            <a:pPr lvl="1"/>
            <a:r>
              <a:rPr lang="en-US" dirty="0"/>
              <a:t>Create and modify user interface elements using C# markup programmatically.</a:t>
            </a:r>
          </a:p>
          <a:p>
            <a:r>
              <a:rPr lang="en-US" dirty="0"/>
              <a:t>Improved Code Reuse</a:t>
            </a:r>
          </a:p>
          <a:p>
            <a:pPr lvl="1"/>
            <a:r>
              <a:rPr lang="en-US" dirty="0"/>
              <a:t>Enhance code reuse by allowing modular UI components to be managed efficiently.</a:t>
            </a:r>
          </a:p>
          <a:p>
            <a:r>
              <a:rPr lang="en-US" dirty="0"/>
              <a:t>Reduced Context Switching</a:t>
            </a:r>
          </a:p>
          <a:p>
            <a:pPr lvl="1"/>
            <a:r>
              <a:rPr lang="en-US" dirty="0"/>
              <a:t>Using C# markup reduces context switching between design and code environments for developers.</a:t>
            </a:r>
          </a:p>
        </p:txBody>
      </p:sp>
    </p:spTree>
    <p:extLst>
      <p:ext uri="{BB962C8B-B14F-4D97-AF65-F5344CB8AC3E}">
        <p14:creationId xmlns:p14="http://schemas.microsoft.com/office/powerpoint/2010/main" val="1277990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51B92-14AF-4408-BB07-58D99675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Recommended Scenarios for C# Markup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B2137-4A63-B64E-9001-39DB4B743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Dynamic Layouts</a:t>
            </a:r>
          </a:p>
          <a:p>
            <a:pPr lvl="1"/>
            <a:r>
              <a:rPr lang="en-US" dirty="0"/>
              <a:t>Get flexible, dynamic layouts that adjust automatically based on data and user interactions.</a:t>
            </a:r>
          </a:p>
          <a:p>
            <a:r>
              <a:rPr lang="en-US" dirty="0"/>
              <a:t>Data-Driven UI Generation</a:t>
            </a:r>
          </a:p>
          <a:p>
            <a:pPr lvl="1"/>
            <a:r>
              <a:rPr lang="en-US" dirty="0"/>
              <a:t>UI elements can be generated dynamically from data sources, improving responsiveness and customization.</a:t>
            </a:r>
          </a:p>
          <a:p>
            <a:r>
              <a:rPr lang="en-US" b="1" dirty="0"/>
              <a:t>Demo</a:t>
            </a:r>
          </a:p>
          <a:p>
            <a:pPr lvl="1"/>
            <a:r>
              <a:rPr lang="en-US" dirty="0"/>
              <a:t>Create a Project w/ C# Markup</a:t>
            </a:r>
          </a:p>
        </p:txBody>
      </p:sp>
    </p:spTree>
    <p:extLst>
      <p:ext uri="{BB962C8B-B14F-4D97-AF65-F5344CB8AC3E}">
        <p14:creationId xmlns:p14="http://schemas.microsoft.com/office/powerpoint/2010/main" val="4215506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1DA7-13C4-D8D2-E902-A02CC99F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Reuse Web Skills w/ CSS in MAUI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97A0-5E87-F46E-D211-03430928D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Leverage Web Development Skills</a:t>
            </a:r>
          </a:p>
          <a:p>
            <a:pPr lvl="1"/>
            <a:r>
              <a:rPr lang="en-US" dirty="0"/>
              <a:t>Use your existing CSS dev knowledge to style .NET MAUI apps.</a:t>
            </a:r>
          </a:p>
          <a:p>
            <a:r>
              <a:rPr lang="en-US" dirty="0"/>
              <a:t>Save Development Time</a:t>
            </a:r>
          </a:p>
          <a:p>
            <a:pPr lvl="1"/>
            <a:r>
              <a:rPr lang="en-US" dirty="0"/>
              <a:t>Reuse web assets to reduce design time - accelerates app dev &amp; deployment.</a:t>
            </a:r>
          </a:p>
          <a:p>
            <a:r>
              <a:rPr lang="en-US" dirty="0"/>
              <a:t>Maintain Brand Consistency</a:t>
            </a:r>
          </a:p>
          <a:p>
            <a:pPr lvl="1"/>
            <a:r>
              <a:rPr lang="en-US" dirty="0"/>
              <a:t>Consistent styling across web &amp; MAUI apps ensures strong &amp; uniform brand identity.</a:t>
            </a:r>
          </a:p>
        </p:txBody>
      </p:sp>
    </p:spTree>
    <p:extLst>
      <p:ext uri="{BB962C8B-B14F-4D97-AF65-F5344CB8AC3E}">
        <p14:creationId xmlns:p14="http://schemas.microsoft.com/office/powerpoint/2010/main" val="241606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A3F0-0FAA-9242-FE79-B3AC3BBE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Foundry Local Models on Windows, macOS &amp; Android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BC2D3-F399-7ECD-A582-E80576DD7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Command line install on Windows &amp; macOS</a:t>
            </a:r>
          </a:p>
          <a:p>
            <a:pPr lvl="1"/>
            <a:r>
              <a:rPr lang="en-US" dirty="0" err="1"/>
              <a:t>winget</a:t>
            </a:r>
            <a:r>
              <a:rPr lang="en-US" dirty="0"/>
              <a:t> install </a:t>
            </a:r>
            <a:r>
              <a:rPr lang="en-US" dirty="0" err="1"/>
              <a:t>Microsoft.FoundryLocal</a:t>
            </a:r>
            <a:endParaRPr lang="en-US" dirty="0"/>
          </a:p>
          <a:p>
            <a:pPr lvl="1"/>
            <a:r>
              <a:rPr lang="en-US" dirty="0"/>
              <a:t>brew tap </a:t>
            </a:r>
            <a:r>
              <a:rPr lang="en-US" dirty="0" err="1"/>
              <a:t>microsoft</a:t>
            </a:r>
            <a:r>
              <a:rPr lang="en-US" dirty="0"/>
              <a:t>/</a:t>
            </a:r>
            <a:r>
              <a:rPr lang="en-US" dirty="0" err="1"/>
              <a:t>foundrylocal</a:t>
            </a:r>
            <a:r>
              <a:rPr lang="en-US" dirty="0"/>
              <a:t> &amp;&amp; brew install </a:t>
            </a:r>
            <a:r>
              <a:rPr lang="en-US" dirty="0" err="1"/>
              <a:t>foundrylocal</a:t>
            </a:r>
            <a:endParaRPr lang="en-US" dirty="0"/>
          </a:p>
          <a:p>
            <a:r>
              <a:rPr lang="en-US" dirty="0"/>
              <a:t>Install Foundry Local app on Android</a:t>
            </a:r>
          </a:p>
          <a:p>
            <a:r>
              <a:rPr lang="en-US" dirty="0"/>
              <a:t>Use </a:t>
            </a:r>
            <a:r>
              <a:rPr lang="en-US" dirty="0" err="1"/>
              <a:t>Microsoft.AI.Foundry.Local</a:t>
            </a:r>
            <a:r>
              <a:rPr lang="en-US" dirty="0"/>
              <a:t> </a:t>
            </a:r>
            <a:r>
              <a:rPr lang="en-US" dirty="0" err="1"/>
              <a:t>nuget</a:t>
            </a:r>
            <a:r>
              <a:rPr lang="en-US" dirty="0"/>
              <a:t> package in .NET MAUI</a:t>
            </a:r>
          </a:p>
          <a:p>
            <a:r>
              <a:rPr lang="en-US" dirty="0"/>
              <a:t>Use cached models for offline scenarios</a:t>
            </a:r>
          </a:p>
          <a:p>
            <a:r>
              <a:rPr lang="en-US" b="1" dirty="0"/>
              <a:t>Demo</a:t>
            </a:r>
          </a:p>
          <a:p>
            <a:pPr lvl="1"/>
            <a:r>
              <a:rPr lang="en-US" dirty="0"/>
              <a:t>Chat with a local model in .NET MAUI</a:t>
            </a:r>
          </a:p>
        </p:txBody>
      </p:sp>
    </p:spTree>
    <p:extLst>
      <p:ext uri="{BB962C8B-B14F-4D97-AF65-F5344CB8AC3E}">
        <p14:creationId xmlns:p14="http://schemas.microsoft.com/office/powerpoint/2010/main" val="762821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0BEF-8B75-1C4C-2040-AEF1C8C96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5F9D-717C-6CF0-C5CE-DFF96BAC5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Q&amp;A</a:t>
            </a:r>
          </a:p>
          <a:p>
            <a:pPr lvl="1"/>
            <a:r>
              <a:rPr lang="en-US" dirty="0"/>
              <a:t>Questions about .NET MAUI &amp; the Community Toolkits?</a:t>
            </a:r>
          </a:p>
          <a:p>
            <a:pPr lvl="1"/>
            <a:r>
              <a:rPr lang="en-US" dirty="0"/>
              <a:t>General Cross-Platform Dev Questions?</a:t>
            </a:r>
          </a:p>
          <a:p>
            <a:r>
              <a:rPr lang="en-US" dirty="0"/>
              <a:t>Feedback (QR code next slide)</a:t>
            </a:r>
          </a:p>
          <a:p>
            <a:r>
              <a:rPr lang="en-US" dirty="0"/>
              <a:t>Follow up later:</a:t>
            </a:r>
          </a:p>
          <a:p>
            <a:pPr lvl="1"/>
            <a:r>
              <a:rPr lang="en-US" dirty="0">
                <a:hlinkClick r:id="rId2"/>
              </a:rPr>
              <a:t>alashcraft@gmail.com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Find me on BlueSky &amp; LinkedIn</a:t>
            </a:r>
          </a:p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06335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BFAD0-8EE0-7985-D704-A2443429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D920-F0A9-7823-C845-FB8C6A0B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F48E62-F323-4ABC-DB5A-1CBD398C5D8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84F45-B232-8BD1-4559-5DD16FE33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137" y="28765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5970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isual Studio Live! Austin 20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1202</Words>
  <Application>Microsoft Office PowerPoint</Application>
  <PresentationFormat>On-screen Show (16:9)</PresentationFormat>
  <Paragraphs>163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Custom Design</vt:lpstr>
      <vt:lpstr>Visual Studio Live! Austin 2018</vt:lpstr>
      <vt:lpstr>PowerPoint Presentation</vt:lpstr>
      <vt:lpstr>Session Survey</vt:lpstr>
      <vt:lpstr>Agenda</vt:lpstr>
      <vt:lpstr>About me</vt:lpstr>
      <vt:lpstr>Overview of MAUI &amp; Supported Platforms</vt:lpstr>
      <vt:lpstr>Benefits of a single codebase</vt:lpstr>
      <vt:lpstr>.NET MAUI vs other frameworks</vt:lpstr>
      <vt:lpstr>IDEs and Tools</vt:lpstr>
      <vt:lpstr>Build &amp; Debug Across Platforms</vt:lpstr>
      <vt:lpstr>Productivity Tips</vt:lpstr>
      <vt:lpstr>Build UIs with XAML or C#</vt:lpstr>
      <vt:lpstr>.NET MAUI Toolkit Overview</vt:lpstr>
      <vt:lpstr>MVVM in MAUI apps</vt:lpstr>
      <vt:lpstr>Reduce Boilerplate w/ MVVM Toolkit</vt:lpstr>
      <vt:lpstr>Build Scalable Apps</vt:lpstr>
      <vt:lpstr>C# Markup – No XAML!</vt:lpstr>
      <vt:lpstr>Recommended Scenarios for C# Markup</vt:lpstr>
      <vt:lpstr>Reuse Web Skills w/ CSS in MAUI</vt:lpstr>
      <vt:lpstr>Foundry Local Models on Windows, macOS &amp; Android</vt:lpstr>
      <vt:lpstr>Thank you!</vt:lpstr>
      <vt:lpstr>Session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Danielle Potts</dc:creator>
  <cp:lastModifiedBy>Alvin Ashcraft</cp:lastModifiedBy>
  <cp:revision>18</cp:revision>
  <dcterms:created xsi:type="dcterms:W3CDTF">2015-02-16T21:29:58Z</dcterms:created>
  <dcterms:modified xsi:type="dcterms:W3CDTF">2026-08-20T14:07:51Z</dcterms:modified>
</cp:coreProperties>
</file>