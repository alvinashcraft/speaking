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60" r:id="rId2"/>
  </p:sldMasterIdLst>
  <p:notesMasterIdLst>
    <p:notesMasterId r:id="rId17"/>
  </p:notesMasterIdLst>
  <p:handoutMasterIdLst>
    <p:handoutMasterId r:id="rId18"/>
  </p:handoutMasterIdLst>
  <p:sldIdLst>
    <p:sldId id="258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08">
          <p15:clr>
            <a:srgbClr val="A4A3A4"/>
          </p15:clr>
        </p15:guide>
        <p15:guide id="2" orient="horz" pos="2820">
          <p15:clr>
            <a:srgbClr val="A4A3A4"/>
          </p15:clr>
        </p15:guide>
        <p15:guide id="3" pos="2880">
          <p15:clr>
            <a:srgbClr val="A4A3A4"/>
          </p15:clr>
        </p15:guide>
        <p15:guide id="4" pos="56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FF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7036"/>
    <a:srgbClr val="ED6A42"/>
    <a:srgbClr val="2596BE"/>
    <a:srgbClr val="3BDBC2"/>
    <a:srgbClr val="2B928C"/>
    <a:srgbClr val="F77462"/>
    <a:srgbClr val="E4DD9C"/>
    <a:srgbClr val="A2D39C"/>
    <a:srgbClr val="EAF0AC"/>
    <a:srgbClr val="6179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15" autoAdjust="0"/>
    <p:restoredTop sz="87600" autoAdjust="0"/>
  </p:normalViewPr>
  <p:slideViewPr>
    <p:cSldViewPr>
      <p:cViewPr varScale="1">
        <p:scale>
          <a:sx n="161" d="100"/>
          <a:sy n="161" d="100"/>
        </p:scale>
        <p:origin x="475" y="96"/>
      </p:cViewPr>
      <p:guideLst>
        <p:guide orient="horz" pos="708"/>
        <p:guide orient="horz" pos="2820"/>
        <p:guide pos="2880"/>
        <p:guide pos="56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010" y="77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57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sz="1300" b="1" dirty="0">
                <a:latin typeface="Arial" pitchFamily="34" charset="0"/>
                <a:cs typeface="Arial" pitchFamily="34" charset="0"/>
              </a:rPr>
              <a:t>Visual Studio Live! San Diego 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5626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4436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/>
            </a:lvl1pPr>
          </a:lstStyle>
          <a:p>
            <a:r>
              <a:rPr lang="en-US" dirty="0"/>
              <a:t>Visual Studio Live! Las Vegas 2023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38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fld id="{DE326DE0-BACA-4EA0-B73F-CC7DC1D7F4A1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9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74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1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0938"/>
            <a:ext cx="4040188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950"/>
            <a:ext cx="4040188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0938"/>
            <a:ext cx="4041775" cy="4810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950"/>
            <a:ext cx="4041775" cy="29622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85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6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448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79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045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60375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900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263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719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6375"/>
            <a:ext cx="2057400" cy="43878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6375"/>
            <a:ext cx="6019800" cy="43878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877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51E94-D08C-431E-88FC-7EB62E529A1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433EB1-7740-4DF8-A084-DB4A629F774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84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F999-7A4E-6B4F-9FED-EF75B73AD04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024AAD-DF78-DE44-A1F3-EEB19EDC9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3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mailto:alashcraft@gmail.co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22277" y="2555355"/>
            <a:ext cx="39878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5923" tIns="42962" rIns="85923" bIns="42962"/>
          <a:lstStyle/>
          <a:p>
            <a:pPr eaLnBrk="1" hangingPunct="1">
              <a:defRPr/>
            </a:pPr>
            <a:r>
              <a:rPr lang="en-US" sz="3200" b="1" dirty="0">
                <a:solidFill>
                  <a:srgbClr val="F27036"/>
                </a:solidFill>
                <a:latin typeface="Arial" charset="0"/>
              </a:rPr>
              <a:t>Alvin Ashcraft</a:t>
            </a:r>
            <a:endParaRPr lang="en-US" sz="2800" b="1" dirty="0">
              <a:solidFill>
                <a:srgbClr val="F27036"/>
              </a:solidFill>
              <a:latin typeface="Arial" charset="0"/>
              <a:cs typeface="+mn-cs"/>
            </a:endParaRPr>
          </a:p>
          <a:p>
            <a:pPr>
              <a:defRPr/>
            </a:pPr>
            <a:r>
              <a:rPr lang="en-US" sz="2400" b="1" dirty="0">
                <a:solidFill>
                  <a:srgbClr val="F27036"/>
                </a:solidFill>
                <a:latin typeface="Arial" charset="0"/>
              </a:rPr>
              <a:t>Sr. Content Developer</a:t>
            </a:r>
          </a:p>
          <a:p>
            <a:pPr>
              <a:defRPr/>
            </a:pPr>
            <a:r>
              <a:rPr lang="en-US" sz="2400" b="1" dirty="0">
                <a:solidFill>
                  <a:srgbClr val="F27036"/>
                </a:solidFill>
                <a:latin typeface="Arial" charset="0"/>
              </a:rPr>
              <a:t>Microsoft</a:t>
            </a:r>
          </a:p>
          <a:p>
            <a:pPr eaLnBrk="1" hangingPunct="1">
              <a:defRPr/>
            </a:pPr>
            <a:endParaRPr lang="en-US" b="1" dirty="0">
              <a:solidFill>
                <a:srgbClr val="1F497D"/>
              </a:solidFill>
              <a:latin typeface="Arial" charset="0"/>
              <a:cs typeface="+mn-cs"/>
            </a:endParaRPr>
          </a:p>
          <a:p>
            <a:pPr eaLnBrk="1" hangingPunct="1">
              <a:defRPr/>
            </a:pPr>
            <a:endParaRPr lang="en-US" sz="1400" dirty="0">
              <a:solidFill>
                <a:srgbClr val="1F497D"/>
              </a:solidFill>
              <a:latin typeface="Times New Roman" pitchFamily="28" charset="0"/>
              <a:cs typeface="+mn-cs"/>
            </a:endParaRPr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422277" y="3986760"/>
            <a:ext cx="294004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Lucida Console" pitchFamily="49" charset="0"/>
                <a:cs typeface="Arial" charset="0"/>
              </a:defRPr>
            </a:lvl9pPr>
          </a:lstStyle>
          <a:p>
            <a:r>
              <a:rPr lang="en-US" sz="2000" dirty="0">
                <a:solidFill>
                  <a:srgbClr val="F27036"/>
                </a:solidFill>
                <a:latin typeface="Arial" charset="0"/>
              </a:rPr>
              <a:t>Level: Intermediate</a:t>
            </a:r>
          </a:p>
          <a:p>
            <a:endParaRPr lang="en-US" b="1" dirty="0">
              <a:solidFill>
                <a:schemeClr val="accent1"/>
              </a:solidFill>
              <a:latin typeface="Arial" charset="0"/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381000" y="1289050"/>
            <a:ext cx="7848600" cy="1130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92100" dist="35921" dir="2700000" algn="ctr" rotWithShape="0">
                    <a:schemeClr val="tx1"/>
                  </a:outerShdw>
                </a:effectLst>
              </a14:hiddenEffects>
            </a:ext>
          </a:extLst>
        </p:spPr>
        <p:txBody>
          <a:bodyPr vert="horz" wrap="square" lIns="90379" tIns="44448" rIns="90379" bIns="44448" numCol="1" anchor="ctr" anchorCtr="0" compatLnSpc="1">
            <a:prstTxWarp prst="textNoShape">
              <a:avLst/>
            </a:prstTxWarp>
          </a:bodyPr>
          <a:lstStyle>
            <a:lvl1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+mj-lt"/>
                <a:ea typeface="+mj-ea"/>
                <a:cs typeface="+mj-cs"/>
              </a:defRPr>
            </a:lvl1pPr>
            <a:lvl2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2pPr>
            <a:lvl3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3pPr>
            <a:lvl4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4pPr>
            <a:lvl5pPr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5pPr>
            <a:lvl6pPr marL="4572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6pPr>
            <a:lvl7pPr marL="9144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7pPr>
            <a:lvl8pPr marL="13716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8pPr>
            <a:lvl9pPr marL="1828800" algn="l" defTabSz="896938" rtl="0" eaLnBrk="0" fontAlgn="base" hangingPunct="0">
              <a:spcBef>
                <a:spcPct val="0"/>
              </a:spcBef>
              <a:spcAft>
                <a:spcPct val="0"/>
              </a:spcAft>
              <a:defRPr sz="3000">
                <a:solidFill>
                  <a:srgbClr val="00B0EB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 Black" pitchFamily="28" charset="0"/>
              </a:defRPr>
            </a:lvl9pPr>
          </a:lstStyle>
          <a:p>
            <a:pPr>
              <a:lnSpc>
                <a:spcPct val="80000"/>
              </a:lnSpc>
              <a:defRPr/>
            </a:pPr>
            <a:r>
              <a:rPr lang="en-US" sz="4400" b="1" dirty="0">
                <a:solidFill>
                  <a:schemeClr val="bg1"/>
                </a:solidFill>
                <a:effectLst/>
              </a:rPr>
              <a:t>Build Intelligent Apps w/ WinUI, Phi Silica &amp; Microsoft Foundry</a:t>
            </a:r>
          </a:p>
        </p:txBody>
      </p:sp>
    </p:spTree>
    <p:extLst>
      <p:ext uri="{BB962C8B-B14F-4D97-AF65-F5344CB8AC3E}">
        <p14:creationId xmlns:p14="http://schemas.microsoft.com/office/powerpoint/2010/main" val="405188728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333D19-2F66-B5EE-4D48-C1C51B02C68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feedback is very important to us</a:t>
            </a:r>
          </a:p>
          <a:p>
            <a:r>
              <a:rPr lang="en-US" dirty="0"/>
              <a:t>Please take a moment to complete the session survey found in the mobile app</a:t>
            </a:r>
          </a:p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9EBFE1-3CDF-8695-964C-EAA91BBF4E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49137" y="2876550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97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Sr. Content Developer on Microsoft Learn</a:t>
            </a:r>
          </a:p>
          <a:p>
            <a:pPr lvl="1"/>
            <a:r>
              <a:rPr lang="en-US" dirty="0"/>
              <a:t>Azure OpenAI docs on Microsoft Foundry</a:t>
            </a:r>
          </a:p>
          <a:p>
            <a:r>
              <a:rPr lang="en-US" dirty="0"/>
              <a:t>Software industry for 30+ years</a:t>
            </a:r>
          </a:p>
          <a:p>
            <a:r>
              <a:rPr lang="en-US" dirty="0"/>
              <a:t>Morning Dew link blog (alvinashcraft.com)</a:t>
            </a:r>
          </a:p>
          <a:p>
            <a:r>
              <a:rPr lang="en-US" dirty="0"/>
              <a:t>Three books for </a:t>
            </a:r>
            <a:r>
              <a:rPr lang="en-US" dirty="0" err="1"/>
              <a:t>Packt</a:t>
            </a:r>
            <a:r>
              <a:rPr lang="en-US" dirty="0"/>
              <a:t> Publishing</a:t>
            </a:r>
          </a:p>
          <a:p>
            <a:r>
              <a:rPr lang="en-US" dirty="0"/>
              <a:t>TechBash dev conference organizer since 2016</a:t>
            </a:r>
          </a:p>
        </p:txBody>
      </p:sp>
    </p:spTree>
    <p:extLst>
      <p:ext uri="{BB962C8B-B14F-4D97-AF65-F5344CB8AC3E}">
        <p14:creationId xmlns:p14="http://schemas.microsoft.com/office/powerpoint/2010/main" val="686017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2361E-E89E-D177-C425-E4CD35CF6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69B3D-FC50-8049-2DB2-C7F77A301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AI Options for .NET Developers on Windows</a:t>
            </a:r>
          </a:p>
          <a:p>
            <a:r>
              <a:rPr lang="en-US" dirty="0"/>
              <a:t>WinUI and Windows App SDK</a:t>
            </a:r>
          </a:p>
          <a:p>
            <a:r>
              <a:rPr lang="en-US" dirty="0"/>
              <a:t>Copilot+ PCs, Foundry Local &amp; Phi Silica (and Aion)</a:t>
            </a:r>
          </a:p>
          <a:p>
            <a:r>
              <a:rPr lang="en-US" dirty="0"/>
              <a:t>Windows AI APIs in Windows App SDK</a:t>
            </a:r>
          </a:p>
          <a:p>
            <a:r>
              <a:rPr lang="en-US" dirty="0"/>
              <a:t>Text Recognition APIs</a:t>
            </a:r>
          </a:p>
          <a:p>
            <a:r>
              <a:rPr lang="en-US" dirty="0"/>
              <a:t>Recall on Windows – Where does my app tie in?</a:t>
            </a:r>
          </a:p>
          <a:p>
            <a:r>
              <a:rPr lang="en-US" dirty="0"/>
              <a:t>The AI Dev Gallery app for Windows</a:t>
            </a:r>
          </a:p>
          <a:p>
            <a:r>
              <a:rPr lang="en-US" dirty="0"/>
              <a:t>My AI Apps for Windows – </a:t>
            </a:r>
            <a:r>
              <a:rPr lang="en-US" dirty="0" err="1"/>
              <a:t>AIvin</a:t>
            </a:r>
            <a:r>
              <a:rPr lang="en-US" dirty="0"/>
              <a:t> &amp; Model Buddy</a:t>
            </a:r>
          </a:p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163501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DCE27-2580-3F66-8A18-58ED4FCB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Options for .NET Developers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C988C-9474-A0D1-8D84-9FB26D48B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505199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Microsoft.Extensions.AI library (MEAI)</a:t>
            </a:r>
          </a:p>
          <a:p>
            <a:r>
              <a:rPr lang="en-US" sz="2400" dirty="0"/>
              <a:t>Microsoft Agent Framework</a:t>
            </a:r>
          </a:p>
          <a:p>
            <a:pPr lvl="1"/>
            <a:r>
              <a:rPr lang="en-US" sz="2400" dirty="0"/>
              <a:t>Build agents and consume models with C# or Python or use Copilot SDK for a ready-made harness.</a:t>
            </a:r>
          </a:p>
          <a:p>
            <a:r>
              <a:rPr lang="en-US" sz="2400" dirty="0"/>
              <a:t>C# SDK for Model Context Protocol (MCP)</a:t>
            </a:r>
          </a:p>
          <a:p>
            <a:r>
              <a:rPr lang="en-US" sz="2400" dirty="0"/>
              <a:t>Foundry Toolkit for VS Code</a:t>
            </a:r>
          </a:p>
          <a:p>
            <a:r>
              <a:rPr lang="en-US" sz="2400" dirty="0"/>
              <a:t>GitHub Copilot in Visual Studio, VS Code, Copilot app &amp; Copilot CLI</a:t>
            </a:r>
          </a:p>
          <a:p>
            <a:r>
              <a:rPr lang="en-US" sz="2400" dirty="0"/>
              <a:t>Microsoft Foundry &amp; Foundry Local</a:t>
            </a:r>
          </a:p>
          <a:p>
            <a:r>
              <a:rPr lang="en-US" sz="2400" dirty="0"/>
              <a:t>Windows AI APIs</a:t>
            </a:r>
          </a:p>
        </p:txBody>
      </p:sp>
    </p:spTree>
    <p:extLst>
      <p:ext uri="{BB962C8B-B14F-4D97-AF65-F5344CB8AC3E}">
        <p14:creationId xmlns:p14="http://schemas.microsoft.com/office/powerpoint/2010/main" val="69631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D4275-EE12-3BAD-29AC-09298546A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WinUI &amp; Windows App SDK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D6B50-C4D4-9587-9B0E-28F8365CC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Understand the benefits of WinUI for modern applications.</a:t>
            </a:r>
          </a:p>
          <a:p>
            <a:r>
              <a:rPr lang="en-US" dirty="0"/>
              <a:t>Learn how Windows App SDK enhances app development.</a:t>
            </a:r>
          </a:p>
          <a:p>
            <a:r>
              <a:rPr lang="en-US" dirty="0"/>
              <a:t>Access .NET 10, WinRT APIs, and Windows App SDK APIs in WinUI apps.</a:t>
            </a:r>
          </a:p>
          <a:p>
            <a:r>
              <a:rPr lang="en-US" dirty="0"/>
              <a:t>Get started on Microsoft Learn:</a:t>
            </a:r>
          </a:p>
        </p:txBody>
      </p:sp>
      <p:pic>
        <p:nvPicPr>
          <p:cNvPr id="5" name="Picture 4" descr="The image is a close-up of a QR code, which is a two-dimensional barcode that contains information that can be read by a QR (Quick Response) reader.&#10;&#10;AI-generated content may be incorrect.">
            <a:extLst>
              <a:ext uri="{FF2B5EF4-FFF2-40B4-BE49-F238E27FC236}">
                <a16:creationId xmlns:a16="http://schemas.microsoft.com/office/drawing/2014/main" id="{CFA600CA-5451-9F3C-8DA3-6AF4A9469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562350"/>
            <a:ext cx="1505141" cy="150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818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A6B5E-C35A-D352-7C98-D7C91D1B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Copilot+ PCs and Phi Silica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52A31-9276-AC23-1226-2323BBEEF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3400" dirty="0"/>
              <a:t>Introducing Copilot+ PCs &amp; integration w/ Windows dev tools</a:t>
            </a:r>
          </a:p>
          <a:p>
            <a:r>
              <a:rPr lang="en-US" sz="3400" dirty="0"/>
              <a:t>What’s the role of Phi Silica on Windows Copilot+ PCs?</a:t>
            </a:r>
          </a:p>
          <a:p>
            <a:pPr lvl="1"/>
            <a:r>
              <a:rPr lang="en-US" sz="3400" dirty="0"/>
              <a:t>NPU-tuned local model</a:t>
            </a:r>
          </a:p>
          <a:p>
            <a:pPr lvl="1"/>
            <a:r>
              <a:rPr lang="en-US" sz="3400" dirty="0"/>
              <a:t>Aion coming this fall! (next-gen local model)</a:t>
            </a:r>
          </a:p>
          <a:p>
            <a:r>
              <a:rPr lang="en-US" sz="3400" dirty="0"/>
              <a:t>Practical applications of Windows AI Foundry and Windows AI APIs</a:t>
            </a:r>
          </a:p>
          <a:p>
            <a:pPr lvl="1"/>
            <a:r>
              <a:rPr lang="en-US" sz="3400" dirty="0"/>
              <a:t>Local models</a:t>
            </a:r>
          </a:p>
          <a:p>
            <a:pPr lvl="1"/>
            <a:r>
              <a:rPr lang="en-US" sz="3400" dirty="0"/>
              <a:t>OCR</a:t>
            </a:r>
          </a:p>
          <a:p>
            <a:pPr lvl="1"/>
            <a:r>
              <a:rPr lang="en-US" sz="3400" dirty="0"/>
              <a:t>Imaging</a:t>
            </a:r>
          </a:p>
          <a:p>
            <a:pPr lvl="1"/>
            <a:r>
              <a:rPr lang="en-US" sz="3400" dirty="0"/>
              <a:t>Content moderation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0432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71343-3D55-E7B5-0F1E-216903F7E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Windows AI APIs in Windows App SDK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BE700-C056-08BB-95FC-CA586C2A3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Overview of the Windows AI APIs.</a:t>
            </a:r>
          </a:p>
          <a:p>
            <a:r>
              <a:rPr lang="en-US" dirty="0"/>
              <a:t>Use these APIs in your Windows apps: WinUI, WPF, Windows Forms, and even C# console apps</a:t>
            </a:r>
          </a:p>
          <a:p>
            <a:r>
              <a:rPr lang="en-US" b="1" dirty="0"/>
              <a:t>Demo</a:t>
            </a:r>
          </a:p>
          <a:p>
            <a:pPr lvl="1"/>
            <a:r>
              <a:rPr lang="en-US" dirty="0"/>
              <a:t>WinUI app</a:t>
            </a:r>
          </a:p>
          <a:p>
            <a:pPr lvl="1"/>
            <a:r>
              <a:rPr lang="en-US" dirty="0"/>
              <a:t>Query local model</a:t>
            </a:r>
          </a:p>
          <a:p>
            <a:pPr lvl="1"/>
            <a:r>
              <a:rPr lang="en-US" dirty="0"/>
              <a:t>Moderation filters</a:t>
            </a:r>
          </a:p>
          <a:p>
            <a:pPr lvl="1"/>
            <a:r>
              <a:rPr lang="en-US" dirty="0"/>
              <a:t>Console app AI</a:t>
            </a:r>
          </a:p>
        </p:txBody>
      </p:sp>
    </p:spTree>
    <p:extLst>
      <p:ext uri="{BB962C8B-B14F-4D97-AF65-F5344CB8AC3E}">
        <p14:creationId xmlns:p14="http://schemas.microsoft.com/office/powerpoint/2010/main" val="801216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983D5-759C-C7BE-B686-8F5425210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Recognition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F65C7-2832-D2E1-EF8E-0D117C1D5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Text recognition capabilities</a:t>
            </a:r>
          </a:p>
          <a:p>
            <a:r>
              <a:rPr lang="en-US" dirty="0"/>
              <a:t>Image Super Resolution (smart scaling) &amp; Segmentation</a:t>
            </a:r>
          </a:p>
          <a:p>
            <a:r>
              <a:rPr lang="en-US" b="1" dirty="0"/>
              <a:t>Demo</a:t>
            </a:r>
          </a:p>
          <a:p>
            <a:pPr lvl="1"/>
            <a:r>
              <a:rPr lang="en-US" dirty="0"/>
              <a:t>WPF app w/ scaling &amp; text recognition (WinUI backup app)</a:t>
            </a:r>
          </a:p>
          <a:p>
            <a:pPr lvl="2"/>
            <a:r>
              <a:rPr lang="en-US" dirty="0"/>
              <a:t>Load image (supports file picker or paste)</a:t>
            </a:r>
          </a:p>
          <a:p>
            <a:pPr lvl="2"/>
            <a:r>
              <a:rPr lang="en-US" dirty="0"/>
              <a:t>OCR to produce text</a:t>
            </a:r>
          </a:p>
          <a:p>
            <a:pPr lvl="2"/>
            <a:r>
              <a:rPr lang="en-US" dirty="0"/>
              <a:t>Use local model to explain the text</a:t>
            </a:r>
          </a:p>
        </p:txBody>
      </p:sp>
    </p:spTree>
    <p:extLst>
      <p:ext uri="{BB962C8B-B14F-4D97-AF65-F5344CB8AC3E}">
        <p14:creationId xmlns:p14="http://schemas.microsoft.com/office/powerpoint/2010/main" val="203418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23854-6F0E-64B0-ACAD-94BD48B14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Recall in Windows &amp; Integration w/ Your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C4E6C-1ECB-33D5-F260-1584AA65D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Windows Recall integration options in Windows apps</a:t>
            </a:r>
          </a:p>
          <a:p>
            <a:r>
              <a:rPr lang="en-US" dirty="0"/>
              <a:t>Opt-in feature only available on Copilot+ PCs</a:t>
            </a:r>
          </a:p>
          <a:p>
            <a:r>
              <a:rPr lang="en-US" dirty="0"/>
              <a:t>Enhance user experience in Recall</a:t>
            </a:r>
          </a:p>
          <a:p>
            <a:pPr lvl="1"/>
            <a:r>
              <a:rPr lang="en-US" dirty="0"/>
              <a:t>Launch Click to Do – Use URI </a:t>
            </a:r>
            <a:r>
              <a:rPr lang="en-US" dirty="0" err="1">
                <a:latin typeface="Consolas" panose="020B0609020204030204" pitchFamily="49" charset="0"/>
              </a:rPr>
              <a:t>ms-clicktodo</a:t>
            </a:r>
            <a:r>
              <a:rPr lang="en-US" dirty="0">
                <a:latin typeface="Consolas" panose="020B0609020204030204" pitchFamily="49" charset="0"/>
              </a:rPr>
              <a:t>://</a:t>
            </a:r>
          </a:p>
          <a:p>
            <a:pPr lvl="1"/>
            <a:r>
              <a:rPr lang="en-US" dirty="0"/>
              <a:t>Search Recall for images related to your app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nsolas" panose="020B0609020204030204" pitchFamily="49" charset="0"/>
              </a:rPr>
              <a:t>UserActivity</a:t>
            </a:r>
            <a:r>
              <a:rPr lang="en-US" dirty="0"/>
              <a:t> APIs to record specific app data related to saved snapshots.</a:t>
            </a:r>
          </a:p>
          <a:p>
            <a:r>
              <a:rPr lang="en-US" dirty="0"/>
              <a:t>APIs still in experimental state and evolving</a:t>
            </a:r>
          </a:p>
        </p:txBody>
      </p:sp>
    </p:spTree>
    <p:extLst>
      <p:ext uri="{BB962C8B-B14F-4D97-AF65-F5344CB8AC3E}">
        <p14:creationId xmlns:p14="http://schemas.microsoft.com/office/powerpoint/2010/main" val="1455940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1A4F8-A5E4-1DBC-3EB2-E11632FD0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Dev Gallery on Microsoft Store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A894F-4DDB-ACBC-BCE8-D5AF53CE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Dev Gallery – Get it in the Microsoft Store</a:t>
            </a:r>
          </a:p>
          <a:p>
            <a:r>
              <a:rPr lang="en-US" dirty="0"/>
              <a:t>Over 30 interactive local AI sample apps</a:t>
            </a:r>
          </a:p>
          <a:p>
            <a:r>
              <a:rPr lang="en-US" dirty="0"/>
              <a:t>Discover and download local models</a:t>
            </a:r>
          </a:p>
          <a:p>
            <a:r>
              <a:rPr lang="en-US" dirty="0"/>
              <a:t>Download Visual Studio projects</a:t>
            </a:r>
          </a:p>
          <a:p>
            <a:r>
              <a:rPr lang="en-US" dirty="0"/>
              <a:t>Open source on GitHub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pic>
        <p:nvPicPr>
          <p:cNvPr id="5" name="Picture 4" descr="The image is a black and white QR code with a pattern of small, evenly spaced black dots.&#10;&#10;AI-generated content may be incorrect.">
            <a:extLst>
              <a:ext uri="{FF2B5EF4-FFF2-40B4-BE49-F238E27FC236}">
                <a16:creationId xmlns:a16="http://schemas.microsoft.com/office/drawing/2014/main" id="{9DAEE965-BDDE-6DEE-F354-A50E65B1A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2957817"/>
            <a:ext cx="1606472" cy="160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914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5E32F-D865-283E-EB1E-8147BE9F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WinUI apps w/ Windows AI</a:t>
            </a:r>
          </a:p>
        </p:txBody>
      </p:sp>
      <p:pic>
        <p:nvPicPr>
          <p:cNvPr id="6" name="Content Placeholder 5" descr="The image displays a user interface of a software application, specifically the Microsoft Store Insider page for Alvinitech, featuring various sections such as Apps, Themes, and New Chat, with a focus on Alvinitech's AI chat application.&#10;&#10;AI-generated content may be incorrect.">
            <a:extLst>
              <a:ext uri="{FF2B5EF4-FFF2-40B4-BE49-F238E27FC236}">
                <a16:creationId xmlns:a16="http://schemas.microsoft.com/office/drawing/2014/main" id="{47A63384-A4B2-7027-EB3B-C1E69214AAB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577759"/>
            <a:ext cx="4038600" cy="2638857"/>
          </a:xfrm>
          <a:prstGeom prst="rect">
            <a:avLst/>
          </a:prstGeom>
        </p:spPr>
      </p:pic>
      <p:pic>
        <p:nvPicPr>
          <p:cNvPr id="8" name="Content Placeholder 7" descr="The image displays a Microsoft Store Insider page for Model Buddy, featuring various apps, themes, chat options, model management, and downloadable content.&#10;&#10;AI-generated content may be incorrect.">
            <a:extLst>
              <a:ext uri="{FF2B5EF4-FFF2-40B4-BE49-F238E27FC236}">
                <a16:creationId xmlns:a16="http://schemas.microsoft.com/office/drawing/2014/main" id="{6FB19FAC-A276-714E-F199-C383A546B7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48200" y="1577759"/>
            <a:ext cx="4038600" cy="263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28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4691C-3E09-84BE-9D4C-D96C3EE0C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3C57B-E862-E90C-E8DB-4C1CD65DA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me: </a:t>
            </a:r>
            <a:r>
              <a:rPr lang="en-US" dirty="0">
                <a:hlinkClick r:id="rId2"/>
              </a:rPr>
              <a:t>alashcraft@gmail.com</a:t>
            </a:r>
            <a:r>
              <a:rPr lang="en-US" dirty="0"/>
              <a:t> </a:t>
            </a:r>
          </a:p>
          <a:p>
            <a:r>
              <a:rPr lang="en-US" dirty="0"/>
              <a:t>Learn more in the Windows AI docs on Microsoft Learn:</a:t>
            </a:r>
          </a:p>
        </p:txBody>
      </p:sp>
      <p:pic>
        <p:nvPicPr>
          <p:cNvPr id="5" name="Picture 4" descr="The image is a black and white QR code, consisting of a pattern of black dots.&#10;&#10;AI-generated content may be incorrect.">
            <a:extLst>
              <a:ext uri="{FF2B5EF4-FFF2-40B4-BE49-F238E27FC236}">
                <a16:creationId xmlns:a16="http://schemas.microsoft.com/office/drawing/2014/main" id="{32FCE95E-561C-C17B-C319-5C50CF4A6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290195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287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B5577-36BA-D328-5AD3-7A19798F3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3BCB-ECE9-960E-8986-0A358B80A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Session Survey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3507D1-87FE-FF55-A10E-415C44881A7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200150"/>
            <a:ext cx="8229600" cy="3394075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feedback is very important to us</a:t>
            </a:r>
          </a:p>
          <a:p>
            <a:r>
              <a:rPr lang="en-US" dirty="0"/>
              <a:t>Please take a moment to complete the session survey found in the mobile app</a:t>
            </a:r>
          </a:p>
          <a:p>
            <a:r>
              <a:rPr lang="en-US" dirty="0"/>
              <a:t>Use the QR code or search for “Converge360 Events” in your app store</a:t>
            </a:r>
          </a:p>
          <a:p>
            <a:r>
              <a:rPr lang="en-US" dirty="0"/>
              <a:t>Find this session on the Agenda tab</a:t>
            </a:r>
          </a:p>
          <a:p>
            <a:r>
              <a:rPr lang="en-US" dirty="0"/>
              <a:t>Click “Session Evaluation”</a:t>
            </a:r>
          </a:p>
          <a:p>
            <a:r>
              <a:rPr lang="en-US" dirty="0"/>
              <a:t>Thank you!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43F7D-4B8A-9D1C-DE18-AE83EBD73A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49137" y="2876550"/>
            <a:ext cx="1427276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2283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Visual Studio Live! Austin 2018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Words>647</Words>
  <Application>Microsoft Office PowerPoint</Application>
  <PresentationFormat>On-screen Show (16:9)</PresentationFormat>
  <Paragraphs>96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Consolas</vt:lpstr>
      <vt:lpstr>Times New Roman</vt:lpstr>
      <vt:lpstr>Wingdings</vt:lpstr>
      <vt:lpstr>Custom Design</vt:lpstr>
      <vt:lpstr>Visual Studio Live! Austin 2018</vt:lpstr>
      <vt:lpstr>PowerPoint Presentation</vt:lpstr>
      <vt:lpstr>Session Survey</vt:lpstr>
      <vt:lpstr>About me</vt:lpstr>
      <vt:lpstr>Agenda</vt:lpstr>
      <vt:lpstr>AI Options for .NET Developers</vt:lpstr>
      <vt:lpstr>WinUI &amp; Windows App SDK Overview</vt:lpstr>
      <vt:lpstr>Copilot+ PCs and Phi Silica</vt:lpstr>
      <vt:lpstr>Windows AI APIs in Windows App SDK</vt:lpstr>
      <vt:lpstr>Text Recognition APIs</vt:lpstr>
      <vt:lpstr>Recall in Windows &amp; Integration w/ Your Apps</vt:lpstr>
      <vt:lpstr>AI Dev Gallery on Microsoft Store</vt:lpstr>
      <vt:lpstr>My WinUI apps w/ Windows AI</vt:lpstr>
      <vt:lpstr>Thank you!</vt:lpstr>
      <vt:lpstr>Session Survey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Danielle Potts</dc:creator>
  <cp:lastModifiedBy>Alvin Ashcraft</cp:lastModifiedBy>
  <cp:revision>18</cp:revision>
  <dcterms:created xsi:type="dcterms:W3CDTF">2015-02-16T21:29:58Z</dcterms:created>
  <dcterms:modified xsi:type="dcterms:W3CDTF">2026-08-20T14:27:41Z</dcterms:modified>
</cp:coreProperties>
</file>