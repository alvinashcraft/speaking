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1"/>
    <p:sldMasterId id="2147483760" r:id="rId2"/>
  </p:sldMasterIdLst>
  <p:notesMasterIdLst>
    <p:notesMasterId r:id="rId17"/>
  </p:notesMasterIdLst>
  <p:handoutMasterIdLst>
    <p:handoutMasterId r:id="rId18"/>
  </p:handoutMasterIdLst>
  <p:sldIdLst>
    <p:sldId id="258" r:id="rId3"/>
    <p:sldId id="260" r:id="rId4"/>
    <p:sldId id="259" r:id="rId5"/>
    <p:sldId id="261" r:id="rId6"/>
    <p:sldId id="262" r:id="rId7"/>
    <p:sldId id="263" r:id="rId8"/>
    <p:sldId id="264" r:id="rId9"/>
    <p:sldId id="265" r:id="rId10"/>
    <p:sldId id="266" r:id="rId11"/>
    <p:sldId id="267" r:id="rId12"/>
    <p:sldId id="268" r:id="rId13"/>
    <p:sldId id="269" r:id="rId14"/>
    <p:sldId id="270" r:id="rId15"/>
    <p:sldId id="271" r:id="rId1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8">
          <p15:clr>
            <a:srgbClr val="A4A3A4"/>
          </p15:clr>
        </p15:guide>
        <p15:guide id="2" orient="horz" pos="2820">
          <p15:clr>
            <a:srgbClr val="A4A3A4"/>
          </p15:clr>
        </p15:guide>
        <p15:guide id="3" pos="2880">
          <p15:clr>
            <a:srgbClr val="A4A3A4"/>
          </p15:clr>
        </p15:guide>
        <p15:guide id="4" pos="561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FF"/>
        </p14:laserClr>
      </p:ext>
      <p:ext uri="{2FDB2607-1784-4EEB-B798-7EB5836EED8A}">
        <p14:showMediaCtrls xmlns:p14="http://schemas.microsoft.com/office/powerpoint/2010/main" val="1"/>
      </p:ext>
    </p:extLst>
  </p:showPr>
  <p:clrMru>
    <a:srgbClr val="F27036"/>
    <a:srgbClr val="ED6A42"/>
    <a:srgbClr val="2596BE"/>
    <a:srgbClr val="3BDBC2"/>
    <a:srgbClr val="2B928C"/>
    <a:srgbClr val="F77462"/>
    <a:srgbClr val="E4DD9C"/>
    <a:srgbClr val="A2D39C"/>
    <a:srgbClr val="EAF0AC"/>
    <a:srgbClr val="6179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35" autoAdjust="0"/>
    <p:restoredTop sz="83902" autoAdjust="0"/>
  </p:normalViewPr>
  <p:slideViewPr>
    <p:cSldViewPr>
      <p:cViewPr varScale="1">
        <p:scale>
          <a:sx n="137" d="100"/>
          <a:sy n="137" d="100"/>
        </p:scale>
        <p:origin x="413" y="86"/>
      </p:cViewPr>
      <p:guideLst>
        <p:guide orient="horz" pos="708"/>
        <p:guide orient="horz" pos="2820"/>
        <p:guide pos="2880"/>
        <p:guide pos="5616"/>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72" d="100"/>
          <a:sy n="72" d="100"/>
        </p:scale>
        <p:origin x="3010" y="77"/>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57800" cy="457200"/>
          </a:xfrm>
          <a:prstGeom prst="rect">
            <a:avLst/>
          </a:prstGeom>
        </p:spPr>
        <p:txBody>
          <a:bodyPr vert="horz" lIns="91440" tIns="45720" rIns="91440" bIns="45720" rtlCol="0"/>
          <a:lstStyle>
            <a:lvl1pPr algn="l">
              <a:defRPr sz="1200"/>
            </a:lvl1pPr>
          </a:lstStyle>
          <a:p>
            <a:r>
              <a:rPr lang="en-US" sz="1300" b="1" dirty="0">
                <a:latin typeface="Arial" pitchFamily="34" charset="0"/>
                <a:cs typeface="Arial" pitchFamily="34" charset="0"/>
              </a:rPr>
              <a:t>Visual Studio Live! San Diego 2026</a:t>
            </a:r>
          </a:p>
        </p:txBody>
      </p:sp>
      <p:sp>
        <p:nvSpPr>
          <p:cNvPr id="4" name="Footer Placeholder 3"/>
          <p:cNvSpPr>
            <a:spLocks noGrp="1"/>
          </p:cNvSpPr>
          <p:nvPr>
            <p:ph type="ftr" sz="quarter" idx="2"/>
          </p:nvPr>
        </p:nvSpPr>
        <p:spPr>
          <a:xfrm>
            <a:off x="0" y="8685213"/>
            <a:ext cx="5562600" cy="457200"/>
          </a:xfrm>
          <a:prstGeom prst="rect">
            <a:avLst/>
          </a:prstGeom>
        </p:spPr>
        <p:txBody>
          <a:bodyPr vert="horz" lIns="91440" tIns="45720" rIns="91440" bIns="45720" rtlCol="0" anchor="b"/>
          <a:lstStyle>
            <a:lvl1pPr algn="l">
              <a:defRPr sz="1200"/>
            </a:lvl1pPr>
          </a:lstStyle>
          <a:p>
            <a:endParaRPr lang="en-US" dirty="0">
              <a:latin typeface="Arial" pitchFamily="34" charset="0"/>
              <a:cs typeface="Arial" pitchFamily="34" charset="0"/>
            </a:endParaRPr>
          </a:p>
        </p:txBody>
      </p:sp>
    </p:spTree>
    <p:extLst>
      <p:ext uri="{BB962C8B-B14F-4D97-AF65-F5344CB8AC3E}">
        <p14:creationId xmlns:p14="http://schemas.microsoft.com/office/powerpoint/2010/main" val="23494436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1"/>
            </a:lvl1pPr>
          </a:lstStyle>
          <a:p>
            <a:r>
              <a:rPr lang="en-US" dirty="0"/>
              <a:t>Visual Studio Live! Las Vegas 2023</a:t>
            </a: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737638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last main session day at </a:t>
            </a:r>
            <a:r>
              <a:rPr lang="en-US" dirty="0" err="1"/>
              <a:t>VSLive</a:t>
            </a:r>
            <a:r>
              <a:rPr lang="en-US" dirty="0"/>
              <a:t> and my session on building native Windows apps with WinUI, Foundry Local, and the Windows AI APIs in the Windows App SDK.</a:t>
            </a: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DE326DE0-BACA-4EA0-B73F-CC7DC1D7F4A1}" type="slidenum">
              <a:rPr lang="en-US" smtClean="0"/>
              <a:pPr/>
              <a:t>1</a:t>
            </a:fld>
            <a:endParaRPr lang="en-US"/>
          </a:p>
        </p:txBody>
      </p:sp>
    </p:spTree>
    <p:extLst>
      <p:ext uri="{BB962C8B-B14F-4D97-AF65-F5344CB8AC3E}">
        <p14:creationId xmlns:p14="http://schemas.microsoft.com/office/powerpoint/2010/main" val="1927395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of the deck. Make sure you complete your session survey and provide feedback for the sessions you attended this week. Your feedback helps the organizers select future sessions and help speakers like me improve our talks.</a:t>
            </a:r>
          </a:p>
        </p:txBody>
      </p:sp>
    </p:spTree>
    <p:extLst>
      <p:ext uri="{BB962C8B-B14F-4D97-AF65-F5344CB8AC3E}">
        <p14:creationId xmlns:p14="http://schemas.microsoft.com/office/powerpoint/2010/main" val="834233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little background about me…</a:t>
            </a:r>
          </a:p>
          <a:p>
            <a:endParaRPr lang="en-US" dirty="0"/>
          </a:p>
          <a:p>
            <a:r>
              <a:rPr lang="en-US" dirty="0"/>
              <a:t>For those who don’t know me, I’ve been in the software industry since 1995, with most of that time (over 25) years spent as a developer and architect using various Microsoft technologies.</a:t>
            </a:r>
          </a:p>
          <a:p>
            <a:endParaRPr lang="en-US" dirty="0"/>
          </a:p>
          <a:p>
            <a:r>
              <a:rPr lang="en-US" dirty="0"/>
              <a:t>Some of you may also be familiar with my blog, the Morning Dew, where I’ve been posting daily links for .NET developers since 2007.</a:t>
            </a:r>
          </a:p>
          <a:p>
            <a:endParaRPr lang="en-US" dirty="0"/>
          </a:p>
          <a:p>
            <a:r>
              <a:rPr lang="en-US" dirty="0"/>
              <a:t>I also have three books from </a:t>
            </a:r>
            <a:r>
              <a:rPr lang="en-US" dirty="0" err="1"/>
              <a:t>Packt</a:t>
            </a:r>
            <a:r>
              <a:rPr lang="en-US" dirty="0"/>
              <a:t> Publishing with a fourth on the way. You can check those out on </a:t>
            </a:r>
            <a:r>
              <a:rPr lang="en-US" dirty="0" err="1"/>
              <a:t>Packt’s</a:t>
            </a:r>
            <a:r>
              <a:rPr lang="en-US" dirty="0"/>
              <a:t> website or on Amazon. Just search for my name.</a:t>
            </a:r>
          </a:p>
          <a:p>
            <a:endParaRPr lang="en-US" dirty="0"/>
          </a:p>
          <a:p>
            <a:r>
              <a:rPr lang="en-US" dirty="0"/>
              <a:t>Writing those books led me to pivot my career to technical writing. I joined Microsoft about four and a half years ago as a content developer. I write documentation and code samples on Microsoft Learn. I used to work on the Windows developer docs team, but I moved over to the Foundry docs team late last year. I have another talk I give about my work as a content developer and how anyone can contribute to content on Learn through GitHub issues and PRs.</a:t>
            </a:r>
          </a:p>
          <a:p>
            <a:endParaRPr lang="en-US" dirty="0"/>
          </a:p>
          <a:p>
            <a:r>
              <a:rPr lang="en-US" dirty="0"/>
              <a:t>Finally, I’m one of the founding organizers of the TechBash developer conference. We’ve been running the event right here in the Poconos since 2016.</a:t>
            </a:r>
          </a:p>
        </p:txBody>
      </p:sp>
    </p:spTree>
    <p:extLst>
      <p:ext uri="{BB962C8B-B14F-4D97-AF65-F5344CB8AC3E}">
        <p14:creationId xmlns:p14="http://schemas.microsoft.com/office/powerpoint/2010/main" val="32871814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we’re going to cover today. We’ll go a little deeper in some areas than others.</a:t>
            </a:r>
          </a:p>
          <a:p>
            <a:endParaRPr lang="en-US" dirty="0"/>
          </a:p>
          <a:p>
            <a:r>
              <a:rPr lang="en-US" dirty="0"/>
              <a:t>We’ll briefly touch on WinUI and Windows App SDK, just to level-set and make sure everyone understands what they are.</a:t>
            </a:r>
          </a:p>
          <a:p>
            <a:endParaRPr lang="en-US" dirty="0"/>
          </a:p>
          <a:p>
            <a:r>
              <a:rPr lang="en-US" dirty="0"/>
              <a:t>Then we’ll try to untangle somethings that were announced and updated over the last year and a half:</a:t>
            </a:r>
          </a:p>
          <a:p>
            <a:pPr marL="171450" indent="-171450">
              <a:buFont typeface="Arial" panose="020B0604020202020204" pitchFamily="34" charset="0"/>
              <a:buChar char="•"/>
            </a:pPr>
            <a:r>
              <a:rPr lang="en-US" dirty="0"/>
              <a:t>Copilot+ PCs are devices optimized for local AI workloads with an NPU and Phi Silica is the local model on those PCs. The first models had Arm processors, but Intel and AMD have their own NPU-based models across multiple manufacturers now too.</a:t>
            </a:r>
          </a:p>
          <a:p>
            <a:pPr marL="171450" indent="-171450">
              <a:buFont typeface="Arial" panose="020B0604020202020204" pitchFamily="34" charset="0"/>
              <a:buChar char="•"/>
            </a:pPr>
            <a:r>
              <a:rPr lang="en-US" dirty="0"/>
              <a:t>Microsoft Foundry on Windows encompasses the local Windows AI features and Foundry Local hosts local AI models (similar to </a:t>
            </a:r>
            <a:r>
              <a:rPr lang="en-US" dirty="0" err="1"/>
              <a:t>Ollama</a:t>
            </a:r>
            <a:r>
              <a:rPr lang="en-US" dirty="0"/>
              <a:t>).</a:t>
            </a:r>
          </a:p>
          <a:p>
            <a:pPr marL="171450" indent="-171450">
              <a:buFont typeface="Arial" panose="020B0604020202020204" pitchFamily="34" charset="0"/>
              <a:buChar char="•"/>
            </a:pPr>
            <a:r>
              <a:rPr lang="en-US" dirty="0"/>
              <a:t>The Windows AI APIs are a set of APIs in the Windows App SDK that leverage the local Phi Silica model and other local models found on Copilot+ PCs – coming soon to all modern Windows devices. They’re working on enabling these APIs for models that use the GPU and CPU too.</a:t>
            </a:r>
          </a:p>
          <a:p>
            <a:pPr marL="171450" indent="-171450">
              <a:buFont typeface="Arial" panose="020B0604020202020204" pitchFamily="34" charset="0"/>
              <a:buChar char="•"/>
            </a:pPr>
            <a:r>
              <a:rPr lang="en-US" dirty="0"/>
              <a:t>Windows ML is another set of APIs and features in the Windows App SDK for accessing other types of local AI models in Windows AI Foundry. Machines without an NPU can also use these APIs.</a:t>
            </a:r>
          </a:p>
          <a:p>
            <a:endParaRPr lang="en-US" dirty="0"/>
          </a:p>
          <a:p>
            <a:r>
              <a:rPr lang="en-US" dirty="0"/>
              <a:t>After demoing the APIs for using Phi Silica in your apps, we’ll look at the text recognition APIs in Windows App SDK and how you can use those in WinUI, WPF, or even a .NET command line app.</a:t>
            </a:r>
          </a:p>
          <a:p>
            <a:endParaRPr lang="en-US" dirty="0"/>
          </a:p>
          <a:p>
            <a:r>
              <a:rPr lang="en-US" dirty="0"/>
              <a:t>Next, we’ll talk briefly about Microsoft Recall and how you can opt your apps in to provide more detail in Recall snapshots.</a:t>
            </a:r>
          </a:p>
          <a:p>
            <a:endParaRPr lang="en-US" dirty="0"/>
          </a:p>
          <a:p>
            <a:r>
              <a:rPr lang="en-US" dirty="0"/>
              <a:t>We’ll wrap up by looking at the open-source AI Dev Gallery app that you can download from the Store. It’s got WinUI and other .NET sample apps and tools to help download local models. The team has worked hard to make it easy to use and an example of how to build a great-looking WinUI app for Windows 11.</a:t>
            </a:r>
          </a:p>
          <a:p>
            <a:endParaRPr lang="en-US" dirty="0"/>
          </a:p>
          <a:p>
            <a:r>
              <a:rPr lang="en-US" dirty="0"/>
              <a:t>And if we have time, I’ll show you a couple of native WinUI apps I published to the Store that leverage Windows AI. We’ll peek into the source code for those apps, which aren’t open-source on GitHub yet, but I do intend to open them up when I get a chance to finish polishing the code.</a:t>
            </a:r>
          </a:p>
        </p:txBody>
      </p:sp>
    </p:spTree>
    <p:extLst>
      <p:ext uri="{BB962C8B-B14F-4D97-AF65-F5344CB8AC3E}">
        <p14:creationId xmlns:p14="http://schemas.microsoft.com/office/powerpoint/2010/main" val="33945210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section, we'll explore various AI options that are specifically designed for .NET developers. This includes tools, frameworks, and best practices that can streamline the integration of AI into your existing applications.</a:t>
            </a:r>
          </a:p>
          <a:p>
            <a:endParaRPr lang="en-US" dirty="0"/>
          </a:p>
          <a:p>
            <a:r>
              <a:rPr lang="en-US" dirty="0"/>
              <a:t>The Microsoft.Extensions.AI libraries were created to help .NET developers consume AI services. We won’t get into details, as this isn’t the focus of my talk, but they include libraries for:</a:t>
            </a:r>
          </a:p>
          <a:p>
            <a:pPr marL="171450" indent="-171450">
              <a:buFont typeface="Arial" panose="020B0604020202020204" pitchFamily="34" charset="0"/>
              <a:buChar char="•"/>
            </a:pPr>
            <a:r>
              <a:rPr lang="en-US" dirty="0"/>
              <a:t>Requesting or streaming chat responses.</a:t>
            </a:r>
          </a:p>
          <a:p>
            <a:pPr marL="171450" indent="-171450">
              <a:buFont typeface="Arial" panose="020B0604020202020204" pitchFamily="34" charset="0"/>
              <a:buChar char="•"/>
            </a:pPr>
            <a:r>
              <a:rPr lang="en-US" dirty="0"/>
              <a:t>Calling tools (functions or APIs) as part of a chat request (like providing a specific weather call to use in a prompt request).</a:t>
            </a:r>
          </a:p>
          <a:p>
            <a:pPr marL="171450" indent="-171450">
              <a:buFont typeface="Arial" panose="020B0604020202020204" pitchFamily="34" charset="0"/>
              <a:buChar char="•"/>
            </a:pPr>
            <a:r>
              <a:rPr lang="en-US" dirty="0"/>
              <a:t>Caching responses</a:t>
            </a:r>
          </a:p>
          <a:p>
            <a:pPr marL="171450" indent="-171450">
              <a:buFont typeface="Arial" panose="020B0604020202020204" pitchFamily="34" charset="0"/>
              <a:buChar char="•"/>
            </a:pPr>
            <a:r>
              <a:rPr lang="en-US" dirty="0"/>
              <a:t>Using telemetry</a:t>
            </a:r>
          </a:p>
          <a:p>
            <a:pPr marL="171450" indent="-171450">
              <a:buFont typeface="Arial" panose="020B0604020202020204" pitchFamily="34" charset="0"/>
              <a:buChar char="•"/>
            </a:pPr>
            <a:r>
              <a:rPr lang="en-US" dirty="0"/>
              <a:t>Chat options</a:t>
            </a:r>
          </a:p>
          <a:p>
            <a:pPr marL="171450" indent="-171450">
              <a:buFont typeface="Arial" panose="020B0604020202020204" pitchFamily="34" charset="0"/>
              <a:buChar char="•"/>
            </a:pPr>
            <a:r>
              <a:rPr lang="en-US" dirty="0"/>
              <a:t>Functionality Pipelines (builder pattern familiar to ASP.NET </a:t>
            </a:r>
            <a:r>
              <a:rPr lang="en-US" dirty="0" err="1"/>
              <a:t>devs</a:t>
            </a:r>
            <a:r>
              <a:rPr lang="en-US" dirty="0"/>
              <a:t> – </a:t>
            </a:r>
            <a:r>
              <a:rPr lang="en-US" dirty="0" err="1"/>
              <a:t>ChatClientBuilder</a:t>
            </a:r>
            <a:r>
              <a:rPr lang="en-US" dirty="0"/>
              <a:t>)</a:t>
            </a:r>
          </a:p>
          <a:p>
            <a:pPr marL="171450" indent="-171450">
              <a:buFont typeface="Arial" panose="020B0604020202020204" pitchFamily="34" charset="0"/>
              <a:buChar char="•"/>
            </a:pPr>
            <a:r>
              <a:rPr lang="en-US" dirty="0"/>
              <a:t>Middleware – composition with sub client for things like rate limiting</a:t>
            </a:r>
          </a:p>
          <a:p>
            <a:pPr marL="171450" indent="-171450">
              <a:buFont typeface="Arial" panose="020B0604020202020204" pitchFamily="34" charset="0"/>
              <a:buChar char="•"/>
            </a:pPr>
            <a:r>
              <a:rPr lang="en-US" dirty="0"/>
              <a:t>Dependency injection for easily swapping out AI services in config</a:t>
            </a:r>
          </a:p>
          <a:p>
            <a:pPr marL="171450" indent="-171450">
              <a:buFont typeface="Arial" panose="020B0604020202020204" pitchFamily="34" charset="0"/>
              <a:buChar char="•"/>
            </a:pPr>
            <a:r>
              <a:rPr lang="en-US" dirty="0"/>
              <a:t>Security and content safety</a:t>
            </a:r>
          </a:p>
          <a:p>
            <a:pPr marL="171450" indent="-171450">
              <a:buFont typeface="Arial" panose="020B0604020202020204" pitchFamily="34" charset="0"/>
              <a:buChar char="•"/>
            </a:pPr>
            <a:r>
              <a:rPr lang="en-US" dirty="0"/>
              <a:t>Evaluation APIs for determining the accuracy and quality of responses from AI services and models</a:t>
            </a:r>
          </a:p>
          <a:p>
            <a:endParaRPr lang="en-US" dirty="0"/>
          </a:p>
          <a:p>
            <a:r>
              <a:rPr lang="en-US" dirty="0"/>
              <a:t>We also won’t be exploring Microsoft Agent Framework today, but it’s got libraries for .NET and Python developers to simplify building AI agents and consume models.</a:t>
            </a:r>
          </a:p>
          <a:p>
            <a:endParaRPr lang="en-US" dirty="0"/>
          </a:p>
          <a:p>
            <a:r>
              <a:rPr lang="en-US" dirty="0"/>
              <a:t>The C# SDK for MCP is new and evolving quickly. Use it to build your own MCP servers and clients that consume them.</a:t>
            </a:r>
          </a:p>
          <a:p>
            <a:endParaRPr lang="en-US" dirty="0"/>
          </a:p>
          <a:p>
            <a:r>
              <a:rPr lang="en-US" dirty="0"/>
              <a:t>The Foundry Toolkit is a plugin for VS Code a growing feature set.</a:t>
            </a:r>
          </a:p>
          <a:p>
            <a:pPr marL="171450" indent="-171450">
              <a:buFont typeface="Arial" panose="020B0604020202020204" pitchFamily="34" charset="0"/>
              <a:buChar char="•"/>
            </a:pPr>
            <a:r>
              <a:rPr lang="en-US" dirty="0"/>
              <a:t>Model catalog (GitHub, ONNX, OpenAI, Anthropic, Google, and more)</a:t>
            </a:r>
          </a:p>
          <a:p>
            <a:pPr marL="171450" indent="-171450">
              <a:buFont typeface="Arial" panose="020B0604020202020204" pitchFamily="34" charset="0"/>
              <a:buChar char="•"/>
            </a:pPr>
            <a:r>
              <a:rPr lang="en-US" dirty="0"/>
              <a:t>Bring your own model (local or cloud)</a:t>
            </a:r>
          </a:p>
          <a:p>
            <a:pPr marL="171450" indent="-171450">
              <a:buFont typeface="Arial" panose="020B0604020202020204" pitchFamily="34" charset="0"/>
              <a:buChar char="•"/>
            </a:pPr>
            <a:r>
              <a:rPr lang="en-US" dirty="0"/>
              <a:t>A Playground for model inference or testing with a chat UI</a:t>
            </a:r>
          </a:p>
          <a:p>
            <a:pPr marL="171450" indent="-171450">
              <a:buFont typeface="Arial" panose="020B0604020202020204" pitchFamily="34" charset="0"/>
              <a:buChar char="•"/>
            </a:pPr>
            <a:r>
              <a:rPr lang="en-US" dirty="0"/>
              <a:t>Attachment support for working in multi-model scenarios</a:t>
            </a:r>
          </a:p>
          <a:p>
            <a:pPr marL="171450" indent="-171450">
              <a:buFont typeface="Arial" panose="020B0604020202020204" pitchFamily="34" charset="0"/>
              <a:buChar char="•"/>
            </a:pPr>
            <a:r>
              <a:rPr lang="en-US" dirty="0"/>
              <a:t>Running prompts in batches</a:t>
            </a:r>
          </a:p>
          <a:p>
            <a:pPr marL="171450" indent="-171450">
              <a:buFont typeface="Arial" panose="020B0604020202020204" pitchFamily="34" charset="0"/>
              <a:buChar char="•"/>
            </a:pPr>
            <a:r>
              <a:rPr lang="en-US" dirty="0"/>
              <a:t>Evaluate or fine tune a model with your own datasets</a:t>
            </a:r>
          </a:p>
          <a:p>
            <a:pPr marL="171450" indent="-171450">
              <a:buFont typeface="Arial" panose="020B0604020202020204" pitchFamily="34" charset="0"/>
              <a:buChar char="•"/>
            </a:pPr>
            <a:r>
              <a:rPr lang="en-US" dirty="0"/>
              <a:t>Agent Builder generate C# or Python code from your prompts</a:t>
            </a:r>
          </a:p>
          <a:p>
            <a:pPr marL="171450" indent="-171450">
              <a:buFont typeface="Arial" panose="020B0604020202020204" pitchFamily="34" charset="0"/>
              <a:buChar char="•"/>
            </a:pPr>
            <a:r>
              <a:rPr lang="en-US" dirty="0"/>
              <a:t>Convert models to ONNX format. Local models in AI Toolkit must be in ONNX format. AI Toolkit can convert models it downloads from Azure AI Foundry, Hugging Face, and other sources.</a:t>
            </a:r>
          </a:p>
          <a:p>
            <a:endParaRPr lang="en-US" dirty="0"/>
          </a:p>
          <a:p>
            <a:r>
              <a:rPr lang="en-US" dirty="0"/>
              <a:t>There are tons of AI productivity tools like GitHub Copilot in Visual Studio and VS Code, the Copilot CLI, and the new GitHub Copilot app.</a:t>
            </a:r>
          </a:p>
          <a:p>
            <a:endParaRPr lang="en-US" dirty="0"/>
          </a:p>
          <a:p>
            <a:r>
              <a:rPr lang="en-US" dirty="0"/>
              <a:t>There are cloud platforms like Microsoft Foundry and now local platforms like Foundry Local.</a:t>
            </a:r>
          </a:p>
          <a:p>
            <a:endParaRPr lang="en-US" dirty="0"/>
          </a:p>
          <a:p>
            <a:r>
              <a:rPr lang="en-US" dirty="0"/>
              <a:t>And finally, the Windows AI APIs, formerly known as the Windows Copilot Runtime APIs that are included in the latest Windows App SDK releases.</a:t>
            </a:r>
          </a:p>
          <a:p>
            <a:endParaRPr lang="en-US" dirty="0"/>
          </a:p>
          <a:p>
            <a:r>
              <a:rPr lang="en-US" dirty="0"/>
              <a:t>Let’s talk about Windows App SDK and WinUI in some more detail.</a:t>
            </a:r>
          </a:p>
        </p:txBody>
      </p:sp>
    </p:spTree>
    <p:extLst>
      <p:ext uri="{BB962C8B-B14F-4D97-AF65-F5344CB8AC3E}">
        <p14:creationId xmlns:p14="http://schemas.microsoft.com/office/powerpoint/2010/main" val="3103806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cover the advantages of using WinUI in your application development. We will also discuss how the Windows App SDK can enhance the overall development experience and what features are available when using Windows App SDK for building apps with AI features.</a:t>
            </a:r>
          </a:p>
          <a:p>
            <a:endParaRPr lang="en-US" dirty="0"/>
          </a:p>
          <a:p>
            <a:r>
              <a:rPr lang="en-US" dirty="0"/>
              <a:t>If you haven’t created apps with WinUI before, it’s the same XAML schema as UWP apps. It’s similar enough to WPF or .NET MAUI to pick make the adjustment easily. In fact, if you’ve deployed a .NET MAUI app to Windows, that’s a WinUI app under the covers. It’s Microsoft’s recommended UI framework when you’re building native apps for Windows, assuming the current feature set meets your requirements. It hasn’t been around as long as WPF and WinForms, so there are still a few areas where they excel.</a:t>
            </a:r>
          </a:p>
          <a:p>
            <a:endParaRPr lang="en-US" dirty="0"/>
          </a:p>
          <a:p>
            <a:r>
              <a:rPr lang="en-US" dirty="0"/>
              <a:t>WinUI is part of the Windows App SDK and receives updates with its releases. In addition to containing the WinUI UI components, the SDK contains an API set similar (but not as extensive as) the Windows Runtime (or WinRT) APIs that UWP uses.</a:t>
            </a:r>
          </a:p>
          <a:p>
            <a:endParaRPr lang="en-US" dirty="0"/>
          </a:p>
          <a:p>
            <a:r>
              <a:rPr lang="en-US" dirty="0"/>
              <a:t>Many of those WinRT APIs are still accessible to packaged WinUI apps (or any packaged desktop app for that matter). It’s a topic for another talk, but WPF and WinForms apps packed with MSIX can use most of the non-UI APIs in both Windows App SDK and WinRT. There are articles in the Windows developer docs on Microsoft Learn about how to configure your apps to use these different SDKs.</a:t>
            </a:r>
          </a:p>
          <a:p>
            <a:endParaRPr lang="en-US" dirty="0"/>
          </a:p>
          <a:p>
            <a:r>
              <a:rPr lang="en-US" dirty="0"/>
              <a:t>As far as WinUI is concerned, your apps out of the box can use .NET 10 APIs, Windows App SDK APIs, and most of the WinRT APIs. Keep in mind that when using the WinRT APIs, you have the same constraints as UWP apps and Windows versions. You must specify a minimum Windows SDK version and target version to determine the set of APIs your app can use.</a:t>
            </a:r>
          </a:p>
          <a:p>
            <a:endParaRPr lang="en-US" dirty="0"/>
          </a:p>
          <a:p>
            <a:r>
              <a:rPr lang="en-US" dirty="0"/>
              <a:t>Each release of Windows App SDK is closing the gap with WinRT, so there are fewer reasons than ever for WinUI developers to dip into the Windows SDK.</a:t>
            </a:r>
          </a:p>
          <a:p>
            <a:endParaRPr lang="en-US" dirty="0"/>
          </a:p>
          <a:p>
            <a:r>
              <a:rPr lang="en-US" dirty="0"/>
              <a:t>We’ll take a very brief look at a WinUI sample app I use in some of my other talks so you can see the kind of Windows native look-and-feel you get out of the box.</a:t>
            </a:r>
          </a:p>
          <a:p>
            <a:endParaRPr lang="en-US" dirty="0"/>
          </a:p>
          <a:p>
            <a:r>
              <a:rPr lang="en-US" dirty="0"/>
              <a:t>The QR code here will take you to the docs on getting started with WinUI. We’ll see some code shortly when we open our first WinUI project that uses the Windows AI APIs.</a:t>
            </a:r>
          </a:p>
        </p:txBody>
      </p:sp>
    </p:spTree>
    <p:extLst>
      <p:ext uri="{BB962C8B-B14F-4D97-AF65-F5344CB8AC3E}">
        <p14:creationId xmlns:p14="http://schemas.microsoft.com/office/powerpoint/2010/main" val="1555820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will provide an overview of Windows Copilot+ PCs and their significance in development environments. Additionally, we will explore how Phi Silica contributes to performance improvements and what that means for developers.</a:t>
            </a:r>
          </a:p>
          <a:p>
            <a:endParaRPr lang="en-US" dirty="0"/>
          </a:p>
          <a:p>
            <a:r>
              <a:rPr lang="en-US" dirty="0"/>
              <a:t>Copilot+ PCs are Windows PCs that include a neural processing unit (NPU) for power-friendly, AI processing performance. The first Copilot+ PCs all had Arm-based CPUs (</a:t>
            </a:r>
            <a:r>
              <a:rPr lang="en-US" sz="1200" b="0" i="0" kern="1200" dirty="0">
                <a:solidFill>
                  <a:schemeClr val="tx1"/>
                </a:solidFill>
                <a:effectLst/>
                <a:latin typeface="+mn-lt"/>
                <a:ea typeface="+mn-ea"/>
                <a:cs typeface="+mn-cs"/>
              </a:rPr>
              <a:t>Qualcomm Snapdragon X Elite and X Plus models</a:t>
            </a:r>
            <a:r>
              <a:rPr lang="en-US" dirty="0"/>
              <a:t>), but additional models with Intel Core Ultra 200V and AMD Ryzen AI 300 series CPUs were announced later in the year and released shortly thereafter.</a:t>
            </a:r>
          </a:p>
          <a:p>
            <a:endParaRPr lang="en-US" dirty="0"/>
          </a:p>
          <a:p>
            <a:r>
              <a:rPr lang="en-US" dirty="0"/>
              <a:t>These PCs include but aren’t limited to Surface Pro and Surface Laptop devices. Dell, Lenovo, and other manufacturers have their own Copilot+ PCs available in different form factors.</a:t>
            </a:r>
          </a:p>
          <a:p>
            <a:endParaRPr lang="en-US" dirty="0"/>
          </a:p>
          <a:p>
            <a:r>
              <a:rPr lang="en-US" dirty="0"/>
              <a:t>These PCs provide the ability to run apps and features with local AI models while maintaining exceptional battery life. The Phi Silica local language model is Microsoft’s model that ships with the OS and integrates with features like Recall and the AI features being built into Notepad, Microsoft Paint, and AI powered search in Windows, File Explorer and the Photos app.</a:t>
            </a:r>
          </a:p>
          <a:p>
            <a:endParaRPr lang="en-US" dirty="0"/>
          </a:p>
          <a:p>
            <a:r>
              <a:rPr lang="en-US" dirty="0"/>
              <a:t>With the Windows AI APIs in Windows App SDK, your apps can query the Phi Silica model and leverage other features like OCR, imaging and content moderation/safety. Third party apps can also use Search APIs to opt-in to providing results in Windows Search.</a:t>
            </a:r>
          </a:p>
          <a:p>
            <a:endParaRPr lang="en-US" dirty="0"/>
          </a:p>
          <a:p>
            <a:r>
              <a:rPr lang="en-US" dirty="0"/>
              <a:t>Let’s talk about some more API specifics next.</a:t>
            </a:r>
          </a:p>
        </p:txBody>
      </p:sp>
    </p:spTree>
    <p:extLst>
      <p:ext uri="{BB962C8B-B14F-4D97-AF65-F5344CB8AC3E}">
        <p14:creationId xmlns:p14="http://schemas.microsoft.com/office/powerpoint/2010/main" val="19366339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the Windows AI APIs available through the Windows App SDK. We’ll cover how to consume these APIs in your native Windows projects and show some examples of their use in a simple project I created for this demo.</a:t>
            </a:r>
          </a:p>
          <a:p>
            <a:endParaRPr lang="en-US" dirty="0"/>
          </a:p>
          <a:p>
            <a:r>
              <a:rPr lang="en-US" dirty="0"/>
              <a:t>You can use these AI APIs in any packaged desktop app that includes the Windows App SDK package reference. Right now, you need to use an experimental release to build and debug locally. To build release mode apps or deploy to the Store, you need to get a token from the Windows dev team to enable your app to use a stable Windows App SDK release with the AI APIs. The Learn documentation has details on how to request the production token, but it’s simple to do, and the team is quick to respond to requests.</a:t>
            </a:r>
          </a:p>
          <a:p>
            <a:endParaRPr lang="en-US" dirty="0"/>
          </a:p>
          <a:p>
            <a:r>
              <a:rPr lang="en-US" dirty="0"/>
              <a:t>Let’s get to the demos.</a:t>
            </a:r>
          </a:p>
          <a:p>
            <a:endParaRPr lang="en-US" dirty="0"/>
          </a:p>
          <a:p>
            <a:r>
              <a:rPr lang="en-US" dirty="0"/>
              <a:t>First, we’ll see code in a WinUI app to query the Phi Silica local model on my Copilot+ PC with a basic chat interface. Then we’ll use the same UI to summarize some long text. I’ll also show you the moderation filters that are available to restrict different types of risky input or output.</a:t>
            </a:r>
          </a:p>
          <a:p>
            <a:endParaRPr lang="en-US" dirty="0"/>
          </a:p>
          <a:p>
            <a:r>
              <a:rPr lang="en-US" dirty="0"/>
              <a:t>Finally, I’ll use the same chat APIs from a C# console app. You can reference Windows App SDK from WPF, WinForms, or even console apps by adding a Packaging project to the solution to provide the package identity that Windows needs to give access to these APIs. Pretty much any Windows App SDK APIs that don’t involve UI elements, can be used from other .NET projects this way. I’ve used it to access the Windows Notifications APIs in my WPF apps.</a:t>
            </a:r>
          </a:p>
          <a:p>
            <a:endParaRPr lang="en-US" dirty="0"/>
          </a:p>
          <a:p>
            <a:r>
              <a:rPr lang="en-US" dirty="0"/>
              <a:t>Let’s get to some Windows AI demo code.</a:t>
            </a:r>
          </a:p>
        </p:txBody>
      </p:sp>
    </p:spTree>
    <p:extLst>
      <p:ext uri="{BB962C8B-B14F-4D97-AF65-F5344CB8AC3E}">
        <p14:creationId xmlns:p14="http://schemas.microsoft.com/office/powerpoint/2010/main" val="27463276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we’ll focus on text recognition APIs, their functionalities, and potential applications. We will also go over coding examples to illustrate how these APIs can be incorporated into your Windows desktop apps.</a:t>
            </a:r>
          </a:p>
          <a:p>
            <a:endParaRPr lang="en-US" dirty="0"/>
          </a:p>
          <a:p>
            <a:r>
              <a:rPr lang="en-US" dirty="0"/>
              <a:t>So, the text recognition APIs used in the app we’ll see can OCR text from an image we select and then use the local model to analyze the detected text to summarize what’s there.</a:t>
            </a:r>
          </a:p>
          <a:p>
            <a:endParaRPr lang="en-US" dirty="0"/>
          </a:p>
          <a:p>
            <a:r>
              <a:rPr lang="en-US" dirty="0"/>
              <a:t>This time, we’re using a WPF project that’s referencing Windows App SDK. I also have a WinUI version of the project in case we have issues. The imaging project loads an image, runs an OCR scan on it to get the text and then uses the AI APIs to analyze and summarize the text.</a:t>
            </a:r>
          </a:p>
          <a:p>
            <a:endParaRPr lang="en-US" dirty="0"/>
          </a:p>
          <a:p>
            <a:r>
              <a:rPr lang="en-US" dirty="0"/>
              <a:t>Let’s go…</a:t>
            </a:r>
          </a:p>
        </p:txBody>
      </p:sp>
    </p:spTree>
    <p:extLst>
      <p:ext uri="{BB962C8B-B14F-4D97-AF65-F5344CB8AC3E}">
        <p14:creationId xmlns:p14="http://schemas.microsoft.com/office/powerpoint/2010/main" val="30796125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Windows Recall and your Windows apps. We'll discuss the importance of the principles of responsible AI and share best practices to enhance the overall user experience in your apps.</a:t>
            </a:r>
          </a:p>
          <a:p>
            <a:endParaRPr lang="en-US" dirty="0"/>
          </a:p>
          <a:p>
            <a:r>
              <a:rPr lang="en-US" dirty="0"/>
              <a:t>Since it’s initial introduction, Microsoft has updated Recall quite a bit. One of the biggest changes is making it an opt-in feature. It’s not enabled by default on supported PCs. Users can also use the Recall settings to exclude apps and sites from being included in Recall’s screenshots.</a:t>
            </a:r>
          </a:p>
          <a:p>
            <a:endParaRPr lang="en-US" dirty="0"/>
          </a:p>
          <a:p>
            <a:r>
              <a:rPr lang="en-US" dirty="0"/>
              <a:t>Part of Recall is a feature called Click to Do. This feature presents an overlay on your screen with options to:</a:t>
            </a:r>
          </a:p>
          <a:p>
            <a:pPr marL="171450" indent="-171450">
              <a:buFont typeface="Arial" panose="020B0604020202020204" pitchFamily="34" charset="0"/>
              <a:buChar char="•"/>
            </a:pPr>
            <a:r>
              <a:rPr lang="en-US" dirty="0"/>
              <a:t>Copy text</a:t>
            </a:r>
          </a:p>
          <a:p>
            <a:pPr marL="171450" indent="-171450">
              <a:buFont typeface="Arial" panose="020B0604020202020204" pitchFamily="34" charset="0"/>
              <a:buChar char="•"/>
            </a:pPr>
            <a:r>
              <a:rPr lang="en-US" dirty="0"/>
              <a:t>Open selected text with the app of your choice</a:t>
            </a:r>
          </a:p>
          <a:p>
            <a:pPr marL="171450" indent="-171450">
              <a:buFont typeface="Arial" panose="020B0604020202020204" pitchFamily="34" charset="0"/>
              <a:buChar char="•"/>
            </a:pPr>
            <a:r>
              <a:rPr lang="en-US" dirty="0"/>
              <a:t>Search the web with the selected text</a:t>
            </a:r>
          </a:p>
          <a:p>
            <a:pPr marL="171450" indent="-171450">
              <a:buFont typeface="Arial" panose="020B0604020202020204" pitchFamily="34" charset="0"/>
              <a:buChar char="•"/>
            </a:pPr>
            <a:r>
              <a:rPr lang="en-US" dirty="0"/>
              <a:t>Open a URL from the selected area</a:t>
            </a:r>
          </a:p>
          <a:p>
            <a:pPr marL="171450" indent="-171450">
              <a:buFont typeface="Arial" panose="020B0604020202020204" pitchFamily="34" charset="0"/>
              <a:buChar char="•"/>
            </a:pPr>
            <a:r>
              <a:rPr lang="en-US" dirty="0"/>
              <a:t>Email an email address from the selected area</a:t>
            </a:r>
          </a:p>
          <a:p>
            <a:pPr marL="171450" indent="-171450">
              <a:buFont typeface="Arial" panose="020B0604020202020204" pitchFamily="34" charset="0"/>
              <a:buChar char="•"/>
            </a:pPr>
            <a:r>
              <a:rPr lang="en-US" dirty="0"/>
              <a:t>Copy/save/share/open a selected image</a:t>
            </a:r>
          </a:p>
          <a:p>
            <a:pPr marL="171450" indent="-171450">
              <a:buFont typeface="Arial" panose="020B0604020202020204" pitchFamily="34" charset="0"/>
              <a:buChar char="•"/>
            </a:pPr>
            <a:r>
              <a:rPr lang="en-US" dirty="0"/>
              <a:t>Perform a visual search on Bing with the image</a:t>
            </a:r>
          </a:p>
          <a:p>
            <a:pPr marL="171450" indent="-171450">
              <a:buFont typeface="Arial" panose="020B0604020202020204" pitchFamily="34" charset="0"/>
              <a:buChar char="•"/>
            </a:pPr>
            <a:r>
              <a:rPr lang="en-US" dirty="0"/>
              <a:t>Blur or remove a background</a:t>
            </a:r>
          </a:p>
          <a:p>
            <a:pPr marL="171450" indent="-171450">
              <a:buFont typeface="Arial" panose="020B0604020202020204" pitchFamily="34" charset="0"/>
              <a:buChar char="•"/>
            </a:pPr>
            <a:r>
              <a:rPr lang="en-US" dirty="0"/>
              <a:t>Erase objects in the selected image</a:t>
            </a:r>
          </a:p>
          <a:p>
            <a:endParaRPr lang="en-US" dirty="0"/>
          </a:p>
          <a:p>
            <a:r>
              <a:rPr lang="en-US" dirty="0"/>
              <a:t>Any app can launch Click to Do with the </a:t>
            </a:r>
            <a:r>
              <a:rPr lang="en-US" dirty="0" err="1"/>
              <a:t>clicktodo</a:t>
            </a:r>
            <a:r>
              <a:rPr lang="en-US" dirty="0"/>
              <a:t> URI. You can even put the URI into your browser to launch it.</a:t>
            </a:r>
          </a:p>
          <a:p>
            <a:endParaRPr lang="en-US" dirty="0"/>
          </a:p>
          <a:p>
            <a:r>
              <a:rPr lang="en-US" dirty="0"/>
              <a:t>In the future you’ll be able to allow users search the Recall snapshots for any information recorded for your app.</a:t>
            </a:r>
          </a:p>
          <a:p>
            <a:endParaRPr lang="en-US" dirty="0"/>
          </a:p>
          <a:p>
            <a:r>
              <a:rPr lang="en-US" dirty="0"/>
              <a:t>You can also use the </a:t>
            </a:r>
            <a:r>
              <a:rPr lang="en-US" dirty="0" err="1"/>
              <a:t>UserActivity</a:t>
            </a:r>
            <a:r>
              <a:rPr lang="en-US" dirty="0"/>
              <a:t> class to record additional information along with the screenshots captured while your app has focus. This extra metadata can make it easier to either search or provide more data back to your app’s users later when they view the snapshots.</a:t>
            </a:r>
          </a:p>
        </p:txBody>
      </p:sp>
    </p:spTree>
    <p:extLst>
      <p:ext uri="{BB962C8B-B14F-4D97-AF65-F5344CB8AC3E}">
        <p14:creationId xmlns:p14="http://schemas.microsoft.com/office/powerpoint/2010/main" val="15475531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we'll introduce the AI Dev Gallery app for Windows, highlighting its features and available resources. Look at how to provide feedback and contribute to the app on GitHub.</a:t>
            </a:r>
          </a:p>
          <a:p>
            <a:endParaRPr lang="en-US" dirty="0"/>
          </a:p>
          <a:p>
            <a:r>
              <a:rPr lang="en-US" dirty="0"/>
              <a:t>The app is available on the Microsoft Store, and the code is open source on GitHub. Use the QR code on screen to check out the repo and run it from source locally.</a:t>
            </a:r>
          </a:p>
          <a:p>
            <a:endParaRPr lang="en-US" dirty="0"/>
          </a:p>
          <a:p>
            <a:r>
              <a:rPr lang="en-US" dirty="0"/>
              <a:t>It now has over 30 sample apps that you can explore and run on your machine. Some are apps that use the Windows AI local models with NPUs, but many others can run on any Windows PCs. The samples that require a Copilot+ PC are easily identified on each sample page.</a:t>
            </a:r>
          </a:p>
          <a:p>
            <a:endParaRPr lang="en-US" dirty="0"/>
          </a:p>
          <a:p>
            <a:r>
              <a:rPr lang="en-US" dirty="0"/>
              <a:t>You can also use the gallery to download and use different local AI models.</a:t>
            </a:r>
          </a:p>
          <a:p>
            <a:endParaRPr lang="en-US" dirty="0"/>
          </a:p>
          <a:p>
            <a:r>
              <a:rPr lang="en-US" dirty="0"/>
              <a:t>Let’s open the app can explore a bit and even try running it from source code.</a:t>
            </a:r>
          </a:p>
        </p:txBody>
      </p:sp>
    </p:spTree>
    <p:extLst>
      <p:ext uri="{BB962C8B-B14F-4D97-AF65-F5344CB8AC3E}">
        <p14:creationId xmlns:p14="http://schemas.microsoft.com/office/powerpoint/2010/main" val="31228937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year, I’ve published a few apps to the Microsoft Store. Two of them are created with WinUI and consume AI APIs.</a:t>
            </a:r>
          </a:p>
          <a:p>
            <a:endParaRPr lang="en-US" dirty="0"/>
          </a:p>
          <a:p>
            <a:r>
              <a:rPr lang="en-US" dirty="0"/>
              <a:t>AI-vin is a WinUI AI chat app that can use local models in Microsoft Foundry Local or </a:t>
            </a:r>
            <a:r>
              <a:rPr lang="en-US" dirty="0" err="1"/>
              <a:t>Ollama</a:t>
            </a:r>
            <a:r>
              <a:rPr lang="en-US" dirty="0"/>
              <a:t> or you can use your OpenAI key to use one of their cloud models.</a:t>
            </a:r>
          </a:p>
          <a:p>
            <a:endParaRPr lang="en-US" dirty="0"/>
          </a:p>
          <a:p>
            <a:r>
              <a:rPr lang="en-US" dirty="0"/>
              <a:t>Model Buddy is an app for managing your Foundry Local models. You can download or remove models from your Foundry Local instance. It also has a chat interface, although not as feature-rich as AI-</a:t>
            </a:r>
            <a:r>
              <a:rPr lang="en-US" dirty="0" err="1"/>
              <a:t>vin’s</a:t>
            </a:r>
            <a:r>
              <a:rPr lang="en-US" dirty="0"/>
              <a:t>.</a:t>
            </a:r>
          </a:p>
          <a:p>
            <a:endParaRPr lang="en-US" dirty="0"/>
          </a:p>
          <a:p>
            <a:r>
              <a:rPr lang="en-US" dirty="0"/>
              <a:t>Let’s take a quick look.</a:t>
            </a:r>
          </a:p>
        </p:txBody>
      </p:sp>
    </p:spTree>
    <p:extLst>
      <p:ext uri="{BB962C8B-B14F-4D97-AF65-F5344CB8AC3E}">
        <p14:creationId xmlns:p14="http://schemas.microsoft.com/office/powerpoint/2010/main" val="17013456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Any questions?</a:t>
            </a:r>
          </a:p>
          <a:p>
            <a:endParaRPr lang="en-US" dirty="0"/>
          </a:p>
          <a:p>
            <a:r>
              <a:rPr lang="en-US" dirty="0"/>
              <a:t>If not, you can use the QR code here to get to the Windows AI docs on Learn.</a:t>
            </a:r>
          </a:p>
        </p:txBody>
      </p:sp>
    </p:spTree>
    <p:extLst>
      <p:ext uri="{BB962C8B-B14F-4D97-AF65-F5344CB8AC3E}">
        <p14:creationId xmlns:p14="http://schemas.microsoft.com/office/powerpoint/2010/main" val="19940892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don’t forget to do your evals!</a:t>
            </a:r>
          </a:p>
        </p:txBody>
      </p:sp>
    </p:spTree>
    <p:extLst>
      <p:ext uri="{BB962C8B-B14F-4D97-AF65-F5344CB8AC3E}">
        <p14:creationId xmlns:p14="http://schemas.microsoft.com/office/powerpoint/2010/main" val="3751633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8613"/>
            <a:ext cx="7772400" cy="1101725"/>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088F999-7A4E-6B4F-9FED-EF75B73AD04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024AAD-DF78-DE44-A1F3-EEB19EDC9165}" type="slidenum">
              <a:rPr lang="en-US" smtClean="0"/>
              <a:t>‹#›</a:t>
            </a:fld>
            <a:endParaRPr lang="en-US"/>
          </a:p>
        </p:txBody>
      </p:sp>
    </p:spTree>
    <p:extLst>
      <p:ext uri="{BB962C8B-B14F-4D97-AF65-F5344CB8AC3E}">
        <p14:creationId xmlns:p14="http://schemas.microsoft.com/office/powerpoint/2010/main" val="1508733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88F999-7A4E-6B4F-9FED-EF75B73AD04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024AAD-DF78-DE44-A1F3-EEB19EDC9165}" type="slidenum">
              <a:rPr lang="en-US" smtClean="0"/>
              <a:t>‹#›</a:t>
            </a:fld>
            <a:endParaRPr lang="en-US"/>
          </a:p>
        </p:txBody>
      </p:sp>
    </p:spTree>
    <p:extLst>
      <p:ext uri="{BB962C8B-B14F-4D97-AF65-F5344CB8AC3E}">
        <p14:creationId xmlns:p14="http://schemas.microsoft.com/office/powerpoint/2010/main" val="1904484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5"/>
            <a:ext cx="7772400" cy="102235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79638"/>
            <a:ext cx="7772400" cy="112553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88F999-7A4E-6B4F-9FED-EF75B73AD04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024AAD-DF78-DE44-A1F3-EEB19EDC9165}" type="slidenum">
              <a:rPr lang="en-US" smtClean="0"/>
              <a:t>‹#›</a:t>
            </a:fld>
            <a:endParaRPr lang="en-US"/>
          </a:p>
        </p:txBody>
      </p:sp>
    </p:spTree>
    <p:extLst>
      <p:ext uri="{BB962C8B-B14F-4D97-AF65-F5344CB8AC3E}">
        <p14:creationId xmlns:p14="http://schemas.microsoft.com/office/powerpoint/2010/main" val="4213274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088F999-7A4E-6B4F-9FED-EF75B73AD04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024AAD-DF78-DE44-A1F3-EEB19EDC9165}" type="slidenum">
              <a:rPr lang="en-US" smtClean="0"/>
              <a:t>‹#›</a:t>
            </a:fld>
            <a:endParaRPr lang="en-US"/>
          </a:p>
        </p:txBody>
      </p:sp>
    </p:spTree>
    <p:extLst>
      <p:ext uri="{BB962C8B-B14F-4D97-AF65-F5344CB8AC3E}">
        <p14:creationId xmlns:p14="http://schemas.microsoft.com/office/powerpoint/2010/main" val="1703610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0938"/>
            <a:ext cx="4040188"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950"/>
            <a:ext cx="4040188"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150938"/>
            <a:ext cx="4041775"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631950"/>
            <a:ext cx="4041775"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88F999-7A4E-6B4F-9FED-EF75B73AD044}" type="datetimeFigureOut">
              <a:rPr lang="en-US" smtClean="0"/>
              <a:t>9/16/2026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D024AAD-DF78-DE44-A1F3-EEB19EDC9165}" type="slidenum">
              <a:rPr lang="en-US" smtClean="0"/>
              <a:t>‹#›</a:t>
            </a:fld>
            <a:endParaRPr lang="en-US"/>
          </a:p>
        </p:txBody>
      </p:sp>
    </p:spTree>
    <p:extLst>
      <p:ext uri="{BB962C8B-B14F-4D97-AF65-F5344CB8AC3E}">
        <p14:creationId xmlns:p14="http://schemas.microsoft.com/office/powerpoint/2010/main" val="106885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088F999-7A4E-6B4F-9FED-EF75B73AD044}" type="datetimeFigureOut">
              <a:rPr lang="en-US" smtClean="0"/>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024AAD-DF78-DE44-A1F3-EEB19EDC9165}" type="slidenum">
              <a:rPr lang="en-US" smtClean="0"/>
              <a:t>‹#›</a:t>
            </a:fld>
            <a:endParaRPr lang="en-US"/>
          </a:p>
        </p:txBody>
      </p:sp>
    </p:spTree>
    <p:extLst>
      <p:ext uri="{BB962C8B-B14F-4D97-AF65-F5344CB8AC3E}">
        <p14:creationId xmlns:p14="http://schemas.microsoft.com/office/powerpoint/2010/main" val="1114269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88F999-7A4E-6B4F-9FED-EF75B73AD044}" type="datetimeFigureOut">
              <a:rPr lang="en-US" smtClean="0"/>
              <a:t>9/16/2026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D024AAD-DF78-DE44-A1F3-EEB19EDC9165}" type="slidenum">
              <a:rPr lang="en-US" smtClean="0"/>
              <a:t>‹#›</a:t>
            </a:fld>
            <a:endParaRPr lang="en-US"/>
          </a:p>
        </p:txBody>
      </p:sp>
    </p:spTree>
    <p:extLst>
      <p:ext uri="{BB962C8B-B14F-4D97-AF65-F5344CB8AC3E}">
        <p14:creationId xmlns:p14="http://schemas.microsoft.com/office/powerpoint/2010/main" val="4095448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4788"/>
            <a:ext cx="3008313" cy="871537"/>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076325"/>
            <a:ext cx="3008313" cy="35179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88F999-7A4E-6B4F-9FED-EF75B73AD04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024AAD-DF78-DE44-A1F3-EEB19EDC9165}" type="slidenum">
              <a:rPr lang="en-US" smtClean="0"/>
              <a:t>‹#›</a:t>
            </a:fld>
            <a:endParaRPr lang="en-US"/>
          </a:p>
        </p:txBody>
      </p:sp>
    </p:spTree>
    <p:extLst>
      <p:ext uri="{BB962C8B-B14F-4D97-AF65-F5344CB8AC3E}">
        <p14:creationId xmlns:p14="http://schemas.microsoft.com/office/powerpoint/2010/main" val="517045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4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60375"/>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900"/>
            <a:ext cx="5486400" cy="603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88F999-7A4E-6B4F-9FED-EF75B73AD04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024AAD-DF78-DE44-A1F3-EEB19EDC9165}" type="slidenum">
              <a:rPr lang="en-US" smtClean="0"/>
              <a:t>‹#›</a:t>
            </a:fld>
            <a:endParaRPr lang="en-US"/>
          </a:p>
        </p:txBody>
      </p:sp>
    </p:spTree>
    <p:extLst>
      <p:ext uri="{BB962C8B-B14F-4D97-AF65-F5344CB8AC3E}">
        <p14:creationId xmlns:p14="http://schemas.microsoft.com/office/powerpoint/2010/main" val="2594263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88F999-7A4E-6B4F-9FED-EF75B73AD04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024AAD-DF78-DE44-A1F3-EEB19EDC9165}" type="slidenum">
              <a:rPr lang="en-US" smtClean="0"/>
              <a:t>‹#›</a:t>
            </a:fld>
            <a:endParaRPr lang="en-US"/>
          </a:p>
        </p:txBody>
      </p:sp>
    </p:spTree>
    <p:extLst>
      <p:ext uri="{BB962C8B-B14F-4D97-AF65-F5344CB8AC3E}">
        <p14:creationId xmlns:p14="http://schemas.microsoft.com/office/powerpoint/2010/main" val="2057719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6375"/>
            <a:ext cx="2057400" cy="43878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6375"/>
            <a:ext cx="6019800" cy="43878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88F999-7A4E-6B4F-9FED-EF75B73AD04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024AAD-DF78-DE44-A1F3-EEB19EDC9165}" type="slidenum">
              <a:rPr lang="en-US" smtClean="0"/>
              <a:t>‹#›</a:t>
            </a:fld>
            <a:endParaRPr lang="en-US"/>
          </a:p>
        </p:txBody>
      </p:sp>
    </p:spTree>
    <p:extLst>
      <p:ext uri="{BB962C8B-B14F-4D97-AF65-F5344CB8AC3E}">
        <p14:creationId xmlns:p14="http://schemas.microsoft.com/office/powerpoint/2010/main" val="110487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E51E94-D08C-431E-88FC-7EB62E529A1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433EB1-7740-4DF8-A084-DB4A629F7746}" type="slidenum">
              <a:rPr lang="en-US" smtClean="0"/>
              <a:pPr/>
              <a:t>‹#›</a:t>
            </a:fld>
            <a:endParaRPr lang="en-US"/>
          </a:p>
        </p:txBody>
      </p:sp>
    </p:spTree>
    <p:extLst>
      <p:ext uri="{BB962C8B-B14F-4D97-AF65-F5344CB8AC3E}">
        <p14:creationId xmlns:p14="http://schemas.microsoft.com/office/powerpoint/2010/main" val="1904484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0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D088F999-7A4E-6B4F-9FED-EF75B73AD044}" type="datetimeFigureOut">
              <a:rPr lang="en-US" smtClean="0"/>
              <a:t>9/16/2026</a:t>
            </a:fld>
            <a:endParaRPr lang="en-US"/>
          </a:p>
        </p:txBody>
      </p:sp>
      <p:sp>
        <p:nvSpPr>
          <p:cNvPr id="5" name="Footer Placeholder 4"/>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D024AAD-DF78-DE44-A1F3-EEB19EDC9165}" type="slidenum">
              <a:rPr lang="en-US" smtClean="0"/>
              <a:t>‹#›</a:t>
            </a:fld>
            <a:endParaRPr lang="en-US"/>
          </a:p>
        </p:txBody>
      </p:sp>
    </p:spTree>
    <p:extLst>
      <p:ext uri="{BB962C8B-B14F-4D97-AF65-F5344CB8AC3E}">
        <p14:creationId xmlns:p14="http://schemas.microsoft.com/office/powerpoint/2010/main" val="1580938178"/>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0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D088F999-7A4E-6B4F-9FED-EF75B73AD044}" type="datetimeFigureOut">
              <a:rPr lang="en-US" smtClean="0"/>
              <a:t>9/16/2026</a:t>
            </a:fld>
            <a:endParaRPr lang="en-US"/>
          </a:p>
        </p:txBody>
      </p:sp>
      <p:sp>
        <p:nvSpPr>
          <p:cNvPr id="5" name="Footer Placeholder 4"/>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D024AAD-DF78-DE44-A1F3-EEB19EDC9165}" type="slidenum">
              <a:rPr lang="en-US" smtClean="0"/>
              <a:t>‹#›</a:t>
            </a:fld>
            <a:endParaRPr lang="en-US"/>
          </a:p>
        </p:txBody>
      </p:sp>
    </p:spTree>
    <p:extLst>
      <p:ext uri="{BB962C8B-B14F-4D97-AF65-F5344CB8AC3E}">
        <p14:creationId xmlns:p14="http://schemas.microsoft.com/office/powerpoint/2010/main" val="1580938178"/>
      </p:ext>
    </p:extLst>
  </p:cSld>
  <p:clrMap bg1="lt1" tx1="dk1" bg2="lt2" tx2="dk2" accent1="accent1" accent2="accent2" accent3="accent3" accent4="accent4" accent5="accent5" accent6="accent6" hlink="hlink" folHlink="folHlink"/>
  <p:sldLayoutIdLst>
    <p:sldLayoutId id="2147483762"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hyperlink" Target="mailto:alashcraft@gmail.com"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Rectangle 5"/>
          <p:cNvSpPr>
            <a:spLocks noChangeArrowheads="1"/>
          </p:cNvSpPr>
          <p:nvPr/>
        </p:nvSpPr>
        <p:spPr bwMode="auto">
          <a:xfrm>
            <a:off x="422277" y="2555355"/>
            <a:ext cx="39878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5923" tIns="42962" rIns="85923" bIns="42962"/>
          <a:lstStyle/>
          <a:p>
            <a:pPr eaLnBrk="1" hangingPunct="1">
              <a:defRPr/>
            </a:pPr>
            <a:r>
              <a:rPr lang="en-US" sz="3200" b="1" dirty="0">
                <a:solidFill>
                  <a:srgbClr val="F27036"/>
                </a:solidFill>
                <a:latin typeface="Arial" charset="0"/>
              </a:rPr>
              <a:t>Alvin Ashcraft</a:t>
            </a:r>
            <a:endParaRPr lang="en-US" sz="2800" b="1" dirty="0">
              <a:solidFill>
                <a:srgbClr val="F27036"/>
              </a:solidFill>
              <a:latin typeface="Arial" charset="0"/>
              <a:cs typeface="+mn-cs"/>
            </a:endParaRPr>
          </a:p>
          <a:p>
            <a:pPr>
              <a:defRPr/>
            </a:pPr>
            <a:r>
              <a:rPr lang="en-US" sz="2400" b="1" dirty="0">
                <a:solidFill>
                  <a:srgbClr val="F27036"/>
                </a:solidFill>
                <a:latin typeface="Arial" charset="0"/>
              </a:rPr>
              <a:t>Sr. Content Developer</a:t>
            </a:r>
          </a:p>
          <a:p>
            <a:pPr>
              <a:defRPr/>
            </a:pPr>
            <a:r>
              <a:rPr lang="en-US" sz="2400" b="1" dirty="0">
                <a:solidFill>
                  <a:srgbClr val="F27036"/>
                </a:solidFill>
                <a:latin typeface="Arial" charset="0"/>
              </a:rPr>
              <a:t>Microsoft</a:t>
            </a:r>
          </a:p>
          <a:p>
            <a:pPr eaLnBrk="1" hangingPunct="1">
              <a:defRPr/>
            </a:pPr>
            <a:endParaRPr lang="en-US" b="1" dirty="0">
              <a:solidFill>
                <a:srgbClr val="1F497D"/>
              </a:solidFill>
              <a:latin typeface="Arial" charset="0"/>
              <a:cs typeface="+mn-cs"/>
            </a:endParaRPr>
          </a:p>
          <a:p>
            <a:pPr eaLnBrk="1" hangingPunct="1">
              <a:defRPr/>
            </a:pPr>
            <a:endParaRPr lang="en-US" sz="1400" dirty="0">
              <a:solidFill>
                <a:srgbClr val="1F497D"/>
              </a:solidFill>
              <a:latin typeface="Times New Roman" pitchFamily="28" charset="0"/>
              <a:cs typeface="+mn-cs"/>
            </a:endParaRPr>
          </a:p>
        </p:txBody>
      </p:sp>
      <p:sp>
        <p:nvSpPr>
          <p:cNvPr id="7" name="Text Box 7"/>
          <p:cNvSpPr txBox="1">
            <a:spLocks noChangeArrowheads="1"/>
          </p:cNvSpPr>
          <p:nvPr/>
        </p:nvSpPr>
        <p:spPr bwMode="auto">
          <a:xfrm>
            <a:off x="422277" y="3986760"/>
            <a:ext cx="294004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600">
                <a:solidFill>
                  <a:schemeClr val="tx1"/>
                </a:solidFill>
                <a:latin typeface="Lucida Console" pitchFamily="49" charset="0"/>
                <a:cs typeface="Arial" charset="0"/>
              </a:defRPr>
            </a:lvl1pPr>
            <a:lvl2pPr marL="742950" indent="-285750">
              <a:defRPr sz="1600">
                <a:solidFill>
                  <a:schemeClr val="tx1"/>
                </a:solidFill>
                <a:latin typeface="Lucida Console" pitchFamily="49" charset="0"/>
                <a:cs typeface="Arial" charset="0"/>
              </a:defRPr>
            </a:lvl2pPr>
            <a:lvl3pPr marL="1143000" indent="-228600">
              <a:defRPr sz="1600">
                <a:solidFill>
                  <a:schemeClr val="tx1"/>
                </a:solidFill>
                <a:latin typeface="Lucida Console" pitchFamily="49" charset="0"/>
                <a:cs typeface="Arial" charset="0"/>
              </a:defRPr>
            </a:lvl3pPr>
            <a:lvl4pPr marL="1600200" indent="-228600">
              <a:defRPr sz="1600">
                <a:solidFill>
                  <a:schemeClr val="tx1"/>
                </a:solidFill>
                <a:latin typeface="Lucida Console" pitchFamily="49" charset="0"/>
                <a:cs typeface="Arial" charset="0"/>
              </a:defRPr>
            </a:lvl4pPr>
            <a:lvl5pPr marL="2057400" indent="-228600">
              <a:defRPr sz="1600">
                <a:solidFill>
                  <a:schemeClr val="tx1"/>
                </a:solidFill>
                <a:latin typeface="Lucida Console" pitchFamily="49" charset="0"/>
                <a:cs typeface="Arial" charset="0"/>
              </a:defRPr>
            </a:lvl5pPr>
            <a:lvl6pPr marL="2514600" indent="-228600" eaLnBrk="0" fontAlgn="base" hangingPunct="0">
              <a:spcBef>
                <a:spcPct val="0"/>
              </a:spcBef>
              <a:spcAft>
                <a:spcPct val="0"/>
              </a:spcAft>
              <a:defRPr sz="1600">
                <a:solidFill>
                  <a:schemeClr val="tx1"/>
                </a:solidFill>
                <a:latin typeface="Lucida Console" pitchFamily="49" charset="0"/>
                <a:cs typeface="Arial" charset="0"/>
              </a:defRPr>
            </a:lvl6pPr>
            <a:lvl7pPr marL="2971800" indent="-228600" eaLnBrk="0" fontAlgn="base" hangingPunct="0">
              <a:spcBef>
                <a:spcPct val="0"/>
              </a:spcBef>
              <a:spcAft>
                <a:spcPct val="0"/>
              </a:spcAft>
              <a:defRPr sz="1600">
                <a:solidFill>
                  <a:schemeClr val="tx1"/>
                </a:solidFill>
                <a:latin typeface="Lucida Console" pitchFamily="49" charset="0"/>
                <a:cs typeface="Arial" charset="0"/>
              </a:defRPr>
            </a:lvl7pPr>
            <a:lvl8pPr marL="3429000" indent="-228600" eaLnBrk="0" fontAlgn="base" hangingPunct="0">
              <a:spcBef>
                <a:spcPct val="0"/>
              </a:spcBef>
              <a:spcAft>
                <a:spcPct val="0"/>
              </a:spcAft>
              <a:defRPr sz="1600">
                <a:solidFill>
                  <a:schemeClr val="tx1"/>
                </a:solidFill>
                <a:latin typeface="Lucida Console" pitchFamily="49" charset="0"/>
                <a:cs typeface="Arial" charset="0"/>
              </a:defRPr>
            </a:lvl8pPr>
            <a:lvl9pPr marL="3886200" indent="-228600" eaLnBrk="0" fontAlgn="base" hangingPunct="0">
              <a:spcBef>
                <a:spcPct val="0"/>
              </a:spcBef>
              <a:spcAft>
                <a:spcPct val="0"/>
              </a:spcAft>
              <a:defRPr sz="1600">
                <a:solidFill>
                  <a:schemeClr val="tx1"/>
                </a:solidFill>
                <a:latin typeface="Lucida Console" pitchFamily="49" charset="0"/>
                <a:cs typeface="Arial" charset="0"/>
              </a:defRPr>
            </a:lvl9pPr>
          </a:lstStyle>
          <a:p>
            <a:r>
              <a:rPr lang="en-US" sz="2000" dirty="0">
                <a:solidFill>
                  <a:srgbClr val="F27036"/>
                </a:solidFill>
                <a:latin typeface="Arial" charset="0"/>
              </a:rPr>
              <a:t>Level: Intermediate</a:t>
            </a:r>
          </a:p>
          <a:p>
            <a:endParaRPr lang="en-US" b="1" dirty="0">
              <a:solidFill>
                <a:schemeClr val="accent1"/>
              </a:solidFill>
              <a:latin typeface="Arial" charset="0"/>
            </a:endParaRPr>
          </a:p>
        </p:txBody>
      </p:sp>
      <p:sp>
        <p:nvSpPr>
          <p:cNvPr id="8" name="Rectangle 3"/>
          <p:cNvSpPr txBox="1">
            <a:spLocks noChangeArrowheads="1"/>
          </p:cNvSpPr>
          <p:nvPr/>
        </p:nvSpPr>
        <p:spPr bwMode="auto">
          <a:xfrm>
            <a:off x="381000" y="1289050"/>
            <a:ext cx="7848600" cy="113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292100" dist="35921" dir="2700000" algn="ctr" rotWithShape="0">
                    <a:schemeClr val="tx1"/>
                  </a:outerShdw>
                </a:effectLst>
              </a14:hiddenEffects>
            </a:ext>
          </a:extLst>
        </p:spPr>
        <p:txBody>
          <a:bodyPr vert="horz" wrap="square" lIns="90379" tIns="44448" rIns="90379" bIns="44448" numCol="1" anchor="ctr" anchorCtr="0" compatLnSpc="1">
            <a:prstTxWarp prst="textNoShape">
              <a:avLst/>
            </a:prstTxWarp>
          </a:bodyPr>
          <a:lstStyle>
            <a:lvl1pPr algn="l" defTabSz="896938" rtl="0" eaLnBrk="0" fontAlgn="base" hangingPunct="0">
              <a:spcBef>
                <a:spcPct val="0"/>
              </a:spcBef>
              <a:spcAft>
                <a:spcPct val="0"/>
              </a:spcAft>
              <a:defRPr sz="3000">
                <a:solidFill>
                  <a:srgbClr val="00B0EB"/>
                </a:solidFill>
                <a:effectLst>
                  <a:outerShdw blurRad="38100" dist="38100" dir="2700000" algn="tl">
                    <a:srgbClr val="000000"/>
                  </a:outerShdw>
                </a:effectLst>
                <a:latin typeface="+mj-lt"/>
                <a:ea typeface="+mj-ea"/>
                <a:cs typeface="+mj-cs"/>
              </a:defRPr>
            </a:lvl1pPr>
            <a:lvl2pPr algn="l" defTabSz="896938" rtl="0" eaLnBrk="0" fontAlgn="base" hangingPunct="0">
              <a:spcBef>
                <a:spcPct val="0"/>
              </a:spcBef>
              <a:spcAft>
                <a:spcPct val="0"/>
              </a:spcAft>
              <a:defRPr sz="3000">
                <a:solidFill>
                  <a:srgbClr val="00B0EB"/>
                </a:solidFill>
                <a:effectLst>
                  <a:outerShdw blurRad="38100" dist="38100" dir="2700000" algn="tl">
                    <a:srgbClr val="000000"/>
                  </a:outerShdw>
                </a:effectLst>
                <a:latin typeface="Arial Black" pitchFamily="28" charset="0"/>
              </a:defRPr>
            </a:lvl2pPr>
            <a:lvl3pPr algn="l" defTabSz="896938" rtl="0" eaLnBrk="0" fontAlgn="base" hangingPunct="0">
              <a:spcBef>
                <a:spcPct val="0"/>
              </a:spcBef>
              <a:spcAft>
                <a:spcPct val="0"/>
              </a:spcAft>
              <a:defRPr sz="3000">
                <a:solidFill>
                  <a:srgbClr val="00B0EB"/>
                </a:solidFill>
                <a:effectLst>
                  <a:outerShdw blurRad="38100" dist="38100" dir="2700000" algn="tl">
                    <a:srgbClr val="000000"/>
                  </a:outerShdw>
                </a:effectLst>
                <a:latin typeface="Arial Black" pitchFamily="28" charset="0"/>
              </a:defRPr>
            </a:lvl3pPr>
            <a:lvl4pPr algn="l" defTabSz="896938" rtl="0" eaLnBrk="0" fontAlgn="base" hangingPunct="0">
              <a:spcBef>
                <a:spcPct val="0"/>
              </a:spcBef>
              <a:spcAft>
                <a:spcPct val="0"/>
              </a:spcAft>
              <a:defRPr sz="3000">
                <a:solidFill>
                  <a:srgbClr val="00B0EB"/>
                </a:solidFill>
                <a:effectLst>
                  <a:outerShdw blurRad="38100" dist="38100" dir="2700000" algn="tl">
                    <a:srgbClr val="000000"/>
                  </a:outerShdw>
                </a:effectLst>
                <a:latin typeface="Arial Black" pitchFamily="28" charset="0"/>
              </a:defRPr>
            </a:lvl4pPr>
            <a:lvl5pPr algn="l" defTabSz="896938" rtl="0" eaLnBrk="0" fontAlgn="base" hangingPunct="0">
              <a:spcBef>
                <a:spcPct val="0"/>
              </a:spcBef>
              <a:spcAft>
                <a:spcPct val="0"/>
              </a:spcAft>
              <a:defRPr sz="3000">
                <a:solidFill>
                  <a:srgbClr val="00B0EB"/>
                </a:solidFill>
                <a:effectLst>
                  <a:outerShdw blurRad="38100" dist="38100" dir="2700000" algn="tl">
                    <a:srgbClr val="000000"/>
                  </a:outerShdw>
                </a:effectLst>
                <a:latin typeface="Arial Black" pitchFamily="28" charset="0"/>
              </a:defRPr>
            </a:lvl5pPr>
            <a:lvl6pPr marL="457200" algn="l" defTabSz="896938" rtl="0" eaLnBrk="0" fontAlgn="base" hangingPunct="0">
              <a:spcBef>
                <a:spcPct val="0"/>
              </a:spcBef>
              <a:spcAft>
                <a:spcPct val="0"/>
              </a:spcAft>
              <a:defRPr sz="3000">
                <a:solidFill>
                  <a:srgbClr val="00B0EB"/>
                </a:solidFill>
                <a:effectLst>
                  <a:outerShdw blurRad="38100" dist="38100" dir="2700000" algn="tl">
                    <a:srgbClr val="000000"/>
                  </a:outerShdw>
                </a:effectLst>
                <a:latin typeface="Arial Black" pitchFamily="28" charset="0"/>
              </a:defRPr>
            </a:lvl6pPr>
            <a:lvl7pPr marL="914400" algn="l" defTabSz="896938" rtl="0" eaLnBrk="0" fontAlgn="base" hangingPunct="0">
              <a:spcBef>
                <a:spcPct val="0"/>
              </a:spcBef>
              <a:spcAft>
                <a:spcPct val="0"/>
              </a:spcAft>
              <a:defRPr sz="3000">
                <a:solidFill>
                  <a:srgbClr val="00B0EB"/>
                </a:solidFill>
                <a:effectLst>
                  <a:outerShdw blurRad="38100" dist="38100" dir="2700000" algn="tl">
                    <a:srgbClr val="000000"/>
                  </a:outerShdw>
                </a:effectLst>
                <a:latin typeface="Arial Black" pitchFamily="28" charset="0"/>
              </a:defRPr>
            </a:lvl7pPr>
            <a:lvl8pPr marL="1371600" algn="l" defTabSz="896938" rtl="0" eaLnBrk="0" fontAlgn="base" hangingPunct="0">
              <a:spcBef>
                <a:spcPct val="0"/>
              </a:spcBef>
              <a:spcAft>
                <a:spcPct val="0"/>
              </a:spcAft>
              <a:defRPr sz="3000">
                <a:solidFill>
                  <a:srgbClr val="00B0EB"/>
                </a:solidFill>
                <a:effectLst>
                  <a:outerShdw blurRad="38100" dist="38100" dir="2700000" algn="tl">
                    <a:srgbClr val="000000"/>
                  </a:outerShdw>
                </a:effectLst>
                <a:latin typeface="Arial Black" pitchFamily="28" charset="0"/>
              </a:defRPr>
            </a:lvl8pPr>
            <a:lvl9pPr marL="1828800" algn="l" defTabSz="896938" rtl="0" eaLnBrk="0" fontAlgn="base" hangingPunct="0">
              <a:spcBef>
                <a:spcPct val="0"/>
              </a:spcBef>
              <a:spcAft>
                <a:spcPct val="0"/>
              </a:spcAft>
              <a:defRPr sz="3000">
                <a:solidFill>
                  <a:srgbClr val="00B0EB"/>
                </a:solidFill>
                <a:effectLst>
                  <a:outerShdw blurRad="38100" dist="38100" dir="2700000" algn="tl">
                    <a:srgbClr val="000000"/>
                  </a:outerShdw>
                </a:effectLst>
                <a:latin typeface="Arial Black" pitchFamily="28" charset="0"/>
              </a:defRPr>
            </a:lvl9pPr>
          </a:lstStyle>
          <a:p>
            <a:pPr>
              <a:lnSpc>
                <a:spcPct val="80000"/>
              </a:lnSpc>
              <a:defRPr/>
            </a:pPr>
            <a:r>
              <a:rPr lang="en-US" sz="4400" b="1" dirty="0">
                <a:solidFill>
                  <a:schemeClr val="bg1"/>
                </a:solidFill>
                <a:effectLst/>
              </a:rPr>
              <a:t>Build Intelligent Apps w/ WinUI, Phi Silica &amp; Microsoft Foundry</a:t>
            </a:r>
          </a:p>
        </p:txBody>
      </p:sp>
    </p:spTree>
    <p:extLst>
      <p:ext uri="{BB962C8B-B14F-4D97-AF65-F5344CB8AC3E}">
        <p14:creationId xmlns:p14="http://schemas.microsoft.com/office/powerpoint/2010/main" val="405188728"/>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Session Survey</a:t>
            </a:r>
          </a:p>
        </p:txBody>
      </p:sp>
      <p:sp>
        <p:nvSpPr>
          <p:cNvPr id="4" name="Content Placeholder 2">
            <a:extLst>
              <a:ext uri="{FF2B5EF4-FFF2-40B4-BE49-F238E27FC236}">
                <a16:creationId xmlns:a16="http://schemas.microsoft.com/office/drawing/2014/main" id="{D3333D19-2F66-B5EE-4D48-C1C51B02C680}"/>
              </a:ext>
            </a:extLst>
          </p:cNvPr>
          <p:cNvSpPr txBox="1">
            <a:spLocks noGrp="1"/>
          </p:cNvSpPr>
          <p:nvPr>
            <p:ph idx="1"/>
          </p:nvPr>
        </p:nvSpPr>
        <p:spPr>
          <a:xfrm>
            <a:off x="457200" y="1200150"/>
            <a:ext cx="8229600" cy="3394075"/>
          </a:xfrm>
          <a:prstGeom prst="rect">
            <a:avLst/>
          </a:prstGeom>
        </p:spPr>
        <p:txBody>
          <a:bodyPr>
            <a:normAutofit fontScale="850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Your feedback is very important to us</a:t>
            </a:r>
          </a:p>
          <a:p>
            <a:r>
              <a:rPr lang="en-US" dirty="0"/>
              <a:t>Please take a moment to complete the session survey found in the mobile app</a:t>
            </a:r>
          </a:p>
          <a:p>
            <a:r>
              <a:rPr lang="en-US" dirty="0"/>
              <a:t>Use the QR code or search for “Converge360 Events” in your app store</a:t>
            </a:r>
          </a:p>
          <a:p>
            <a:r>
              <a:rPr lang="en-US" dirty="0"/>
              <a:t>Find this session on the Agenda tab</a:t>
            </a:r>
          </a:p>
          <a:p>
            <a:r>
              <a:rPr lang="en-US" dirty="0"/>
              <a:t>Click “Session Evaluation”</a:t>
            </a:r>
          </a:p>
          <a:p>
            <a:r>
              <a:rPr lang="en-US" dirty="0"/>
              <a:t>Thank you! </a:t>
            </a:r>
          </a:p>
        </p:txBody>
      </p:sp>
      <p:pic>
        <p:nvPicPr>
          <p:cNvPr id="5" name="Picture 4">
            <a:extLst>
              <a:ext uri="{FF2B5EF4-FFF2-40B4-BE49-F238E27FC236}">
                <a16:creationId xmlns:a16="http://schemas.microsoft.com/office/drawing/2014/main" id="{DD9EBFE1-3CDF-8695-964C-EAA91BBF4E4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249137" y="2876550"/>
            <a:ext cx="1427276" cy="1428750"/>
          </a:xfrm>
          <a:prstGeom prst="rect">
            <a:avLst/>
          </a:prstGeom>
        </p:spPr>
      </p:pic>
    </p:spTree>
    <p:extLst>
      <p:ext uri="{BB962C8B-B14F-4D97-AF65-F5344CB8AC3E}">
        <p14:creationId xmlns:p14="http://schemas.microsoft.com/office/powerpoint/2010/main" val="663897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About me</a:t>
            </a:r>
          </a:p>
        </p:txBody>
      </p:sp>
      <p:sp>
        <p:nvSpPr>
          <p:cNvPr id="3" name="Content Placeholder 2"/>
          <p:cNvSpPr>
            <a:spLocks noGrp="1"/>
          </p:cNvSpPr>
          <p:nvPr>
            <p:ph idx="1"/>
          </p:nvPr>
        </p:nvSpPr>
        <p:spPr/>
        <p:txBody>
          <a:bodyPr>
            <a:normAutofit lnSpcReduction="10000"/>
          </a:bodyPr>
          <a:lstStyle/>
          <a:p>
            <a:r>
              <a:rPr lang="en-US" dirty="0"/>
              <a:t>Sr. Content Developer on Microsoft Learn</a:t>
            </a:r>
          </a:p>
          <a:p>
            <a:pPr lvl="1"/>
            <a:r>
              <a:rPr lang="en-US" dirty="0"/>
              <a:t>Azure OpenAI docs on Microsoft Foundry</a:t>
            </a:r>
          </a:p>
          <a:p>
            <a:r>
              <a:rPr lang="en-US" dirty="0"/>
              <a:t>Software industry for 30+ years</a:t>
            </a:r>
          </a:p>
          <a:p>
            <a:r>
              <a:rPr lang="en-US" dirty="0"/>
              <a:t>Morning Dew link blog (alvinashcraft.com)</a:t>
            </a:r>
          </a:p>
          <a:p>
            <a:r>
              <a:rPr lang="en-US" dirty="0"/>
              <a:t>Three books for </a:t>
            </a:r>
            <a:r>
              <a:rPr lang="en-US" dirty="0" err="1"/>
              <a:t>Packt</a:t>
            </a:r>
            <a:r>
              <a:rPr lang="en-US" dirty="0"/>
              <a:t> Publishing</a:t>
            </a:r>
          </a:p>
          <a:p>
            <a:r>
              <a:rPr lang="en-US" dirty="0"/>
              <a:t>TechBash dev conference organizer since 2016</a:t>
            </a:r>
          </a:p>
        </p:txBody>
      </p:sp>
    </p:spTree>
    <p:extLst>
      <p:ext uri="{BB962C8B-B14F-4D97-AF65-F5344CB8AC3E}">
        <p14:creationId xmlns:p14="http://schemas.microsoft.com/office/powerpoint/2010/main" val="686017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2361E-E89E-D177-C425-E4CD35CF607B}"/>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E2A69B3D-FC50-8049-2DB2-C7F77A30166F}"/>
              </a:ext>
            </a:extLst>
          </p:cNvPr>
          <p:cNvSpPr>
            <a:spLocks noGrp="1"/>
          </p:cNvSpPr>
          <p:nvPr>
            <p:ph idx="1"/>
          </p:nvPr>
        </p:nvSpPr>
        <p:spPr/>
        <p:txBody>
          <a:bodyPr>
            <a:normAutofit fontScale="70000" lnSpcReduction="20000"/>
          </a:bodyPr>
          <a:lstStyle/>
          <a:p>
            <a:r>
              <a:rPr lang="en-US" dirty="0"/>
              <a:t>AI Options for .NET Developers on Windows</a:t>
            </a:r>
          </a:p>
          <a:p>
            <a:r>
              <a:rPr lang="en-US" dirty="0"/>
              <a:t>WinUI and Windows App SDK</a:t>
            </a:r>
          </a:p>
          <a:p>
            <a:r>
              <a:rPr lang="en-US" dirty="0"/>
              <a:t>Copilot+ PCs, Foundry Local &amp; Phi Silica (and Aion)</a:t>
            </a:r>
          </a:p>
          <a:p>
            <a:r>
              <a:rPr lang="en-US" dirty="0"/>
              <a:t>Windows AI APIs in Windows App SDK</a:t>
            </a:r>
          </a:p>
          <a:p>
            <a:r>
              <a:rPr lang="en-US" dirty="0"/>
              <a:t>Text Recognition APIs</a:t>
            </a:r>
          </a:p>
          <a:p>
            <a:r>
              <a:rPr lang="en-US" dirty="0"/>
              <a:t>Recall on Windows – Where does my app tie in?</a:t>
            </a:r>
          </a:p>
          <a:p>
            <a:r>
              <a:rPr lang="en-US" dirty="0"/>
              <a:t>The AI Dev Gallery app for Windows</a:t>
            </a:r>
          </a:p>
          <a:p>
            <a:r>
              <a:rPr lang="en-US" dirty="0"/>
              <a:t>My AI Apps for Windows – </a:t>
            </a:r>
            <a:r>
              <a:rPr lang="en-US" dirty="0" err="1"/>
              <a:t>AIvin</a:t>
            </a:r>
            <a:r>
              <a:rPr lang="en-US" dirty="0"/>
              <a:t> &amp; Model Buddy</a:t>
            </a:r>
          </a:p>
          <a:p>
            <a:r>
              <a:rPr lang="en-US" dirty="0"/>
              <a:t>Q&amp;A</a:t>
            </a:r>
          </a:p>
        </p:txBody>
      </p:sp>
    </p:spTree>
    <p:extLst>
      <p:ext uri="{BB962C8B-B14F-4D97-AF65-F5344CB8AC3E}">
        <p14:creationId xmlns:p14="http://schemas.microsoft.com/office/powerpoint/2010/main" val="21635019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DCE27-2580-3F66-8A18-58ED4FCBAB5B}"/>
              </a:ext>
            </a:extLst>
          </p:cNvPr>
          <p:cNvSpPr>
            <a:spLocks noGrp="1"/>
          </p:cNvSpPr>
          <p:nvPr>
            <p:ph type="title"/>
          </p:nvPr>
        </p:nvSpPr>
        <p:spPr/>
        <p:txBody>
          <a:bodyPr/>
          <a:lstStyle/>
          <a:p>
            <a:r>
              <a:rPr lang="en-US" dirty="0"/>
              <a:t>AI Options for .NET Developers</a:t>
            </a:r>
          </a:p>
        </p:txBody>
      </p:sp>
      <p:sp>
        <p:nvSpPr>
          <p:cNvPr id="3" name="Content Placeholder 2">
            <a:extLst>
              <a:ext uri="{FF2B5EF4-FFF2-40B4-BE49-F238E27FC236}">
                <a16:creationId xmlns:a16="http://schemas.microsoft.com/office/drawing/2014/main" id="{BACC988C-9474-A0D1-8D84-9FB26D48B469}"/>
              </a:ext>
            </a:extLst>
          </p:cNvPr>
          <p:cNvSpPr>
            <a:spLocks noGrp="1"/>
          </p:cNvSpPr>
          <p:nvPr>
            <p:ph idx="1"/>
          </p:nvPr>
        </p:nvSpPr>
        <p:spPr>
          <a:xfrm>
            <a:off x="457200" y="1200150"/>
            <a:ext cx="8229600" cy="3505199"/>
          </a:xfrm>
        </p:spPr>
        <p:txBody>
          <a:bodyPr>
            <a:normAutofit fontScale="92500" lnSpcReduction="10000"/>
          </a:bodyPr>
          <a:lstStyle/>
          <a:p>
            <a:r>
              <a:rPr lang="en-US" sz="2400" dirty="0"/>
              <a:t>Microsoft.Extensions.AI library (MEAI)</a:t>
            </a:r>
          </a:p>
          <a:p>
            <a:r>
              <a:rPr lang="en-US" sz="2400" dirty="0"/>
              <a:t>Microsoft Agent Framework</a:t>
            </a:r>
          </a:p>
          <a:p>
            <a:pPr lvl="1"/>
            <a:r>
              <a:rPr lang="en-US" sz="2400" dirty="0"/>
              <a:t>Build agents and consume models with C# or Python or use Copilot SDK for a ready-made harness.</a:t>
            </a:r>
          </a:p>
          <a:p>
            <a:r>
              <a:rPr lang="en-US" sz="2400" dirty="0"/>
              <a:t>C# SDK for Model Context Protocol (MCP)</a:t>
            </a:r>
          </a:p>
          <a:p>
            <a:r>
              <a:rPr lang="en-US" sz="2400" dirty="0"/>
              <a:t>Foundry Toolkit for VS Code</a:t>
            </a:r>
          </a:p>
          <a:p>
            <a:r>
              <a:rPr lang="en-US" sz="2400" dirty="0"/>
              <a:t>GitHub Copilot in Visual Studio, VS Code, Copilot app &amp; Copilot CLI</a:t>
            </a:r>
          </a:p>
          <a:p>
            <a:r>
              <a:rPr lang="en-US" sz="2400" dirty="0"/>
              <a:t>Microsoft Foundry &amp; Foundry Local</a:t>
            </a:r>
          </a:p>
          <a:p>
            <a:r>
              <a:rPr lang="en-US" sz="2400" dirty="0"/>
              <a:t>Windows AI APIs</a:t>
            </a:r>
          </a:p>
        </p:txBody>
      </p:sp>
    </p:spTree>
    <p:extLst>
      <p:ext uri="{BB962C8B-B14F-4D97-AF65-F5344CB8AC3E}">
        <p14:creationId xmlns:p14="http://schemas.microsoft.com/office/powerpoint/2010/main" val="696315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D4275-EE12-3BAD-29AC-09298546A587}"/>
              </a:ext>
            </a:extLst>
          </p:cNvPr>
          <p:cNvSpPr>
            <a:spLocks noGrp="1"/>
          </p:cNvSpPr>
          <p:nvPr>
            <p:ph type="title"/>
          </p:nvPr>
        </p:nvSpPr>
        <p:spPr/>
        <p:txBody>
          <a:bodyPr>
            <a:normAutofit fontScale="90000"/>
          </a:bodyPr>
          <a:lstStyle/>
          <a:p>
            <a:r>
              <a:rPr lang="en-US" dirty="0"/>
              <a:t>WinUI &amp; Windows App SDK Overview</a:t>
            </a:r>
          </a:p>
        </p:txBody>
      </p:sp>
      <p:sp>
        <p:nvSpPr>
          <p:cNvPr id="3" name="Content Placeholder 2">
            <a:extLst>
              <a:ext uri="{FF2B5EF4-FFF2-40B4-BE49-F238E27FC236}">
                <a16:creationId xmlns:a16="http://schemas.microsoft.com/office/drawing/2014/main" id="{722D6B50-C4D4-9587-9B0E-28F8365CC102}"/>
              </a:ext>
            </a:extLst>
          </p:cNvPr>
          <p:cNvSpPr>
            <a:spLocks noGrp="1"/>
          </p:cNvSpPr>
          <p:nvPr>
            <p:ph idx="1"/>
          </p:nvPr>
        </p:nvSpPr>
        <p:spPr/>
        <p:txBody>
          <a:bodyPr>
            <a:normAutofit fontScale="92500" lnSpcReduction="20000"/>
          </a:bodyPr>
          <a:lstStyle/>
          <a:p>
            <a:r>
              <a:rPr lang="en-US" dirty="0"/>
              <a:t>Understand the benefits of WinUI for modern applications.</a:t>
            </a:r>
          </a:p>
          <a:p>
            <a:r>
              <a:rPr lang="en-US" dirty="0"/>
              <a:t>Learn how Windows App SDK enhances app development.</a:t>
            </a:r>
          </a:p>
          <a:p>
            <a:r>
              <a:rPr lang="en-US" dirty="0"/>
              <a:t>Access .NET 10, WinRT APIs, and Windows App SDK APIs in WinUI apps.</a:t>
            </a:r>
          </a:p>
          <a:p>
            <a:r>
              <a:rPr lang="en-US" b="1" dirty="0"/>
              <a:t>Demo: </a:t>
            </a:r>
            <a:r>
              <a:rPr lang="en-US" dirty="0"/>
              <a:t>WinUI </a:t>
            </a:r>
            <a:r>
              <a:rPr lang="en-US" dirty="0" err="1"/>
              <a:t>ShoppingList</a:t>
            </a:r>
            <a:r>
              <a:rPr lang="en-US" dirty="0"/>
              <a:t> app.</a:t>
            </a:r>
          </a:p>
          <a:p>
            <a:r>
              <a:rPr lang="en-US" dirty="0"/>
              <a:t>Get started on Microsoft Learn:</a:t>
            </a:r>
          </a:p>
        </p:txBody>
      </p:sp>
      <p:pic>
        <p:nvPicPr>
          <p:cNvPr id="5" name="Picture 4" descr="The image is a close-up of a QR code, which is a two-dimensional barcode that contains information that can be read by a QR (Quick Response) reader.&#10;&#10;AI-generated content may be incorrect.">
            <a:extLst>
              <a:ext uri="{FF2B5EF4-FFF2-40B4-BE49-F238E27FC236}">
                <a16:creationId xmlns:a16="http://schemas.microsoft.com/office/drawing/2014/main" id="{CFA600CA-5451-9F3C-8DA3-6AF4A9469C27}"/>
              </a:ext>
            </a:extLst>
          </p:cNvPr>
          <p:cNvPicPr>
            <a:picLocks noChangeAspect="1"/>
          </p:cNvPicPr>
          <p:nvPr/>
        </p:nvPicPr>
        <p:blipFill>
          <a:blip r:embed="rId3"/>
          <a:stretch>
            <a:fillRect/>
          </a:stretch>
        </p:blipFill>
        <p:spPr>
          <a:xfrm>
            <a:off x="6248401" y="3333751"/>
            <a:ext cx="1397000" cy="1397000"/>
          </a:xfrm>
          <a:prstGeom prst="rect">
            <a:avLst/>
          </a:prstGeom>
        </p:spPr>
      </p:pic>
    </p:spTree>
    <p:extLst>
      <p:ext uri="{BB962C8B-B14F-4D97-AF65-F5344CB8AC3E}">
        <p14:creationId xmlns:p14="http://schemas.microsoft.com/office/powerpoint/2010/main" val="1293818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A6B5E-C35A-D352-7C98-D7C91D1BE9B8}"/>
              </a:ext>
            </a:extLst>
          </p:cNvPr>
          <p:cNvSpPr>
            <a:spLocks noGrp="1"/>
          </p:cNvSpPr>
          <p:nvPr>
            <p:ph type="title"/>
          </p:nvPr>
        </p:nvSpPr>
        <p:spPr/>
        <p:txBody>
          <a:bodyPr/>
          <a:lstStyle/>
          <a:p>
            <a:r>
              <a:rPr lang="en-US" dirty="0"/>
              <a:t>Copilot+ PCs and Phi Silica</a:t>
            </a:r>
          </a:p>
        </p:txBody>
      </p:sp>
      <p:sp>
        <p:nvSpPr>
          <p:cNvPr id="3" name="Content Placeholder 2">
            <a:extLst>
              <a:ext uri="{FF2B5EF4-FFF2-40B4-BE49-F238E27FC236}">
                <a16:creationId xmlns:a16="http://schemas.microsoft.com/office/drawing/2014/main" id="{98852A31-9276-AC23-1226-2323BBEEF64A}"/>
              </a:ext>
            </a:extLst>
          </p:cNvPr>
          <p:cNvSpPr>
            <a:spLocks noGrp="1"/>
          </p:cNvSpPr>
          <p:nvPr>
            <p:ph idx="1"/>
          </p:nvPr>
        </p:nvSpPr>
        <p:spPr/>
        <p:txBody>
          <a:bodyPr>
            <a:normAutofit fontScale="62500" lnSpcReduction="20000"/>
          </a:bodyPr>
          <a:lstStyle/>
          <a:p>
            <a:r>
              <a:rPr lang="en-US" sz="3400" dirty="0"/>
              <a:t>Introducing Copilot+ PCs &amp; integration w/ Windows dev tools</a:t>
            </a:r>
          </a:p>
          <a:p>
            <a:r>
              <a:rPr lang="en-US" sz="3400" dirty="0"/>
              <a:t>What’s the role of Phi Silica on Windows Copilot+ PCs?</a:t>
            </a:r>
          </a:p>
          <a:p>
            <a:pPr lvl="1"/>
            <a:r>
              <a:rPr lang="en-US" sz="3400" dirty="0"/>
              <a:t>NPU-tuned local model</a:t>
            </a:r>
          </a:p>
          <a:p>
            <a:pPr lvl="1"/>
            <a:r>
              <a:rPr lang="en-US" sz="3400" dirty="0"/>
              <a:t>Aion coming this fall! (next-gen local model)</a:t>
            </a:r>
          </a:p>
          <a:p>
            <a:r>
              <a:rPr lang="en-US" sz="3400" dirty="0"/>
              <a:t>Practical applications of Windows AI Foundry and Windows AI APIs</a:t>
            </a:r>
          </a:p>
          <a:p>
            <a:pPr lvl="1"/>
            <a:r>
              <a:rPr lang="en-US" sz="3400" dirty="0"/>
              <a:t>Local models</a:t>
            </a:r>
          </a:p>
          <a:p>
            <a:pPr lvl="1"/>
            <a:r>
              <a:rPr lang="en-US" sz="3400" dirty="0"/>
              <a:t>OCR</a:t>
            </a:r>
          </a:p>
          <a:p>
            <a:pPr lvl="1"/>
            <a:r>
              <a:rPr lang="en-US" sz="3400" dirty="0"/>
              <a:t>Imaging</a:t>
            </a:r>
          </a:p>
          <a:p>
            <a:pPr lvl="1"/>
            <a:r>
              <a:rPr lang="en-US" sz="3400" dirty="0"/>
              <a:t>Content moderation</a:t>
            </a:r>
          </a:p>
          <a:p>
            <a:endParaRPr lang="en-US" dirty="0"/>
          </a:p>
        </p:txBody>
      </p:sp>
    </p:spTree>
    <p:extLst>
      <p:ext uri="{BB962C8B-B14F-4D97-AF65-F5344CB8AC3E}">
        <p14:creationId xmlns:p14="http://schemas.microsoft.com/office/powerpoint/2010/main" val="4140432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71343-3D55-E7B5-0F1E-216903F7EDEF}"/>
              </a:ext>
            </a:extLst>
          </p:cNvPr>
          <p:cNvSpPr>
            <a:spLocks noGrp="1"/>
          </p:cNvSpPr>
          <p:nvPr>
            <p:ph type="title"/>
          </p:nvPr>
        </p:nvSpPr>
        <p:spPr/>
        <p:txBody>
          <a:bodyPr>
            <a:normAutofit fontScale="90000"/>
          </a:bodyPr>
          <a:lstStyle/>
          <a:p>
            <a:r>
              <a:rPr lang="en-US" dirty="0"/>
              <a:t>Windows AI APIs in Windows App SDK</a:t>
            </a:r>
          </a:p>
        </p:txBody>
      </p:sp>
      <p:sp>
        <p:nvSpPr>
          <p:cNvPr id="3" name="Content Placeholder 2">
            <a:extLst>
              <a:ext uri="{FF2B5EF4-FFF2-40B4-BE49-F238E27FC236}">
                <a16:creationId xmlns:a16="http://schemas.microsoft.com/office/drawing/2014/main" id="{82BBE700-C056-08BB-95FC-CA586C2A353D}"/>
              </a:ext>
            </a:extLst>
          </p:cNvPr>
          <p:cNvSpPr>
            <a:spLocks noGrp="1"/>
          </p:cNvSpPr>
          <p:nvPr>
            <p:ph idx="1"/>
          </p:nvPr>
        </p:nvSpPr>
        <p:spPr/>
        <p:txBody>
          <a:bodyPr>
            <a:normAutofit fontScale="85000" lnSpcReduction="20000"/>
          </a:bodyPr>
          <a:lstStyle/>
          <a:p>
            <a:r>
              <a:rPr lang="en-US" dirty="0"/>
              <a:t>Overview of the Windows AI APIs.</a:t>
            </a:r>
          </a:p>
          <a:p>
            <a:r>
              <a:rPr lang="en-US" dirty="0"/>
              <a:t>Use these APIs in your Windows apps: WinUI, WPF, Windows Forms, and even C# console apps</a:t>
            </a:r>
          </a:p>
          <a:p>
            <a:r>
              <a:rPr lang="en-US" b="1" dirty="0"/>
              <a:t>Demos</a:t>
            </a:r>
          </a:p>
          <a:p>
            <a:pPr lvl="1"/>
            <a:r>
              <a:rPr lang="en-US" dirty="0"/>
              <a:t>Windows AI docs on Microsoft Learn</a:t>
            </a:r>
          </a:p>
          <a:p>
            <a:pPr lvl="1"/>
            <a:r>
              <a:rPr lang="en-US" dirty="0"/>
              <a:t>WinUI app</a:t>
            </a:r>
          </a:p>
          <a:p>
            <a:pPr lvl="2"/>
            <a:r>
              <a:rPr lang="en-US" dirty="0"/>
              <a:t>Query local model (Basic chat / Summarize Text)</a:t>
            </a:r>
          </a:p>
          <a:p>
            <a:pPr lvl="2"/>
            <a:r>
              <a:rPr lang="en-US" dirty="0"/>
              <a:t>Moderation filters</a:t>
            </a:r>
          </a:p>
          <a:p>
            <a:pPr lvl="1"/>
            <a:r>
              <a:rPr lang="en-US" dirty="0"/>
              <a:t>C# Console app referencing Windows App SDK</a:t>
            </a:r>
          </a:p>
        </p:txBody>
      </p:sp>
    </p:spTree>
    <p:extLst>
      <p:ext uri="{BB962C8B-B14F-4D97-AF65-F5344CB8AC3E}">
        <p14:creationId xmlns:p14="http://schemas.microsoft.com/office/powerpoint/2010/main" val="8012160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983D5-759C-C7BE-B686-8F5425210FCA}"/>
              </a:ext>
            </a:extLst>
          </p:cNvPr>
          <p:cNvSpPr>
            <a:spLocks noGrp="1"/>
          </p:cNvSpPr>
          <p:nvPr>
            <p:ph type="title"/>
          </p:nvPr>
        </p:nvSpPr>
        <p:spPr/>
        <p:txBody>
          <a:bodyPr/>
          <a:lstStyle/>
          <a:p>
            <a:r>
              <a:rPr lang="en-US" dirty="0"/>
              <a:t>Text Recognition APIs</a:t>
            </a:r>
          </a:p>
        </p:txBody>
      </p:sp>
      <p:sp>
        <p:nvSpPr>
          <p:cNvPr id="3" name="Content Placeholder 2">
            <a:extLst>
              <a:ext uri="{FF2B5EF4-FFF2-40B4-BE49-F238E27FC236}">
                <a16:creationId xmlns:a16="http://schemas.microsoft.com/office/drawing/2014/main" id="{611F65C7-2832-D2E1-EF8E-0D117C1D501C}"/>
              </a:ext>
            </a:extLst>
          </p:cNvPr>
          <p:cNvSpPr>
            <a:spLocks noGrp="1"/>
          </p:cNvSpPr>
          <p:nvPr>
            <p:ph idx="1"/>
          </p:nvPr>
        </p:nvSpPr>
        <p:spPr/>
        <p:txBody>
          <a:bodyPr>
            <a:normAutofit fontScale="85000" lnSpcReduction="10000"/>
          </a:bodyPr>
          <a:lstStyle/>
          <a:p>
            <a:r>
              <a:rPr lang="en-US" dirty="0"/>
              <a:t>Text recognition capabilities</a:t>
            </a:r>
          </a:p>
          <a:p>
            <a:r>
              <a:rPr lang="en-US" dirty="0"/>
              <a:t>Image Super Resolution (smart scaling) &amp; Segmentation</a:t>
            </a:r>
          </a:p>
          <a:p>
            <a:r>
              <a:rPr lang="en-US" b="1" dirty="0"/>
              <a:t>Demo</a:t>
            </a:r>
          </a:p>
          <a:p>
            <a:pPr lvl="1"/>
            <a:r>
              <a:rPr lang="en-US" dirty="0"/>
              <a:t>WPF app w/ scaling &amp; text recognition (WinUI backup app)</a:t>
            </a:r>
          </a:p>
          <a:p>
            <a:pPr lvl="2"/>
            <a:r>
              <a:rPr lang="en-US" dirty="0"/>
              <a:t>Load image (supports file picker or paste)</a:t>
            </a:r>
          </a:p>
          <a:p>
            <a:pPr lvl="2"/>
            <a:r>
              <a:rPr lang="en-US" dirty="0"/>
              <a:t>OCR to produce text</a:t>
            </a:r>
          </a:p>
          <a:p>
            <a:pPr lvl="2"/>
            <a:r>
              <a:rPr lang="en-US" dirty="0"/>
              <a:t>Use local model to explain the text</a:t>
            </a:r>
          </a:p>
        </p:txBody>
      </p:sp>
    </p:spTree>
    <p:extLst>
      <p:ext uri="{BB962C8B-B14F-4D97-AF65-F5344CB8AC3E}">
        <p14:creationId xmlns:p14="http://schemas.microsoft.com/office/powerpoint/2010/main" val="2034184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23854-6F0E-64B0-ACAD-94BD48B143ED}"/>
              </a:ext>
            </a:extLst>
          </p:cNvPr>
          <p:cNvSpPr>
            <a:spLocks noGrp="1"/>
          </p:cNvSpPr>
          <p:nvPr>
            <p:ph type="title"/>
          </p:nvPr>
        </p:nvSpPr>
        <p:spPr/>
        <p:txBody>
          <a:bodyPr>
            <a:noAutofit/>
          </a:bodyPr>
          <a:lstStyle/>
          <a:p>
            <a:r>
              <a:rPr lang="en-US" sz="3200" dirty="0"/>
              <a:t>Recall in Windows &amp; Integration w/ Your Apps</a:t>
            </a:r>
          </a:p>
        </p:txBody>
      </p:sp>
      <p:sp>
        <p:nvSpPr>
          <p:cNvPr id="3" name="Content Placeholder 2">
            <a:extLst>
              <a:ext uri="{FF2B5EF4-FFF2-40B4-BE49-F238E27FC236}">
                <a16:creationId xmlns:a16="http://schemas.microsoft.com/office/drawing/2014/main" id="{E0FC4E6C-1ECB-33D5-F260-1584AA65D781}"/>
              </a:ext>
            </a:extLst>
          </p:cNvPr>
          <p:cNvSpPr>
            <a:spLocks noGrp="1"/>
          </p:cNvSpPr>
          <p:nvPr>
            <p:ph idx="1"/>
          </p:nvPr>
        </p:nvSpPr>
        <p:spPr/>
        <p:txBody>
          <a:bodyPr>
            <a:normAutofit fontScale="85000" lnSpcReduction="10000"/>
          </a:bodyPr>
          <a:lstStyle/>
          <a:p>
            <a:r>
              <a:rPr lang="en-US" dirty="0"/>
              <a:t>Windows Recall integration options in Windows apps</a:t>
            </a:r>
          </a:p>
          <a:p>
            <a:r>
              <a:rPr lang="en-US" dirty="0"/>
              <a:t>Opt-in feature only available on Copilot+ PCs</a:t>
            </a:r>
          </a:p>
          <a:p>
            <a:r>
              <a:rPr lang="en-US" dirty="0"/>
              <a:t>Enhance user experience in Recall</a:t>
            </a:r>
          </a:p>
          <a:p>
            <a:pPr lvl="1"/>
            <a:r>
              <a:rPr lang="en-US" dirty="0"/>
              <a:t>Launch Click to Do – Use URI </a:t>
            </a:r>
            <a:r>
              <a:rPr lang="en-US" dirty="0" err="1">
                <a:latin typeface="Consolas" panose="020B0609020204030204" pitchFamily="49" charset="0"/>
              </a:rPr>
              <a:t>ms-clicktodo</a:t>
            </a:r>
            <a:r>
              <a:rPr lang="en-US" dirty="0">
                <a:latin typeface="Consolas" panose="020B0609020204030204" pitchFamily="49" charset="0"/>
              </a:rPr>
              <a:t>://</a:t>
            </a:r>
          </a:p>
          <a:p>
            <a:pPr lvl="1"/>
            <a:r>
              <a:rPr lang="en-US" dirty="0"/>
              <a:t>Search Recall for images related to your app</a:t>
            </a:r>
          </a:p>
          <a:p>
            <a:pPr lvl="1"/>
            <a:r>
              <a:rPr lang="en-US" dirty="0"/>
              <a:t>Use </a:t>
            </a:r>
            <a:r>
              <a:rPr lang="en-US" dirty="0" err="1">
                <a:latin typeface="Consolas" panose="020B0609020204030204" pitchFamily="49" charset="0"/>
              </a:rPr>
              <a:t>UserActivity</a:t>
            </a:r>
            <a:r>
              <a:rPr lang="en-US" dirty="0"/>
              <a:t> APIs to record specific app data related to saved snapshots.</a:t>
            </a:r>
          </a:p>
          <a:p>
            <a:r>
              <a:rPr lang="en-US" dirty="0"/>
              <a:t>APIs still in experimental state and evolving</a:t>
            </a:r>
          </a:p>
        </p:txBody>
      </p:sp>
    </p:spTree>
    <p:extLst>
      <p:ext uri="{BB962C8B-B14F-4D97-AF65-F5344CB8AC3E}">
        <p14:creationId xmlns:p14="http://schemas.microsoft.com/office/powerpoint/2010/main" val="14559406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1A4F8-A5E4-1DBC-3EB2-E11632FD0A46}"/>
              </a:ext>
            </a:extLst>
          </p:cNvPr>
          <p:cNvSpPr>
            <a:spLocks noGrp="1"/>
          </p:cNvSpPr>
          <p:nvPr>
            <p:ph type="title"/>
          </p:nvPr>
        </p:nvSpPr>
        <p:spPr/>
        <p:txBody>
          <a:bodyPr/>
          <a:lstStyle/>
          <a:p>
            <a:r>
              <a:rPr lang="en-US" dirty="0"/>
              <a:t>AI Dev Gallery on Microsoft Store</a:t>
            </a:r>
          </a:p>
        </p:txBody>
      </p:sp>
      <p:sp>
        <p:nvSpPr>
          <p:cNvPr id="3" name="Content Placeholder 2">
            <a:extLst>
              <a:ext uri="{FF2B5EF4-FFF2-40B4-BE49-F238E27FC236}">
                <a16:creationId xmlns:a16="http://schemas.microsoft.com/office/drawing/2014/main" id="{B3FA894F-4DDB-ACBC-BCE8-D5AF53CE1835}"/>
              </a:ext>
            </a:extLst>
          </p:cNvPr>
          <p:cNvSpPr>
            <a:spLocks noGrp="1"/>
          </p:cNvSpPr>
          <p:nvPr>
            <p:ph idx="1"/>
          </p:nvPr>
        </p:nvSpPr>
        <p:spPr/>
        <p:txBody>
          <a:bodyPr/>
          <a:lstStyle/>
          <a:p>
            <a:r>
              <a:rPr lang="en-US" dirty="0"/>
              <a:t>AI Dev Gallery – Get it in the Microsoft Store</a:t>
            </a:r>
          </a:p>
          <a:p>
            <a:r>
              <a:rPr lang="en-US" dirty="0"/>
              <a:t>Over 30 interactive local AI sample apps</a:t>
            </a:r>
          </a:p>
          <a:p>
            <a:r>
              <a:rPr lang="en-US" dirty="0"/>
              <a:t>Discover and download local models</a:t>
            </a:r>
          </a:p>
          <a:p>
            <a:r>
              <a:rPr lang="en-US" dirty="0"/>
              <a:t>Download Visual Studio projects</a:t>
            </a:r>
          </a:p>
          <a:p>
            <a:r>
              <a:rPr lang="en-US" dirty="0"/>
              <a:t>Open source on GitHub </a:t>
            </a:r>
            <a:r>
              <a:rPr lang="en-US" dirty="0">
                <a:sym typeface="Wingdings" panose="05000000000000000000" pitchFamily="2" charset="2"/>
              </a:rPr>
              <a:t></a:t>
            </a:r>
            <a:endParaRPr lang="en-US" dirty="0"/>
          </a:p>
        </p:txBody>
      </p:sp>
      <p:pic>
        <p:nvPicPr>
          <p:cNvPr id="5" name="Picture 4" descr="The image is a black and white QR code with a pattern of small, evenly spaced black dots.&#10;&#10;AI-generated content may be incorrect.">
            <a:extLst>
              <a:ext uri="{FF2B5EF4-FFF2-40B4-BE49-F238E27FC236}">
                <a16:creationId xmlns:a16="http://schemas.microsoft.com/office/drawing/2014/main" id="{9DAEE965-BDDE-6DEE-F354-A50E65B1A2EE}"/>
              </a:ext>
            </a:extLst>
          </p:cNvPr>
          <p:cNvPicPr>
            <a:picLocks noChangeAspect="1"/>
          </p:cNvPicPr>
          <p:nvPr/>
        </p:nvPicPr>
        <p:blipFill>
          <a:blip r:embed="rId3"/>
          <a:stretch>
            <a:fillRect/>
          </a:stretch>
        </p:blipFill>
        <p:spPr>
          <a:xfrm>
            <a:off x="6934200" y="2957817"/>
            <a:ext cx="1606472" cy="1606472"/>
          </a:xfrm>
          <a:prstGeom prst="rect">
            <a:avLst/>
          </a:prstGeom>
        </p:spPr>
      </p:pic>
    </p:spTree>
    <p:extLst>
      <p:ext uri="{BB962C8B-B14F-4D97-AF65-F5344CB8AC3E}">
        <p14:creationId xmlns:p14="http://schemas.microsoft.com/office/powerpoint/2010/main" val="1213914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5E32F-D865-283E-EB1E-8147BE9F626F}"/>
              </a:ext>
            </a:extLst>
          </p:cNvPr>
          <p:cNvSpPr>
            <a:spLocks noGrp="1"/>
          </p:cNvSpPr>
          <p:nvPr>
            <p:ph type="title"/>
          </p:nvPr>
        </p:nvSpPr>
        <p:spPr/>
        <p:txBody>
          <a:bodyPr/>
          <a:lstStyle/>
          <a:p>
            <a:r>
              <a:rPr lang="en-US" dirty="0"/>
              <a:t>My WinUI apps w/ Windows AI</a:t>
            </a:r>
          </a:p>
        </p:txBody>
      </p:sp>
      <p:pic>
        <p:nvPicPr>
          <p:cNvPr id="6" name="Content Placeholder 5" descr="The image displays a user interface of a software application, specifically the Microsoft Store Insider page for Alvinitech, featuring various sections such as Apps, Themes, and New Chat, with a focus on Alvinitech's AI chat application.&#10;&#10;AI-generated content may be incorrect.">
            <a:extLst>
              <a:ext uri="{FF2B5EF4-FFF2-40B4-BE49-F238E27FC236}">
                <a16:creationId xmlns:a16="http://schemas.microsoft.com/office/drawing/2014/main" id="{47A63384-A4B2-7027-EB3B-C1E69214AABA}"/>
              </a:ext>
            </a:extLst>
          </p:cNvPr>
          <p:cNvPicPr>
            <a:picLocks noGrp="1" noChangeAspect="1"/>
          </p:cNvPicPr>
          <p:nvPr>
            <p:ph sz="half" idx="1"/>
          </p:nvPr>
        </p:nvPicPr>
        <p:blipFill>
          <a:blip r:embed="rId3"/>
          <a:stretch>
            <a:fillRect/>
          </a:stretch>
        </p:blipFill>
        <p:spPr>
          <a:xfrm>
            <a:off x="457200" y="1577759"/>
            <a:ext cx="4038600" cy="2638857"/>
          </a:xfrm>
          <a:prstGeom prst="rect">
            <a:avLst/>
          </a:prstGeom>
        </p:spPr>
      </p:pic>
      <p:pic>
        <p:nvPicPr>
          <p:cNvPr id="8" name="Content Placeholder 7" descr="The image displays a Microsoft Store Insider page for Model Buddy, featuring various apps, themes, chat options, model management, and downloadable content.&#10;&#10;AI-generated content may be incorrect.">
            <a:extLst>
              <a:ext uri="{FF2B5EF4-FFF2-40B4-BE49-F238E27FC236}">
                <a16:creationId xmlns:a16="http://schemas.microsoft.com/office/drawing/2014/main" id="{6FB19FAC-A276-714E-F199-C383A546B7AC}"/>
              </a:ext>
            </a:extLst>
          </p:cNvPr>
          <p:cNvPicPr>
            <a:picLocks noGrp="1" noChangeAspect="1"/>
          </p:cNvPicPr>
          <p:nvPr>
            <p:ph sz="half" idx="2"/>
          </p:nvPr>
        </p:nvPicPr>
        <p:blipFill>
          <a:blip r:embed="rId4"/>
          <a:stretch>
            <a:fillRect/>
          </a:stretch>
        </p:blipFill>
        <p:spPr>
          <a:xfrm>
            <a:off x="4648200" y="1577759"/>
            <a:ext cx="4038600" cy="2638857"/>
          </a:xfrm>
          <a:prstGeom prst="rect">
            <a:avLst/>
          </a:prstGeom>
        </p:spPr>
      </p:pic>
    </p:spTree>
    <p:extLst>
      <p:ext uri="{BB962C8B-B14F-4D97-AF65-F5344CB8AC3E}">
        <p14:creationId xmlns:p14="http://schemas.microsoft.com/office/powerpoint/2010/main" val="3588289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4691C-3E09-84BE-9D4C-D96C3EE0C67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F333C57B-E862-E90C-E8DB-4C1CD65DAC9F}"/>
              </a:ext>
            </a:extLst>
          </p:cNvPr>
          <p:cNvSpPr>
            <a:spLocks noGrp="1"/>
          </p:cNvSpPr>
          <p:nvPr>
            <p:ph idx="1"/>
          </p:nvPr>
        </p:nvSpPr>
        <p:spPr/>
        <p:txBody>
          <a:bodyPr/>
          <a:lstStyle/>
          <a:p>
            <a:r>
              <a:rPr lang="en-US" dirty="0"/>
              <a:t>Any questions?</a:t>
            </a:r>
          </a:p>
          <a:p>
            <a:r>
              <a:rPr lang="en-US" dirty="0"/>
              <a:t>Contact me: </a:t>
            </a:r>
            <a:r>
              <a:rPr lang="en-US" dirty="0">
                <a:hlinkClick r:id="rId3"/>
              </a:rPr>
              <a:t>alashcraft@gmail.com</a:t>
            </a:r>
            <a:r>
              <a:rPr lang="en-US" dirty="0"/>
              <a:t> </a:t>
            </a:r>
          </a:p>
          <a:p>
            <a:r>
              <a:rPr lang="en-US" dirty="0"/>
              <a:t>Learn more in the Windows AI docs on Microsoft Learn:</a:t>
            </a:r>
          </a:p>
        </p:txBody>
      </p:sp>
      <p:pic>
        <p:nvPicPr>
          <p:cNvPr id="5" name="Picture 4" descr="The image is a black and white QR code, consisting of a pattern of black dots.&#10;&#10;AI-generated content may be incorrect.">
            <a:extLst>
              <a:ext uri="{FF2B5EF4-FFF2-40B4-BE49-F238E27FC236}">
                <a16:creationId xmlns:a16="http://schemas.microsoft.com/office/drawing/2014/main" id="{32FCE95E-561C-C17B-C319-5C50CF4A63B6}"/>
              </a:ext>
            </a:extLst>
          </p:cNvPr>
          <p:cNvPicPr>
            <a:picLocks noChangeAspect="1"/>
          </p:cNvPicPr>
          <p:nvPr/>
        </p:nvPicPr>
        <p:blipFill>
          <a:blip r:embed="rId4"/>
          <a:stretch>
            <a:fillRect/>
          </a:stretch>
        </p:blipFill>
        <p:spPr>
          <a:xfrm>
            <a:off x="3733800" y="2901950"/>
            <a:ext cx="1828800" cy="1828800"/>
          </a:xfrm>
          <a:prstGeom prst="rect">
            <a:avLst/>
          </a:prstGeom>
        </p:spPr>
      </p:pic>
    </p:spTree>
    <p:extLst>
      <p:ext uri="{BB962C8B-B14F-4D97-AF65-F5344CB8AC3E}">
        <p14:creationId xmlns:p14="http://schemas.microsoft.com/office/powerpoint/2010/main" val="38022871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B5577-36BA-D328-5AD3-7A19798F3B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E73BCB-ECE9-960E-8986-0A358B80A599}"/>
              </a:ext>
            </a:extLst>
          </p:cNvPr>
          <p:cNvSpPr>
            <a:spLocks noGrp="1"/>
          </p:cNvSpPr>
          <p:nvPr>
            <p:ph type="title"/>
          </p:nvPr>
        </p:nvSpPr>
        <p:spPr/>
        <p:txBody>
          <a:bodyPr/>
          <a:lstStyle/>
          <a:p>
            <a:r>
              <a:rPr lang="en-US" b="1" dirty="0"/>
              <a:t>Session Survey</a:t>
            </a:r>
          </a:p>
        </p:txBody>
      </p:sp>
      <p:sp>
        <p:nvSpPr>
          <p:cNvPr id="4" name="Content Placeholder 2">
            <a:extLst>
              <a:ext uri="{FF2B5EF4-FFF2-40B4-BE49-F238E27FC236}">
                <a16:creationId xmlns:a16="http://schemas.microsoft.com/office/drawing/2014/main" id="{F43507D1-87FE-FF55-A10E-415C44881A7B}"/>
              </a:ext>
            </a:extLst>
          </p:cNvPr>
          <p:cNvSpPr txBox="1">
            <a:spLocks noGrp="1"/>
          </p:cNvSpPr>
          <p:nvPr>
            <p:ph idx="1"/>
          </p:nvPr>
        </p:nvSpPr>
        <p:spPr>
          <a:xfrm>
            <a:off x="457200" y="1200150"/>
            <a:ext cx="8229600" cy="3394075"/>
          </a:xfrm>
          <a:prstGeom prst="rect">
            <a:avLst/>
          </a:prstGeom>
        </p:spPr>
        <p:txBody>
          <a:bodyPr>
            <a:normAutofit fontScale="850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Your feedback is very important to us</a:t>
            </a:r>
          </a:p>
          <a:p>
            <a:r>
              <a:rPr lang="en-US" dirty="0"/>
              <a:t>Please take a moment to complete the session survey found in the mobile app</a:t>
            </a:r>
          </a:p>
          <a:p>
            <a:r>
              <a:rPr lang="en-US" dirty="0"/>
              <a:t>Use the QR code or search for “Converge360 Events” in your app store</a:t>
            </a:r>
          </a:p>
          <a:p>
            <a:r>
              <a:rPr lang="en-US" dirty="0"/>
              <a:t>Find this session on the Agenda tab</a:t>
            </a:r>
          </a:p>
          <a:p>
            <a:r>
              <a:rPr lang="en-US" dirty="0"/>
              <a:t>Click “Session Evaluation”</a:t>
            </a:r>
          </a:p>
          <a:p>
            <a:r>
              <a:rPr lang="en-US" dirty="0"/>
              <a:t>Thank you! </a:t>
            </a:r>
          </a:p>
        </p:txBody>
      </p:sp>
      <p:pic>
        <p:nvPicPr>
          <p:cNvPr id="5" name="Picture 4">
            <a:extLst>
              <a:ext uri="{FF2B5EF4-FFF2-40B4-BE49-F238E27FC236}">
                <a16:creationId xmlns:a16="http://schemas.microsoft.com/office/drawing/2014/main" id="{72843F7D-4B8A-9D1C-DE18-AE83EBD73A6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249137" y="2876550"/>
            <a:ext cx="1427276" cy="1428750"/>
          </a:xfrm>
          <a:prstGeom prst="rect">
            <a:avLst/>
          </a:prstGeom>
        </p:spPr>
      </p:pic>
    </p:spTree>
    <p:extLst>
      <p:ext uri="{BB962C8B-B14F-4D97-AF65-F5344CB8AC3E}">
        <p14:creationId xmlns:p14="http://schemas.microsoft.com/office/powerpoint/2010/main" val="107562283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Visual Studio Live! Austin 2018">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TotalTime>
  <Words>3522</Words>
  <Application>Microsoft Office PowerPoint</Application>
  <PresentationFormat>On-screen Show (16:9)</PresentationFormat>
  <Paragraphs>247</Paragraphs>
  <Slides>14</Slides>
  <Notes>14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14</vt:i4>
      </vt:variant>
    </vt:vector>
  </HeadingPairs>
  <TitlesOfParts>
    <vt:vector size="21" baseType="lpstr">
      <vt:lpstr>Arial</vt:lpstr>
      <vt:lpstr>Calibri</vt:lpstr>
      <vt:lpstr>Consolas</vt:lpstr>
      <vt:lpstr>Times New Roman</vt:lpstr>
      <vt:lpstr>Wingdings</vt:lpstr>
      <vt:lpstr>Custom Design</vt:lpstr>
      <vt:lpstr>Visual Studio Live! Austin 2018</vt:lpstr>
      <vt:lpstr>PowerPoint Presentation</vt:lpstr>
      <vt:lpstr>Session Survey</vt:lpstr>
      <vt:lpstr>About me</vt:lpstr>
      <vt:lpstr>Agenda</vt:lpstr>
      <vt:lpstr>AI Options for .NET Developers</vt:lpstr>
      <vt:lpstr>WinUI &amp; Windows App SDK Overview</vt:lpstr>
      <vt:lpstr>Copilot+ PCs and Phi Silica</vt:lpstr>
      <vt:lpstr>Windows AI APIs in Windows App SDK</vt:lpstr>
      <vt:lpstr>Text Recognition APIs</vt:lpstr>
      <vt:lpstr>Recall in Windows &amp; Integration w/ Your Apps</vt:lpstr>
      <vt:lpstr>AI Dev Gallery on Microsoft Store</vt:lpstr>
      <vt:lpstr>My WinUI apps w/ Windows AI</vt:lpstr>
      <vt:lpstr>Thank you!</vt:lpstr>
      <vt:lpstr>Session Survey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Danielle Potts</dc:creator>
  <cp:lastModifiedBy>Alvin Ashcraft</cp:lastModifiedBy>
  <cp:revision>25</cp:revision>
  <dcterms:created xsi:type="dcterms:W3CDTF">2015-02-16T21:29:58Z</dcterms:created>
  <dcterms:modified xsi:type="dcterms:W3CDTF">2026-09-16T17:35:54Z</dcterms:modified>
</cp:coreProperties>
</file>